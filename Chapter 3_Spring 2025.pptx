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344" r:id="rId2"/>
    <p:sldId id="345" r:id="rId3"/>
    <p:sldId id="293" r:id="rId4"/>
    <p:sldId id="346" r:id="rId5"/>
    <p:sldId id="348" r:id="rId6"/>
    <p:sldId id="294" r:id="rId7"/>
    <p:sldId id="357" r:id="rId8"/>
    <p:sldId id="358" r:id="rId9"/>
    <p:sldId id="359" r:id="rId10"/>
    <p:sldId id="369" r:id="rId11"/>
    <p:sldId id="363" r:id="rId12"/>
    <p:sldId id="360" r:id="rId13"/>
    <p:sldId id="361" r:id="rId14"/>
    <p:sldId id="362" r:id="rId15"/>
    <p:sldId id="366" r:id="rId16"/>
    <p:sldId id="305" r:id="rId17"/>
    <p:sldId id="370" r:id="rId18"/>
    <p:sldId id="367" r:id="rId19"/>
    <p:sldId id="3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39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p:restoredTop sz="82568" autoAdjust="0"/>
  </p:normalViewPr>
  <p:slideViewPr>
    <p:cSldViewPr snapToGrid="0" snapToObjects="1">
      <p:cViewPr varScale="1">
        <p:scale>
          <a:sx n="99" d="100"/>
          <a:sy n="99" d="100"/>
        </p:scale>
        <p:origin x="10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8478D-2017-6B42-82DF-31F349C5E379}"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6EEE4-7788-8D4C-B106-DDC1CC623CC9}" type="slidenum">
              <a:rPr lang="en-US" smtClean="0"/>
              <a:t>‹#›</a:t>
            </a:fld>
            <a:endParaRPr lang="en-US"/>
          </a:p>
        </p:txBody>
      </p:sp>
    </p:spTree>
    <p:extLst>
      <p:ext uri="{BB962C8B-B14F-4D97-AF65-F5344CB8AC3E}">
        <p14:creationId xmlns:p14="http://schemas.microsoft.com/office/powerpoint/2010/main" val="226687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a:t>
            </a:fld>
            <a:endParaRPr lang="en-US"/>
          </a:p>
        </p:txBody>
      </p:sp>
    </p:spTree>
    <p:extLst>
      <p:ext uri="{BB962C8B-B14F-4D97-AF65-F5344CB8AC3E}">
        <p14:creationId xmlns:p14="http://schemas.microsoft.com/office/powerpoint/2010/main" val="2150464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3200" dirty="0">
                <a:latin typeface="Garamond" panose="02020404030301010803" pitchFamily="18" charset="0"/>
              </a:rPr>
              <a:t>Rapid technological advancements lead to shifting customer perceptions of cutting-edge products and services. Examples like faster delivery becoming the norm and the desire for shareable experiences highlight how innovation shapes customer expectations.</a:t>
            </a: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4</a:t>
            </a:fld>
            <a:endParaRPr lang="en-US"/>
          </a:p>
        </p:txBody>
      </p:sp>
    </p:spTree>
    <p:extLst>
      <p:ext uri="{BB962C8B-B14F-4D97-AF65-F5344CB8AC3E}">
        <p14:creationId xmlns:p14="http://schemas.microsoft.com/office/powerpoint/2010/main" val="638502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t>Disruptive technologies drive highly personalized and convenient experiences, setting high standards for service across industries. Customer expectations influenced by one industry extend to others, necessitating managers to monitor evolving benchmarks and adapt to rising demands.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Amazon has set new standards for convenience, fast delivery, pricing accuracy, and customer-centric service, shaping how customers expect to interact with companies. This effect extends beyond online retail, impacting industries like coffee ordering. As customer expectations continually rise, managers must take notice, as research shows that customers are more willing to switch providers if expectations aren't met. Amazon's focus on surpassing customer expectations reflects its success in retaining loyalty and highlights the ongoing trend of elevating customer demands.</a:t>
            </a:r>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5</a:t>
            </a:fld>
            <a:endParaRPr lang="en-US"/>
          </a:p>
        </p:txBody>
      </p:sp>
    </p:spTree>
    <p:extLst>
      <p:ext uri="{BB962C8B-B14F-4D97-AF65-F5344CB8AC3E}">
        <p14:creationId xmlns:p14="http://schemas.microsoft.com/office/powerpoint/2010/main" val="3130590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of expectation can vary depending on the reference point the customer holds. Customers assess service performance on the basis of two boundaries: what they desire and what they deem acceptable. These two expectation levels can vary.</a:t>
            </a:r>
          </a:p>
        </p:txBody>
      </p:sp>
      <p:sp>
        <p:nvSpPr>
          <p:cNvPr id="4" name="Slide Number Placeholder 3"/>
          <p:cNvSpPr>
            <a:spLocks noGrp="1"/>
          </p:cNvSpPr>
          <p:nvPr>
            <p:ph type="sldNum" sz="quarter" idx="5"/>
          </p:nvPr>
        </p:nvSpPr>
        <p:spPr/>
        <p:txBody>
          <a:bodyPr/>
          <a:lstStyle/>
          <a:p>
            <a:fld id="{0766EEE4-7788-8D4C-B106-DDC1CC623CC9}" type="slidenum">
              <a:rPr lang="en-US" smtClean="0"/>
              <a:t>6</a:t>
            </a:fld>
            <a:endParaRPr lang="en-US"/>
          </a:p>
        </p:txBody>
      </p:sp>
    </p:spTree>
    <p:extLst>
      <p:ext uri="{BB962C8B-B14F-4D97-AF65-F5344CB8AC3E}">
        <p14:creationId xmlns:p14="http://schemas.microsoft.com/office/powerpoint/2010/main" val="2186388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7</a:t>
            </a:fld>
            <a:endParaRPr lang="en-US"/>
          </a:p>
        </p:txBody>
      </p:sp>
    </p:spTree>
    <p:extLst>
      <p:ext uri="{BB962C8B-B14F-4D97-AF65-F5344CB8AC3E}">
        <p14:creationId xmlns:p14="http://schemas.microsoft.com/office/powerpoint/2010/main" val="3866372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8</a:t>
            </a:fld>
            <a:endParaRPr lang="en-US"/>
          </a:p>
        </p:txBody>
      </p:sp>
    </p:spTree>
    <p:extLst>
      <p:ext uri="{BB962C8B-B14F-4D97-AF65-F5344CB8AC3E}">
        <p14:creationId xmlns:p14="http://schemas.microsoft.com/office/powerpoint/2010/main" val="2812653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customers possess different zones of tolerance</a:t>
            </a:r>
          </a:p>
          <a:p>
            <a:r>
              <a:rPr lang="en-US" dirty="0"/>
              <a:t>When prices increase, customers tend to be less tolerant of poor service. In this case, the zone of tolerance narrows because the adequate service level shifts upward.</a:t>
            </a:r>
          </a:p>
          <a:p>
            <a:r>
              <a:rPr lang="en-US" dirty="0"/>
              <a:t>In general, desired service is relatively stable compared to adequate service.</a:t>
            </a:r>
          </a:p>
        </p:txBody>
      </p:sp>
      <p:sp>
        <p:nvSpPr>
          <p:cNvPr id="4" name="Slide Number Placeholder 3"/>
          <p:cNvSpPr>
            <a:spLocks noGrp="1"/>
          </p:cNvSpPr>
          <p:nvPr>
            <p:ph type="sldNum" sz="quarter" idx="5"/>
          </p:nvPr>
        </p:nvSpPr>
        <p:spPr/>
        <p:txBody>
          <a:bodyPr/>
          <a:lstStyle/>
          <a:p>
            <a:fld id="{1FA955AC-BBE9-A144-BEA0-0A44958C1A85}" type="slidenum">
              <a:rPr lang="en-US" smtClean="0"/>
              <a:t>9</a:t>
            </a:fld>
            <a:endParaRPr lang="en-US"/>
          </a:p>
        </p:txBody>
      </p:sp>
    </p:spTree>
    <p:extLst>
      <p:ext uri="{BB962C8B-B14F-4D97-AF65-F5344CB8AC3E}">
        <p14:creationId xmlns:p14="http://schemas.microsoft.com/office/powerpoint/2010/main" val="3742321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10</a:t>
            </a:fld>
            <a:endParaRPr lang="en-US"/>
          </a:p>
        </p:txBody>
      </p:sp>
    </p:spTree>
    <p:extLst>
      <p:ext uri="{BB962C8B-B14F-4D97-AF65-F5344CB8AC3E}">
        <p14:creationId xmlns:p14="http://schemas.microsoft.com/office/powerpoint/2010/main" val="4158238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11</a:t>
            </a:fld>
            <a:endParaRPr lang="en-US"/>
          </a:p>
        </p:txBody>
      </p:sp>
    </p:spTree>
    <p:extLst>
      <p:ext uri="{BB962C8B-B14F-4D97-AF65-F5344CB8AC3E}">
        <p14:creationId xmlns:p14="http://schemas.microsoft.com/office/powerpoint/2010/main" val="1838842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Personal needs may include physical, social, psychological, functional needs.</a:t>
            </a:r>
          </a:p>
          <a:p>
            <a:pPr marL="171450" indent="-171450">
              <a:buFont typeface="Arial" panose="020B0604020202020204" pitchFamily="34" charset="0"/>
              <a:buChar char="•"/>
            </a:pPr>
            <a:r>
              <a:rPr lang="en-US" dirty="0"/>
              <a:t>For B2B transactions, customer expectations may be driven by the expectations of their own customers.</a:t>
            </a:r>
          </a:p>
        </p:txBody>
      </p:sp>
      <p:sp>
        <p:nvSpPr>
          <p:cNvPr id="4" name="Slide Number Placeholder 3"/>
          <p:cNvSpPr>
            <a:spLocks noGrp="1"/>
          </p:cNvSpPr>
          <p:nvPr>
            <p:ph type="sldNum" sz="quarter" idx="5"/>
          </p:nvPr>
        </p:nvSpPr>
        <p:spPr/>
        <p:txBody>
          <a:bodyPr/>
          <a:lstStyle/>
          <a:p>
            <a:fld id="{0766EEE4-7788-8D4C-B106-DDC1CC623CC9}" type="slidenum">
              <a:rPr lang="en-US" smtClean="0"/>
              <a:t>12</a:t>
            </a:fld>
            <a:endParaRPr lang="en-US"/>
          </a:p>
        </p:txBody>
      </p:sp>
    </p:spTree>
    <p:extLst>
      <p:ext uri="{BB962C8B-B14F-4D97-AF65-F5344CB8AC3E}">
        <p14:creationId xmlns:p14="http://schemas.microsoft.com/office/powerpoint/2010/main" val="2945597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These influences are short-term and tend to fluctuate more than the factors that influence desired service.</a:t>
            </a:r>
          </a:p>
          <a:p>
            <a:pPr marL="171450" indent="-171450">
              <a:buFont typeface="Arial" panose="020B0604020202020204" pitchFamily="34" charset="0"/>
              <a:buChar char="•"/>
            </a:pPr>
            <a:r>
              <a:rPr lang="en-US" dirty="0"/>
              <a:t>Service marketers need to be aware of the complete set of options that the customers view as perceived alternatives.</a:t>
            </a:r>
          </a:p>
          <a:p>
            <a:pPr marL="171450" indent="-171450">
              <a:buFont typeface="Arial" panose="020B0604020202020204" pitchFamily="34" charset="0"/>
              <a:buChar char="•"/>
            </a:pPr>
            <a:r>
              <a:rPr lang="en-US" dirty="0"/>
              <a:t>When a problem occurs for the first time, expectations are heightened, and customers expect higher level of adequate service.</a:t>
            </a:r>
          </a:p>
          <a:p>
            <a:pPr marL="171450" indent="-171450">
              <a:buFont typeface="Arial" panose="020B0604020202020204" pitchFamily="34" charset="0"/>
              <a:buChar char="•"/>
            </a:pPr>
            <a:r>
              <a:rPr lang="en-US" dirty="0"/>
              <a:t>If customers predict good service, their levels of adequate service are likely to be higher than if they predict poor service.</a:t>
            </a:r>
          </a:p>
        </p:txBody>
      </p:sp>
      <p:sp>
        <p:nvSpPr>
          <p:cNvPr id="4" name="Slide Number Placeholder 3"/>
          <p:cNvSpPr>
            <a:spLocks noGrp="1"/>
          </p:cNvSpPr>
          <p:nvPr>
            <p:ph type="sldNum" sz="quarter" idx="5"/>
          </p:nvPr>
        </p:nvSpPr>
        <p:spPr/>
        <p:txBody>
          <a:bodyPr/>
          <a:lstStyle/>
          <a:p>
            <a:fld id="{0766EEE4-7788-8D4C-B106-DDC1CC623CC9}" type="slidenum">
              <a:rPr lang="en-US" smtClean="0"/>
              <a:t>13</a:t>
            </a:fld>
            <a:endParaRPr lang="en-US"/>
          </a:p>
        </p:txBody>
      </p:sp>
    </p:spTree>
    <p:extLst>
      <p:ext uri="{BB962C8B-B14F-4D97-AF65-F5344CB8AC3E}">
        <p14:creationId xmlns:p14="http://schemas.microsoft.com/office/powerpoint/2010/main" val="3154618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promises are completely within the control of the service provider.</a:t>
            </a:r>
          </a:p>
        </p:txBody>
      </p:sp>
      <p:sp>
        <p:nvSpPr>
          <p:cNvPr id="4" name="Slide Number Placeholder 3"/>
          <p:cNvSpPr>
            <a:spLocks noGrp="1"/>
          </p:cNvSpPr>
          <p:nvPr>
            <p:ph type="sldNum" sz="quarter" idx="5"/>
          </p:nvPr>
        </p:nvSpPr>
        <p:spPr/>
        <p:txBody>
          <a:bodyPr/>
          <a:lstStyle/>
          <a:p>
            <a:fld id="{0766EEE4-7788-8D4C-B106-DDC1CC623CC9}" type="slidenum">
              <a:rPr lang="en-US" smtClean="0"/>
              <a:t>14</a:t>
            </a:fld>
            <a:endParaRPr lang="en-US"/>
          </a:p>
        </p:txBody>
      </p:sp>
    </p:spTree>
    <p:extLst>
      <p:ext uri="{BB962C8B-B14F-4D97-AF65-F5344CB8AC3E}">
        <p14:creationId xmlns:p14="http://schemas.microsoft.com/office/powerpoint/2010/main" val="3962925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general customers want fundamentals to work (e.g., planes to take off on time, hotel rooms to be clean)</a:t>
            </a:r>
          </a:p>
          <a:p>
            <a:r>
              <a:rPr lang="en-US" dirty="0"/>
              <a:t>Ask customers what they want – heightens the belief that the company will do something with the information that surfaces.</a:t>
            </a:r>
          </a:p>
          <a:p>
            <a:r>
              <a:rPr lang="en-US" dirty="0"/>
              <a:t>If not able to provide what the customers ask for, tell them why and describe plans for future efforts.</a:t>
            </a:r>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15</a:t>
            </a:fld>
            <a:endParaRPr lang="en-US"/>
          </a:p>
        </p:txBody>
      </p:sp>
    </p:spTree>
    <p:extLst>
      <p:ext uri="{BB962C8B-B14F-4D97-AF65-F5344CB8AC3E}">
        <p14:creationId xmlns:p14="http://schemas.microsoft.com/office/powerpoint/2010/main" val="1723721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17</a:t>
            </a:fld>
            <a:endParaRPr lang="en-US"/>
          </a:p>
        </p:txBody>
      </p:sp>
    </p:spTree>
    <p:extLst>
      <p:ext uri="{BB962C8B-B14F-4D97-AF65-F5344CB8AC3E}">
        <p14:creationId xmlns:p14="http://schemas.microsoft.com/office/powerpoint/2010/main" val="4024566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18</a:t>
            </a:fld>
            <a:endParaRPr lang="en-US"/>
          </a:p>
        </p:txBody>
      </p:sp>
    </p:spTree>
    <p:extLst>
      <p:ext uri="{BB962C8B-B14F-4D97-AF65-F5344CB8AC3E}">
        <p14:creationId xmlns:p14="http://schemas.microsoft.com/office/powerpoint/2010/main" val="19671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EDCF3-58DC-7FA9-B763-1E7851E18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6EFE1-F3E0-CF5F-D3B0-AFA6BC820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25829-993A-7101-EB68-DD860A6587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general customers want fundamentals to work (e.g., planes to take off on time, hotel rooms to be clean)</a:t>
            </a:r>
          </a:p>
          <a:p>
            <a:r>
              <a:rPr lang="en-US" dirty="0"/>
              <a:t>Ask customers what they want – heightens the belief that the company will do something with the information that surfaces.</a:t>
            </a:r>
          </a:p>
          <a:p>
            <a:r>
              <a:rPr lang="en-US" dirty="0"/>
              <a:t>If not able to provide what the customers ask for, tell them why and describe plans for future efforts.</a:t>
            </a:r>
          </a:p>
          <a:p>
            <a:endParaRPr lang="en-US" dirty="0"/>
          </a:p>
        </p:txBody>
      </p:sp>
      <p:sp>
        <p:nvSpPr>
          <p:cNvPr id="4" name="Slide Number Placeholder 3">
            <a:extLst>
              <a:ext uri="{FF2B5EF4-FFF2-40B4-BE49-F238E27FC236}">
                <a16:creationId xmlns:a16="http://schemas.microsoft.com/office/drawing/2014/main" id="{14015FCB-8E0D-D811-D741-DAAEE015CAF3}"/>
              </a:ext>
            </a:extLst>
          </p:cNvPr>
          <p:cNvSpPr>
            <a:spLocks noGrp="1"/>
          </p:cNvSpPr>
          <p:nvPr>
            <p:ph type="sldNum" sz="quarter" idx="5"/>
          </p:nvPr>
        </p:nvSpPr>
        <p:spPr/>
        <p:txBody>
          <a:bodyPr/>
          <a:lstStyle/>
          <a:p>
            <a:fld id="{0766EEE4-7788-8D4C-B106-DDC1CC623CC9}" type="slidenum">
              <a:rPr lang="en-US" smtClean="0"/>
              <a:t>19</a:t>
            </a:fld>
            <a:endParaRPr lang="en-US"/>
          </a:p>
        </p:txBody>
      </p:sp>
    </p:spTree>
    <p:extLst>
      <p:ext uri="{BB962C8B-B14F-4D97-AF65-F5344CB8AC3E}">
        <p14:creationId xmlns:p14="http://schemas.microsoft.com/office/powerpoint/2010/main" val="2192747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33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1/17/25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120010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2627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517AD40-AE84-3240-90CD-64AD6EF5A104}" type="datetimeFigureOut">
              <a:rPr lang="en-US" smtClean="0"/>
              <a:t>1/17/25</a:t>
            </a:fld>
            <a:endParaRPr lang="en-US"/>
          </a:p>
        </p:txBody>
      </p:sp>
      <p:sp>
        <p:nvSpPr>
          <p:cNvPr id="7" name="Slide Number Placeholder 6"/>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10234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B517AD40-AE84-3240-90CD-64AD6EF5A104}" type="datetimeFigureOut">
              <a:rPr lang="en-US" smtClean="0"/>
              <a:t>1/17/25</a:t>
            </a:fld>
            <a:endParaRPr lang="en-US"/>
          </a:p>
        </p:txBody>
      </p:sp>
      <p:sp>
        <p:nvSpPr>
          <p:cNvPr id="9" name="Slide Number Placeholder 8"/>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5268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B517AD40-AE84-3240-90CD-64AD6EF5A104}" type="datetimeFigureOut">
              <a:rPr lang="en-US" smtClean="0"/>
              <a:t>1/17/25</a:t>
            </a:fld>
            <a:endParaRPr lang="en-US"/>
          </a:p>
        </p:txBody>
      </p:sp>
      <p:sp>
        <p:nvSpPr>
          <p:cNvPr id="5" name="Slide Number Placeholder 4"/>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77092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B517AD40-AE84-3240-90CD-64AD6EF5A104}" type="datetimeFigureOut">
              <a:rPr lang="en-US" smtClean="0"/>
              <a:t>1/17/25</a:t>
            </a:fld>
            <a:endParaRPr lang="en-US"/>
          </a:p>
        </p:txBody>
      </p:sp>
      <p:sp>
        <p:nvSpPr>
          <p:cNvPr id="214" name="Slide Number Placeholder 213"/>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78355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B517AD40-AE84-3240-90CD-64AD6EF5A104}" type="datetimeFigureOut">
              <a:rPr lang="en-US" smtClean="0"/>
              <a:t>1/17/25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340715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56184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1/17/25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6707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1/17/25</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32367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7AD40-AE84-3240-90CD-64AD6EF5A104}" type="datetimeFigureOut">
              <a:rPr lang="en-US" smtClean="0"/>
              <a:t>1/17/25</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669306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969770"/>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3</a:t>
            </a:r>
          </a:p>
          <a:p>
            <a:pPr algn="ctr"/>
            <a:endParaRPr lang="en-US" sz="4000" dirty="0">
              <a:solidFill>
                <a:srgbClr val="820002"/>
              </a:solidFill>
              <a:latin typeface="Garamond" panose="02020404030301010803" pitchFamily="18" charset="0"/>
            </a:endParaRPr>
          </a:p>
          <a:p>
            <a:pPr algn="ctr"/>
            <a:r>
              <a:rPr lang="en-US" sz="3800" dirty="0">
                <a:latin typeface="Garamond" panose="02020404030301010803" pitchFamily="18" charset="0"/>
              </a:rPr>
              <a:t>Customer Expectations of Service</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Chapter Objectives</a:t>
            </a:r>
          </a:p>
        </p:txBody>
      </p:sp>
      <p:sp>
        <p:nvSpPr>
          <p:cNvPr id="5" name="Content Placeholder 2">
            <a:extLst>
              <a:ext uri="{FF2B5EF4-FFF2-40B4-BE49-F238E27FC236}">
                <a16:creationId xmlns:a16="http://schemas.microsoft.com/office/drawing/2014/main" id="{D1724647-207F-1346-BC45-932603259DBD}"/>
              </a:ext>
            </a:extLst>
          </p:cNvPr>
          <p:cNvSpPr>
            <a:spLocks noGrp="1"/>
          </p:cNvSpPr>
          <p:nvPr>
            <p:ph idx="1"/>
          </p:nvPr>
        </p:nvSpPr>
        <p:spPr>
          <a:xfrm>
            <a:off x="1023445" y="1744579"/>
            <a:ext cx="10145110" cy="4152354"/>
          </a:xfrm>
        </p:spPr>
        <p:txBody>
          <a:bodyPr>
            <a:noAutofit/>
          </a:bodyPr>
          <a:lstStyle/>
          <a:p>
            <a:pPr marL="457200" indent="-457200">
              <a:lnSpc>
                <a:spcPct val="100000"/>
              </a:lnSpc>
              <a:spcBef>
                <a:spcPts val="1800"/>
              </a:spcBef>
              <a:buFont typeface="+mj-lt"/>
              <a:buAutoNum type="arabicPeriod"/>
            </a:pPr>
            <a:r>
              <a:rPr lang="en-US" altLang="en-US" sz="2500" dirty="0">
                <a:latin typeface="Garamond" panose="02020404030301010803" pitchFamily="18" charset="0"/>
              </a:rPr>
              <a:t>Recognize that customers hold different types of expectations for service performance.</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Discuss several sources of customer expectations of service.</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Acknowledge that the types and sources of expectations are similar for end consumers and business customers, for pure service and product-related service, for experienced customers and inexperienced customers.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Delineate some important issues surrounding customer expectations.</a:t>
            </a:r>
          </a:p>
          <a:p>
            <a:pPr marL="457200" indent="-457200">
              <a:lnSpc>
                <a:spcPct val="100000"/>
              </a:lnSpc>
              <a:spcBef>
                <a:spcPts val="1800"/>
              </a:spcBef>
              <a:buFont typeface="+mj-lt"/>
              <a:buAutoNum type="arabicPeriod"/>
            </a:pPr>
            <a:endParaRPr lang="en-US" altLang="en-US" sz="2500" dirty="0">
              <a:latin typeface="Garamond" panose="02020404030301010803" pitchFamily="18" charset="0"/>
            </a:endParaRPr>
          </a:p>
        </p:txBody>
      </p:sp>
    </p:spTree>
    <p:extLst>
      <p:ext uri="{BB962C8B-B14F-4D97-AF65-F5344CB8AC3E}">
        <p14:creationId xmlns:p14="http://schemas.microsoft.com/office/powerpoint/2010/main" val="725057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1B9C-8868-84B5-4F95-5DE149D6C6EC}"/>
              </a:ext>
            </a:extLst>
          </p:cNvPr>
          <p:cNvSpPr>
            <a:spLocks noGrp="1"/>
          </p:cNvSpPr>
          <p:nvPr>
            <p:ph type="title"/>
          </p:nvPr>
        </p:nvSpPr>
        <p:spPr/>
        <p:txBody>
          <a:bodyPr>
            <a:normAutofit/>
          </a:bodyPr>
          <a:lstStyle/>
          <a:p>
            <a:r>
              <a:rPr lang="en-US" sz="4000" dirty="0">
                <a:latin typeface="Garamond" panose="02020404030301010803" pitchFamily="18" charset="0"/>
              </a:rPr>
              <a:t>Customer expectations are beliefs about service delivery that serve as standards or </a:t>
            </a:r>
            <a:r>
              <a:rPr lang="en-US" sz="4000" i="1" dirty="0">
                <a:latin typeface="Garamond" panose="02020404030301010803" pitchFamily="18" charset="0"/>
              </a:rPr>
              <a:t>reference points </a:t>
            </a:r>
            <a:r>
              <a:rPr lang="en-US" sz="4000" dirty="0">
                <a:latin typeface="Garamond" panose="02020404030301010803" pitchFamily="18" charset="0"/>
              </a:rPr>
              <a:t>against which performance is judged.</a:t>
            </a:r>
          </a:p>
        </p:txBody>
      </p:sp>
      <p:sp>
        <p:nvSpPr>
          <p:cNvPr id="3" name="Text Placeholder 2">
            <a:extLst>
              <a:ext uri="{FF2B5EF4-FFF2-40B4-BE49-F238E27FC236}">
                <a16:creationId xmlns:a16="http://schemas.microsoft.com/office/drawing/2014/main" id="{1DA5BA38-BDF2-9021-4B0B-810475FACF38}"/>
              </a:ext>
            </a:extLst>
          </p:cNvPr>
          <p:cNvSpPr>
            <a:spLocks noGrp="1"/>
          </p:cNvSpPr>
          <p:nvPr>
            <p:ph type="body" idx="1"/>
          </p:nvPr>
        </p:nvSpPr>
        <p:spPr/>
        <p:txBody>
          <a:bodyPr>
            <a:normAutofit/>
          </a:bodyPr>
          <a:lstStyle/>
          <a:p>
            <a:r>
              <a:rPr lang="en-US" sz="2400" dirty="0">
                <a:latin typeface="Garamond" panose="02020404030301010803" pitchFamily="18" charset="0"/>
              </a:rPr>
              <a:t>What are some expectations that customers hold about service?</a:t>
            </a:r>
          </a:p>
        </p:txBody>
      </p:sp>
    </p:spTree>
    <p:extLst>
      <p:ext uri="{BB962C8B-B14F-4D97-AF65-F5344CB8AC3E}">
        <p14:creationId xmlns:p14="http://schemas.microsoft.com/office/powerpoint/2010/main" val="287642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6674"/>
            <a:ext cx="10563726" cy="1143000"/>
          </a:xfrm>
        </p:spPr>
        <p:txBody>
          <a:bodyPr/>
          <a:lstStyle/>
          <a:p>
            <a:pPr algn="ctr"/>
            <a:r>
              <a:rPr lang="en-US" altLang="en-US" b="1" dirty="0">
                <a:solidFill>
                  <a:srgbClr val="0B5395"/>
                </a:solidFill>
                <a:latin typeface="Garamond" panose="02020404030301010803" pitchFamily="18" charset="0"/>
              </a:rPr>
              <a:t>Technological Evolution and Shifting Expectations</a:t>
            </a:r>
          </a:p>
        </p:txBody>
      </p:sp>
      <p:pic>
        <p:nvPicPr>
          <p:cNvPr id="2050" name="Picture 2" descr="Global Campaign, Same-Day Delivery | Amazon Prime — Sarah Roulston">
            <a:extLst>
              <a:ext uri="{FF2B5EF4-FFF2-40B4-BE49-F238E27FC236}">
                <a16:creationId xmlns:a16="http://schemas.microsoft.com/office/drawing/2014/main" id="{2BBCBDF4-6C3D-6C5A-D8F9-9D5D14E3DA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54" r="7887"/>
          <a:stretch/>
        </p:blipFill>
        <p:spPr bwMode="auto">
          <a:xfrm>
            <a:off x="925977" y="1374158"/>
            <a:ext cx="3636003" cy="227093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linkit Temporarily Stops Operations in Areas Where It Cannot Deliver in 10  Minutes | Technology News">
            <a:extLst>
              <a:ext uri="{FF2B5EF4-FFF2-40B4-BE49-F238E27FC236}">
                <a16:creationId xmlns:a16="http://schemas.microsoft.com/office/drawing/2014/main" id="{B0360AA2-18A2-9173-0F11-1158679404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938" r="17099"/>
          <a:stretch/>
        </p:blipFill>
        <p:spPr bwMode="auto">
          <a:xfrm>
            <a:off x="4786181" y="1374158"/>
            <a:ext cx="2945709" cy="227093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8C061A75-1CB9-DDBA-3768-61E98FBC746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474"/>
          <a:stretch/>
        </p:blipFill>
        <p:spPr bwMode="auto">
          <a:xfrm>
            <a:off x="4786181" y="3783098"/>
            <a:ext cx="2945709" cy="21200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phora's Augmented Reality">
            <a:extLst>
              <a:ext uri="{FF2B5EF4-FFF2-40B4-BE49-F238E27FC236}">
                <a16:creationId xmlns:a16="http://schemas.microsoft.com/office/drawing/2014/main" id="{0657F65D-7AD5-911F-1A7A-AC07B6A1D4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4546" b="15037"/>
          <a:stretch/>
        </p:blipFill>
        <p:spPr bwMode="auto">
          <a:xfrm>
            <a:off x="925976" y="3783097"/>
            <a:ext cx="3636003" cy="21200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E21BAAF-5CF1-B169-20C6-275B0905CB75}"/>
              </a:ext>
            </a:extLst>
          </p:cNvPr>
          <p:cNvPicPr>
            <a:picLocks noChangeAspect="1"/>
          </p:cNvPicPr>
          <p:nvPr/>
        </p:nvPicPr>
        <p:blipFill>
          <a:blip r:embed="rId7"/>
          <a:stretch>
            <a:fillRect/>
          </a:stretch>
        </p:blipFill>
        <p:spPr>
          <a:xfrm>
            <a:off x="7956092" y="1374159"/>
            <a:ext cx="3396778" cy="4529038"/>
          </a:xfrm>
          <a:prstGeom prst="rect">
            <a:avLst/>
          </a:prstGeom>
        </p:spPr>
      </p:pic>
    </p:spTree>
    <p:extLst>
      <p:ext uri="{BB962C8B-B14F-4D97-AF65-F5344CB8AC3E}">
        <p14:creationId xmlns:p14="http://schemas.microsoft.com/office/powerpoint/2010/main" val="2059947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Competitive Landscape and Inter-Industry Influence</a:t>
            </a:r>
          </a:p>
        </p:txBody>
      </p:sp>
      <p:sp>
        <p:nvSpPr>
          <p:cNvPr id="2" name="Content Placeholder 2">
            <a:extLst>
              <a:ext uri="{FF2B5EF4-FFF2-40B4-BE49-F238E27FC236}">
                <a16:creationId xmlns:a16="http://schemas.microsoft.com/office/drawing/2014/main" id="{EA32702F-F57A-9EBD-732E-A390D4D983A8}"/>
              </a:ext>
            </a:extLst>
          </p:cNvPr>
          <p:cNvSpPr>
            <a:spLocks noGrp="1"/>
          </p:cNvSpPr>
          <p:nvPr>
            <p:ph idx="1"/>
          </p:nvPr>
        </p:nvSpPr>
        <p:spPr>
          <a:xfrm>
            <a:off x="478624" y="1612232"/>
            <a:ext cx="4574640" cy="4152354"/>
          </a:xfrm>
        </p:spPr>
        <p:txBody>
          <a:bodyPr>
            <a:noAutofit/>
          </a:bodyPr>
          <a:lstStyle/>
          <a:p>
            <a:pPr>
              <a:lnSpc>
                <a:spcPct val="100000"/>
              </a:lnSpc>
            </a:pPr>
            <a:r>
              <a:rPr lang="en-US" altLang="en-US" sz="2500" dirty="0">
                <a:latin typeface="Garamond" panose="02020404030301010803" pitchFamily="18" charset="0"/>
              </a:rPr>
              <a:t>New standards can transfer from one company to the next through customer expectations. </a:t>
            </a:r>
          </a:p>
          <a:p>
            <a:pPr>
              <a:lnSpc>
                <a:spcPct val="100000"/>
              </a:lnSpc>
            </a:pPr>
            <a:r>
              <a:rPr lang="en-US" altLang="en-US" sz="2500" dirty="0">
                <a:latin typeface="Garamond" panose="02020404030301010803" pitchFamily="18" charset="0"/>
              </a:rPr>
              <a:t>The “Amazon Effect” signifies the rise in customer expectations influenced by Amazon’s streamlined business approach. </a:t>
            </a:r>
          </a:p>
          <a:p>
            <a:pPr>
              <a:lnSpc>
                <a:spcPct val="100000"/>
              </a:lnSpc>
            </a:pPr>
            <a:r>
              <a:rPr lang="en-US" altLang="en-US" sz="2500" dirty="0">
                <a:latin typeface="Garamond" panose="02020404030301010803" pitchFamily="18" charset="0"/>
              </a:rPr>
              <a:t>As customer expectations change (as a result of technology), managers have to keep up. </a:t>
            </a:r>
          </a:p>
        </p:txBody>
      </p:sp>
      <p:pic>
        <p:nvPicPr>
          <p:cNvPr id="3" name="Picture 2" descr="What is the Amazon Effect? How to Prepare and Adapt to Win | Cleo">
            <a:extLst>
              <a:ext uri="{FF2B5EF4-FFF2-40B4-BE49-F238E27FC236}">
                <a16:creationId xmlns:a16="http://schemas.microsoft.com/office/drawing/2014/main" id="{D9BF3406-FBE4-65A0-B8B3-35A1CA687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998" y="1567292"/>
            <a:ext cx="5859378" cy="37536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BF801B-A4C2-EAE9-6C95-EDF0D01B0A5A}"/>
              </a:ext>
            </a:extLst>
          </p:cNvPr>
          <p:cNvSpPr txBox="1"/>
          <p:nvPr/>
        </p:nvSpPr>
        <p:spPr>
          <a:xfrm>
            <a:off x="5853998" y="5284821"/>
            <a:ext cx="5859377" cy="830997"/>
          </a:xfrm>
          <a:prstGeom prst="rect">
            <a:avLst/>
          </a:prstGeom>
          <a:noFill/>
        </p:spPr>
        <p:txBody>
          <a:bodyPr wrap="square">
            <a:spAutoFit/>
          </a:bodyPr>
          <a:lstStyle/>
          <a:p>
            <a:pPr algn="ctr">
              <a:lnSpc>
                <a:spcPct val="100000"/>
              </a:lnSpc>
            </a:pPr>
            <a:r>
              <a:rPr lang="en-US" altLang="en-US" sz="2400" b="1" dirty="0">
                <a:latin typeface="Garamond" panose="02020404030301010803" pitchFamily="18" charset="0"/>
              </a:rPr>
              <a:t>There is only one direction that customer expectations go: UP!</a:t>
            </a:r>
          </a:p>
        </p:txBody>
      </p:sp>
    </p:spTree>
    <p:extLst>
      <p:ext uri="{BB962C8B-B14F-4D97-AF65-F5344CB8AC3E}">
        <p14:creationId xmlns:p14="http://schemas.microsoft.com/office/powerpoint/2010/main" val="4267261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B436F-03B1-A916-0082-6832611D2D12}"/>
              </a:ext>
            </a:extLst>
          </p:cNvPr>
          <p:cNvSpPr>
            <a:spLocks noGrp="1"/>
          </p:cNvSpPr>
          <p:nvPr>
            <p:ph type="title"/>
          </p:nvPr>
        </p:nvSpPr>
        <p:spPr>
          <a:xfrm>
            <a:off x="7909560" y="576072"/>
            <a:ext cx="3657600" cy="2194560"/>
          </a:xfrm>
        </p:spPr>
        <p:txBody>
          <a:bodyPr anchor="b">
            <a:normAutofit/>
          </a:bodyPr>
          <a:lstStyle/>
          <a:p>
            <a:r>
              <a:rPr lang="en-US" sz="4000" dirty="0">
                <a:latin typeface="Garamond" panose="02020404030301010803" pitchFamily="18" charset="0"/>
              </a:rPr>
              <a:t>2 Types of Customer Expectations</a:t>
            </a:r>
          </a:p>
        </p:txBody>
      </p:sp>
      <p:sp>
        <p:nvSpPr>
          <p:cNvPr id="3" name="Content Placeholder 2">
            <a:extLst>
              <a:ext uri="{FF2B5EF4-FFF2-40B4-BE49-F238E27FC236}">
                <a16:creationId xmlns:a16="http://schemas.microsoft.com/office/drawing/2014/main" id="{2A094E8F-23D1-38B8-9E2F-9B7BE69B7DF0}"/>
              </a:ext>
            </a:extLst>
          </p:cNvPr>
          <p:cNvSpPr>
            <a:spLocks noGrp="1"/>
          </p:cNvSpPr>
          <p:nvPr>
            <p:ph type="body" sz="half" idx="2"/>
          </p:nvPr>
        </p:nvSpPr>
        <p:spPr>
          <a:xfrm>
            <a:off x="7909560" y="2999232"/>
            <a:ext cx="3657600" cy="2286000"/>
          </a:xfrm>
        </p:spPr>
        <p:txBody>
          <a:bodyPr>
            <a:noAutofit/>
          </a:bodyPr>
          <a:lstStyle/>
          <a:p>
            <a:pPr marL="457200" indent="-457200">
              <a:buClr>
                <a:schemeClr val="bg1"/>
              </a:buClr>
              <a:buFont typeface="+mj-lt"/>
              <a:buAutoNum type="arabicPeriod"/>
            </a:pPr>
            <a:r>
              <a:rPr lang="en-US" sz="3200" dirty="0">
                <a:latin typeface="Garamond" panose="02020404030301010803" pitchFamily="18" charset="0"/>
              </a:rPr>
              <a:t>Desired Service: highest expectations</a:t>
            </a:r>
          </a:p>
          <a:p>
            <a:pPr marL="457200" indent="-457200">
              <a:buClr>
                <a:schemeClr val="bg1"/>
              </a:buClr>
              <a:buFont typeface="+mj-lt"/>
              <a:buAutoNum type="arabicPeriod"/>
            </a:pPr>
            <a:r>
              <a:rPr lang="en-US" sz="3200" dirty="0">
                <a:latin typeface="Garamond" panose="02020404030301010803" pitchFamily="18" charset="0"/>
              </a:rPr>
              <a:t>Adequate service: minimum tolerable expectation </a:t>
            </a:r>
          </a:p>
        </p:txBody>
      </p:sp>
      <p:pic>
        <p:nvPicPr>
          <p:cNvPr id="4" name="Picture 3">
            <a:extLst>
              <a:ext uri="{FF2B5EF4-FFF2-40B4-BE49-F238E27FC236}">
                <a16:creationId xmlns:a16="http://schemas.microsoft.com/office/drawing/2014/main" id="{140DF5EC-CD66-38D6-A3FD-B01A7CE72A52}"/>
              </a:ext>
            </a:extLst>
          </p:cNvPr>
          <p:cNvPicPr>
            <a:picLocks noChangeAspect="1"/>
          </p:cNvPicPr>
          <p:nvPr/>
        </p:nvPicPr>
        <p:blipFill>
          <a:blip r:embed="rId3"/>
          <a:stretch>
            <a:fillRect/>
          </a:stretch>
        </p:blipFill>
        <p:spPr>
          <a:xfrm>
            <a:off x="166335" y="476613"/>
            <a:ext cx="6962809" cy="5671524"/>
          </a:xfrm>
          <a:prstGeom prst="rect">
            <a:avLst/>
          </a:prstGeom>
        </p:spPr>
      </p:pic>
    </p:spTree>
    <p:extLst>
      <p:ext uri="{BB962C8B-B14F-4D97-AF65-F5344CB8AC3E}">
        <p14:creationId xmlns:p14="http://schemas.microsoft.com/office/powerpoint/2010/main" val="2111199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Desired Service</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902368" y="1689905"/>
            <a:ext cx="5017169" cy="4101296"/>
          </a:xfrm>
        </p:spPr>
        <p:txBody>
          <a:bodyPr>
            <a:normAutofit/>
          </a:bodyPr>
          <a:lstStyle/>
          <a:p>
            <a:r>
              <a:rPr lang="en-US" sz="2800" dirty="0">
                <a:latin typeface="Garamond" panose="02020404030301010803" pitchFamily="18" charset="0"/>
              </a:rPr>
              <a:t>Desired service is a blend of what the customer believes “can be” and “should be” provided.</a:t>
            </a:r>
          </a:p>
          <a:p>
            <a:r>
              <a:rPr lang="en-US" sz="2800" dirty="0">
                <a:latin typeface="Garamond" panose="02020404030301010803" pitchFamily="18" charset="0"/>
              </a:rPr>
              <a:t>For example, while applying for jobs online, all the criteria (e.g., location, role, salary etc.) need to be matched. This expectation reflects the hopes and wishes of these consumers. </a:t>
            </a:r>
          </a:p>
        </p:txBody>
      </p:sp>
      <p:pic>
        <p:nvPicPr>
          <p:cNvPr id="5122" name="Picture 2" descr="50 Dream Job Quotes to Inspire You">
            <a:extLst>
              <a:ext uri="{FF2B5EF4-FFF2-40B4-BE49-F238E27FC236}">
                <a16:creationId xmlns:a16="http://schemas.microsoft.com/office/drawing/2014/main" id="{F483C2B2-313F-051E-3C64-563D1CEB67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11" r="15526"/>
          <a:stretch/>
        </p:blipFill>
        <p:spPr bwMode="auto">
          <a:xfrm>
            <a:off x="6272465" y="1514476"/>
            <a:ext cx="5354053" cy="427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5738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Adequate Service</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902368" y="1689905"/>
            <a:ext cx="5017169" cy="4101296"/>
          </a:xfrm>
        </p:spPr>
        <p:txBody>
          <a:bodyPr>
            <a:normAutofit/>
          </a:bodyPr>
          <a:lstStyle/>
          <a:p>
            <a:r>
              <a:rPr lang="en-US" sz="2800" dirty="0">
                <a:latin typeface="Garamond" panose="02020404030301010803" pitchFamily="18" charset="0"/>
              </a:rPr>
              <a:t>The threshold level of acceptable service, which is the minimum level of service the customer will accept. </a:t>
            </a:r>
          </a:p>
          <a:p>
            <a:r>
              <a:rPr lang="en-US" sz="2800" dirty="0">
                <a:latin typeface="Garamond" panose="02020404030301010803" pitchFamily="18" charset="0"/>
              </a:rPr>
              <a:t>Example: the job you are willing to take (sometimes while waiting for the dream job)</a:t>
            </a:r>
          </a:p>
          <a:p>
            <a:endParaRPr lang="en-US" sz="2800" dirty="0">
              <a:latin typeface="Garamond" panose="02020404030301010803" pitchFamily="18" charset="0"/>
            </a:endParaRPr>
          </a:p>
        </p:txBody>
      </p:sp>
      <p:pic>
        <p:nvPicPr>
          <p:cNvPr id="6146" name="Picture 2" descr="Has Your Dream Job Become Your Worst Nightmare? - Abby Dalton | Procurement  &amp; supply chain news and insights | Procurious">
            <a:extLst>
              <a:ext uri="{FF2B5EF4-FFF2-40B4-BE49-F238E27FC236}">
                <a16:creationId xmlns:a16="http://schemas.microsoft.com/office/drawing/2014/main" id="{9B50518D-F84A-F26B-B747-325A711AC5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56" r="20478"/>
          <a:stretch/>
        </p:blipFill>
        <p:spPr bwMode="auto">
          <a:xfrm>
            <a:off x="6467908" y="1512935"/>
            <a:ext cx="5098451" cy="4482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440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Zone of Tolerance</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733926" y="1689905"/>
            <a:ext cx="6256421" cy="4217600"/>
          </a:xfrm>
        </p:spPr>
        <p:txBody>
          <a:bodyPr>
            <a:normAutofit lnSpcReduction="10000"/>
          </a:bodyPr>
          <a:lstStyle/>
          <a:p>
            <a:r>
              <a:rPr lang="en-US" sz="2800" dirty="0">
                <a:latin typeface="Garamond" panose="02020404030301010803" pitchFamily="18" charset="0"/>
              </a:rPr>
              <a:t>The extent to which consumers are willing to accept variation in services.</a:t>
            </a:r>
          </a:p>
          <a:p>
            <a:r>
              <a:rPr lang="en-US" sz="2800" dirty="0">
                <a:latin typeface="Garamond" panose="02020404030301010803" pitchFamily="18" charset="0"/>
              </a:rPr>
              <a:t>In this range, consumers do not particularly notice service performance.</a:t>
            </a:r>
          </a:p>
          <a:p>
            <a:r>
              <a:rPr lang="en-US" sz="2800" dirty="0">
                <a:latin typeface="Garamond" panose="02020404030301010803" pitchFamily="18" charset="0"/>
              </a:rPr>
              <a:t>If performance falls outside the range, it gets customer’s attention in either a positive or negative way.</a:t>
            </a:r>
          </a:p>
          <a:p>
            <a:r>
              <a:rPr lang="en-US" sz="2800" dirty="0">
                <a:latin typeface="Garamond" panose="02020404030301010803" pitchFamily="18" charset="0"/>
              </a:rPr>
              <a:t>It expands and contracts based on customers, conditions (e.g., price) and service dimensions.</a:t>
            </a:r>
          </a:p>
        </p:txBody>
      </p:sp>
      <p:pic>
        <p:nvPicPr>
          <p:cNvPr id="4" name="Picture 3">
            <a:extLst>
              <a:ext uri="{FF2B5EF4-FFF2-40B4-BE49-F238E27FC236}">
                <a16:creationId xmlns:a16="http://schemas.microsoft.com/office/drawing/2014/main" id="{E76DDD0A-9D4B-9D16-6AB5-4497B7CAD19E}"/>
              </a:ext>
            </a:extLst>
          </p:cNvPr>
          <p:cNvPicPr>
            <a:picLocks noChangeAspect="1"/>
          </p:cNvPicPr>
          <p:nvPr/>
        </p:nvPicPr>
        <p:blipFill>
          <a:blip r:embed="rId3"/>
          <a:stretch>
            <a:fillRect/>
          </a:stretch>
        </p:blipFill>
        <p:spPr>
          <a:xfrm>
            <a:off x="7200531" y="1689905"/>
            <a:ext cx="4677453" cy="3809998"/>
          </a:xfrm>
          <a:prstGeom prst="rect">
            <a:avLst/>
          </a:prstGeom>
        </p:spPr>
      </p:pic>
    </p:spTree>
    <p:extLst>
      <p:ext uri="{BB962C8B-B14F-4D97-AF65-F5344CB8AC3E}">
        <p14:creationId xmlns:p14="http://schemas.microsoft.com/office/powerpoint/2010/main" val="2967603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1B9C-8868-84B5-4F95-5DE149D6C6EC}"/>
              </a:ext>
            </a:extLst>
          </p:cNvPr>
          <p:cNvSpPr>
            <a:spLocks noGrp="1"/>
          </p:cNvSpPr>
          <p:nvPr>
            <p:ph type="title"/>
          </p:nvPr>
        </p:nvSpPr>
        <p:spPr/>
        <p:txBody>
          <a:bodyPr>
            <a:normAutofit/>
          </a:bodyPr>
          <a:lstStyle/>
          <a:p>
            <a:r>
              <a:rPr lang="en-US" sz="4000" dirty="0">
                <a:latin typeface="Garamond" panose="02020404030301010803" pitchFamily="18" charset="0"/>
              </a:rPr>
              <a:t>Do we live in a zone of tolerance?</a:t>
            </a:r>
          </a:p>
        </p:txBody>
      </p:sp>
      <p:sp>
        <p:nvSpPr>
          <p:cNvPr id="3" name="Text Placeholder 2">
            <a:extLst>
              <a:ext uri="{FF2B5EF4-FFF2-40B4-BE49-F238E27FC236}">
                <a16:creationId xmlns:a16="http://schemas.microsoft.com/office/drawing/2014/main" id="{1DA5BA38-BDF2-9021-4B0B-810475FACF38}"/>
              </a:ext>
            </a:extLst>
          </p:cNvPr>
          <p:cNvSpPr>
            <a:spLocks noGrp="1"/>
          </p:cNvSpPr>
          <p:nvPr>
            <p:ph type="body" idx="1"/>
          </p:nvPr>
        </p:nvSpPr>
        <p:spPr/>
        <p:txBody>
          <a:bodyPr>
            <a:normAutofit/>
          </a:bodyPr>
          <a:lstStyle/>
          <a:p>
            <a:endParaRPr lang="en-US" sz="2400" dirty="0">
              <a:latin typeface="Garamond" panose="02020404030301010803" pitchFamily="18" charset="0"/>
            </a:endParaRPr>
          </a:p>
        </p:txBody>
      </p:sp>
    </p:spTree>
    <p:extLst>
      <p:ext uri="{BB962C8B-B14F-4D97-AF65-F5344CB8AC3E}">
        <p14:creationId xmlns:p14="http://schemas.microsoft.com/office/powerpoint/2010/main" val="1190796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1F7E-95C9-6408-A729-A9BDE7D61D49}"/>
              </a:ext>
            </a:extLst>
          </p:cNvPr>
          <p:cNvSpPr>
            <a:spLocks noGrp="1"/>
          </p:cNvSpPr>
          <p:nvPr>
            <p:ph type="title"/>
          </p:nvPr>
        </p:nvSpPr>
        <p:spPr>
          <a:xfrm>
            <a:off x="823913" y="503854"/>
            <a:ext cx="10544175" cy="682690"/>
          </a:xfrm>
        </p:spPr>
        <p:txBody>
          <a:bodyPr>
            <a:normAutofit/>
          </a:bodyPr>
          <a:lstStyle/>
          <a:p>
            <a:pPr algn="ctr"/>
            <a:r>
              <a:rPr lang="en-US" dirty="0">
                <a:latin typeface="Garamond" panose="02020404030301010803" pitchFamily="18" charset="0"/>
              </a:rPr>
              <a:t>Sources of All Service Expectations</a:t>
            </a:r>
          </a:p>
        </p:txBody>
      </p:sp>
      <p:pic>
        <p:nvPicPr>
          <p:cNvPr id="6" name="Picture 5">
            <a:extLst>
              <a:ext uri="{FF2B5EF4-FFF2-40B4-BE49-F238E27FC236}">
                <a16:creationId xmlns:a16="http://schemas.microsoft.com/office/drawing/2014/main" id="{2972FB45-72F3-591B-54D5-ABF98441AFF3}"/>
              </a:ext>
            </a:extLst>
          </p:cNvPr>
          <p:cNvPicPr>
            <a:picLocks noChangeAspect="1"/>
          </p:cNvPicPr>
          <p:nvPr/>
        </p:nvPicPr>
        <p:blipFill>
          <a:blip r:embed="rId3"/>
          <a:stretch>
            <a:fillRect/>
          </a:stretch>
        </p:blipFill>
        <p:spPr>
          <a:xfrm>
            <a:off x="2209800" y="1711649"/>
            <a:ext cx="7772400" cy="4311287"/>
          </a:xfrm>
          <a:prstGeom prst="rect">
            <a:avLst/>
          </a:prstGeom>
        </p:spPr>
      </p:pic>
    </p:spTree>
    <p:extLst>
      <p:ext uri="{BB962C8B-B14F-4D97-AF65-F5344CB8AC3E}">
        <p14:creationId xmlns:p14="http://schemas.microsoft.com/office/powerpoint/2010/main" val="3432563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1F7E-95C9-6408-A729-A9BDE7D61D49}"/>
              </a:ext>
            </a:extLst>
          </p:cNvPr>
          <p:cNvSpPr>
            <a:spLocks noGrp="1"/>
          </p:cNvSpPr>
          <p:nvPr>
            <p:ph type="title"/>
          </p:nvPr>
        </p:nvSpPr>
        <p:spPr>
          <a:xfrm>
            <a:off x="1295400" y="503854"/>
            <a:ext cx="9601200" cy="682690"/>
          </a:xfrm>
        </p:spPr>
        <p:txBody>
          <a:bodyPr/>
          <a:lstStyle/>
          <a:p>
            <a:pPr algn="ctr"/>
            <a:r>
              <a:rPr lang="en-US" dirty="0">
                <a:latin typeface="Garamond" panose="02020404030301010803" pitchFamily="18" charset="0"/>
              </a:rPr>
              <a:t>Sources of Desired Service</a:t>
            </a:r>
          </a:p>
        </p:txBody>
      </p:sp>
      <p:sp>
        <p:nvSpPr>
          <p:cNvPr id="11" name="Content Placeholder 10">
            <a:extLst>
              <a:ext uri="{FF2B5EF4-FFF2-40B4-BE49-F238E27FC236}">
                <a16:creationId xmlns:a16="http://schemas.microsoft.com/office/drawing/2014/main" id="{0CDFBFD5-4903-52F7-D7F8-DC7EB598EEC0}"/>
              </a:ext>
            </a:extLst>
          </p:cNvPr>
          <p:cNvSpPr>
            <a:spLocks noGrp="1"/>
          </p:cNvSpPr>
          <p:nvPr>
            <p:ph idx="1"/>
          </p:nvPr>
        </p:nvSpPr>
        <p:spPr>
          <a:xfrm>
            <a:off x="842211" y="1503947"/>
            <a:ext cx="10684042" cy="4249153"/>
          </a:xfrm>
        </p:spPr>
        <p:txBody>
          <a:bodyPr>
            <a:noAutofit/>
          </a:bodyPr>
          <a:lstStyle/>
          <a:p>
            <a:r>
              <a:rPr lang="en-US" b="1" u="sng" dirty="0">
                <a:latin typeface="Garamond" panose="02020404030301010803" pitchFamily="18" charset="0"/>
              </a:rPr>
              <a:t>Personal needs:</a:t>
            </a:r>
            <a:r>
              <a:rPr lang="en-US" dirty="0">
                <a:latin typeface="Garamond" panose="02020404030301010803" pitchFamily="18" charset="0"/>
              </a:rPr>
              <a:t> states or conditions essential to the physical or psychological well-being of the customer.</a:t>
            </a:r>
          </a:p>
          <a:p>
            <a:pPr lvl="1"/>
            <a:r>
              <a:rPr lang="en-US" sz="2000" dirty="0">
                <a:latin typeface="Garamond" panose="02020404030301010803" pitchFamily="18" charset="0"/>
              </a:rPr>
              <a:t>Ex: Think about personal characteristics - high social needs might expect / desire a hotel to have a thriving bar.</a:t>
            </a:r>
          </a:p>
          <a:p>
            <a:r>
              <a:rPr lang="en-US" b="1" u="sng" dirty="0">
                <a:latin typeface="Garamond" panose="02020404030301010803" pitchFamily="18" charset="0"/>
              </a:rPr>
              <a:t>Personal service philosophy:</a:t>
            </a:r>
            <a:r>
              <a:rPr lang="en-US" dirty="0">
                <a:latin typeface="Garamond" panose="02020404030301010803" pitchFamily="18" charset="0"/>
              </a:rPr>
              <a:t> underlying generic attitude about the meaning of service and the proper conduct of service providers.</a:t>
            </a:r>
          </a:p>
          <a:p>
            <a:pPr lvl="1"/>
            <a:r>
              <a:rPr lang="en-US" sz="2000" dirty="0">
                <a:latin typeface="Garamond" panose="02020404030301010803" pitchFamily="18" charset="0"/>
              </a:rPr>
              <a:t>Ex: This is your basic expectation - how long you believe you should wait before you are served at a restaurant. </a:t>
            </a:r>
          </a:p>
          <a:p>
            <a:r>
              <a:rPr lang="en-US" b="1" u="sng" dirty="0">
                <a:latin typeface="Garamond" panose="02020404030301010803" pitchFamily="18" charset="0"/>
              </a:rPr>
              <a:t>Derived service expectations:</a:t>
            </a:r>
            <a:r>
              <a:rPr lang="en-US" dirty="0">
                <a:latin typeface="Garamond" panose="02020404030301010803" pitchFamily="18" charset="0"/>
              </a:rPr>
              <a:t> when customer expectations are driven by another person or group of people.</a:t>
            </a:r>
          </a:p>
          <a:p>
            <a:pPr lvl="1"/>
            <a:r>
              <a:rPr lang="en-US" sz="2000" dirty="0">
                <a:latin typeface="Garamond" panose="02020404030301010803" pitchFamily="18" charset="0"/>
              </a:rPr>
              <a:t>Ex: This is about meeting someone else’s desires - a parent choosing a vacation for the family will build pressure on the parent to meet the family’s expectations.</a:t>
            </a:r>
          </a:p>
        </p:txBody>
      </p:sp>
    </p:spTree>
    <p:extLst>
      <p:ext uri="{BB962C8B-B14F-4D97-AF65-F5344CB8AC3E}">
        <p14:creationId xmlns:p14="http://schemas.microsoft.com/office/powerpoint/2010/main" val="3442945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1F7E-95C9-6408-A729-A9BDE7D61D49}"/>
              </a:ext>
            </a:extLst>
          </p:cNvPr>
          <p:cNvSpPr>
            <a:spLocks noGrp="1"/>
          </p:cNvSpPr>
          <p:nvPr>
            <p:ph type="title"/>
          </p:nvPr>
        </p:nvSpPr>
        <p:spPr>
          <a:xfrm>
            <a:off x="1295400" y="503854"/>
            <a:ext cx="9601200" cy="682690"/>
          </a:xfrm>
        </p:spPr>
        <p:txBody>
          <a:bodyPr/>
          <a:lstStyle/>
          <a:p>
            <a:pPr algn="ctr"/>
            <a:r>
              <a:rPr lang="en-US" dirty="0">
                <a:latin typeface="Garamond" panose="02020404030301010803" pitchFamily="18" charset="0"/>
              </a:rPr>
              <a:t>Sources of Adequate Service</a:t>
            </a:r>
          </a:p>
        </p:txBody>
      </p:sp>
      <p:sp>
        <p:nvSpPr>
          <p:cNvPr id="11" name="Content Placeholder 10">
            <a:extLst>
              <a:ext uri="{FF2B5EF4-FFF2-40B4-BE49-F238E27FC236}">
                <a16:creationId xmlns:a16="http://schemas.microsoft.com/office/drawing/2014/main" id="{0CDFBFD5-4903-52F7-D7F8-DC7EB598EEC0}"/>
              </a:ext>
            </a:extLst>
          </p:cNvPr>
          <p:cNvSpPr>
            <a:spLocks noGrp="1"/>
          </p:cNvSpPr>
          <p:nvPr>
            <p:ph idx="1"/>
          </p:nvPr>
        </p:nvSpPr>
        <p:spPr>
          <a:xfrm>
            <a:off x="842211" y="1503947"/>
            <a:ext cx="10684042" cy="4249153"/>
          </a:xfrm>
        </p:spPr>
        <p:txBody>
          <a:bodyPr>
            <a:noAutofit/>
          </a:bodyPr>
          <a:lstStyle/>
          <a:p>
            <a:r>
              <a:rPr lang="en-US" b="1" u="sng" dirty="0">
                <a:latin typeface="Garamond" panose="02020404030301010803" pitchFamily="18" charset="0"/>
              </a:rPr>
              <a:t>Perceived service alternatives:</a:t>
            </a:r>
            <a:r>
              <a:rPr lang="en-US" dirty="0">
                <a:latin typeface="Garamond" panose="02020404030301010803" pitchFamily="18" charset="0"/>
              </a:rPr>
              <a:t> other providers who customers can – or believe they can – obtain the service.</a:t>
            </a:r>
          </a:p>
          <a:p>
            <a:pPr lvl="1"/>
            <a:r>
              <a:rPr lang="en-US" dirty="0">
                <a:latin typeface="Garamond" panose="02020404030301010803" pitchFamily="18" charset="0"/>
              </a:rPr>
              <a:t>If you believe you can do it yourself then you might hold others to a higher expectation (e.g., cutting the lawn, making dinner, etc.).</a:t>
            </a:r>
          </a:p>
          <a:p>
            <a:pPr lvl="1"/>
            <a:r>
              <a:rPr lang="en-US" dirty="0">
                <a:latin typeface="Garamond" panose="02020404030301010803" pitchFamily="18" charset="0"/>
              </a:rPr>
              <a:t>When sources are limited, </a:t>
            </a:r>
            <a:r>
              <a:rPr lang="en-US" b="1" dirty="0">
                <a:solidFill>
                  <a:srgbClr val="0B5395"/>
                </a:solidFill>
                <a:latin typeface="Garamond" panose="02020404030301010803" pitchFamily="18" charset="0"/>
              </a:rPr>
              <a:t>the zone of tolerance may increase.</a:t>
            </a:r>
          </a:p>
          <a:p>
            <a:r>
              <a:rPr lang="en-US" b="1" u="sng" dirty="0">
                <a:latin typeface="Garamond" panose="02020404030301010803" pitchFamily="18" charset="0"/>
              </a:rPr>
              <a:t>Situational factors:</a:t>
            </a:r>
          </a:p>
          <a:p>
            <a:pPr lvl="1"/>
            <a:r>
              <a:rPr lang="en-US" b="1" u="sng" dirty="0">
                <a:latin typeface="Garamond" panose="02020404030301010803" pitchFamily="18" charset="0"/>
              </a:rPr>
              <a:t>Uncontrollable:</a:t>
            </a:r>
            <a:r>
              <a:rPr lang="en-US" dirty="0">
                <a:latin typeface="Garamond" panose="02020404030301010803" pitchFamily="18" charset="0"/>
              </a:rPr>
              <a:t> conditions beyond the control of the service provider, e.g., flight delays due to bad weather – </a:t>
            </a:r>
            <a:r>
              <a:rPr lang="en-US" b="1" dirty="0">
                <a:solidFill>
                  <a:srgbClr val="0B5395"/>
                </a:solidFill>
                <a:latin typeface="Garamond" panose="02020404030301010803" pitchFamily="18" charset="0"/>
              </a:rPr>
              <a:t>may widen the zone of tolerance.</a:t>
            </a:r>
          </a:p>
          <a:p>
            <a:pPr lvl="1"/>
            <a:r>
              <a:rPr lang="en-US" b="1" u="sng" dirty="0">
                <a:latin typeface="Garamond" panose="02020404030301010803" pitchFamily="18" charset="0"/>
              </a:rPr>
              <a:t>Personal: </a:t>
            </a:r>
            <a:r>
              <a:rPr lang="en-US" dirty="0">
                <a:latin typeface="Garamond" panose="02020404030301010803" pitchFamily="18" charset="0"/>
              </a:rPr>
              <a:t>short-term, individual factors that make a customer more aware of the need for service (such as emergencies) – </a:t>
            </a:r>
            <a:r>
              <a:rPr lang="en-US" b="1" dirty="0">
                <a:solidFill>
                  <a:srgbClr val="0B5395"/>
                </a:solidFill>
                <a:latin typeface="Garamond" panose="02020404030301010803" pitchFamily="18" charset="0"/>
              </a:rPr>
              <a:t>the zone of tolerance may be narrowed.</a:t>
            </a:r>
            <a:endParaRPr lang="en-US" dirty="0">
              <a:latin typeface="Garamond" panose="02020404030301010803" pitchFamily="18" charset="0"/>
            </a:endParaRPr>
          </a:p>
          <a:p>
            <a:r>
              <a:rPr lang="en-US" b="1" u="sng" dirty="0">
                <a:latin typeface="Garamond" panose="02020404030301010803" pitchFamily="18" charset="0"/>
              </a:rPr>
              <a:t>Predicted service:</a:t>
            </a:r>
            <a:r>
              <a:rPr lang="en-US" dirty="0">
                <a:latin typeface="Garamond" panose="02020404030301010803" pitchFamily="18" charset="0"/>
              </a:rPr>
              <a:t> the level of service that customer anticipate they will get (amplified by prior experiences).</a:t>
            </a:r>
          </a:p>
          <a:p>
            <a:pPr lvl="1"/>
            <a:r>
              <a:rPr lang="en-US" dirty="0">
                <a:latin typeface="Garamond" panose="02020404030301010803" pitchFamily="18" charset="0"/>
              </a:rPr>
              <a:t>Ex: certain services may be slower in college towns during first few weeks of school due to higher demand.</a:t>
            </a:r>
          </a:p>
          <a:p>
            <a:pPr lvl="1"/>
            <a:endParaRPr lang="en-US" dirty="0">
              <a:latin typeface="Garamond" panose="02020404030301010803" pitchFamily="18" charset="0"/>
            </a:endParaRPr>
          </a:p>
        </p:txBody>
      </p:sp>
    </p:spTree>
    <p:extLst>
      <p:ext uri="{BB962C8B-B14F-4D97-AF65-F5344CB8AC3E}">
        <p14:creationId xmlns:p14="http://schemas.microsoft.com/office/powerpoint/2010/main" val="3939820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1F7E-95C9-6408-A729-A9BDE7D61D49}"/>
              </a:ext>
            </a:extLst>
          </p:cNvPr>
          <p:cNvSpPr>
            <a:spLocks noGrp="1"/>
          </p:cNvSpPr>
          <p:nvPr>
            <p:ph type="title"/>
          </p:nvPr>
        </p:nvSpPr>
        <p:spPr>
          <a:xfrm>
            <a:off x="823913" y="503854"/>
            <a:ext cx="10544175" cy="682690"/>
          </a:xfrm>
        </p:spPr>
        <p:txBody>
          <a:bodyPr>
            <a:normAutofit/>
          </a:bodyPr>
          <a:lstStyle/>
          <a:p>
            <a:pPr algn="ctr"/>
            <a:r>
              <a:rPr lang="en-US" dirty="0">
                <a:latin typeface="Garamond" panose="02020404030301010803" pitchFamily="18" charset="0"/>
              </a:rPr>
              <a:t>Sources of Both Desired &amp; Predicted Service</a:t>
            </a:r>
          </a:p>
        </p:txBody>
      </p:sp>
      <p:sp>
        <p:nvSpPr>
          <p:cNvPr id="11" name="Content Placeholder 10">
            <a:extLst>
              <a:ext uri="{FF2B5EF4-FFF2-40B4-BE49-F238E27FC236}">
                <a16:creationId xmlns:a16="http://schemas.microsoft.com/office/drawing/2014/main" id="{0CDFBFD5-4903-52F7-D7F8-DC7EB598EEC0}"/>
              </a:ext>
            </a:extLst>
          </p:cNvPr>
          <p:cNvSpPr>
            <a:spLocks noGrp="1"/>
          </p:cNvSpPr>
          <p:nvPr>
            <p:ph idx="1"/>
          </p:nvPr>
        </p:nvSpPr>
        <p:spPr>
          <a:xfrm>
            <a:off x="842211" y="1503947"/>
            <a:ext cx="10684042" cy="4249153"/>
          </a:xfrm>
        </p:spPr>
        <p:txBody>
          <a:bodyPr>
            <a:noAutofit/>
          </a:bodyPr>
          <a:lstStyle/>
          <a:p>
            <a:r>
              <a:rPr lang="en-US" b="1" u="sng" dirty="0">
                <a:latin typeface="Garamond" panose="02020404030301010803" pitchFamily="18" charset="0"/>
              </a:rPr>
              <a:t>Explicit promises:</a:t>
            </a:r>
            <a:r>
              <a:rPr lang="en-US" dirty="0">
                <a:latin typeface="Garamond" panose="02020404030301010803" pitchFamily="18" charset="0"/>
              </a:rPr>
              <a:t> personal and non-personal statements about the service made by the company to customers.</a:t>
            </a:r>
          </a:p>
          <a:p>
            <a:pPr lvl="1"/>
            <a:r>
              <a:rPr lang="en-US" dirty="0">
                <a:latin typeface="Garamond" panose="02020404030301010803" pitchFamily="18" charset="0"/>
              </a:rPr>
              <a:t>Distributed through marketing communications, delivered by company representatives.</a:t>
            </a:r>
          </a:p>
          <a:p>
            <a:r>
              <a:rPr lang="en-US" b="1" u="sng" dirty="0">
                <a:latin typeface="Garamond" panose="02020404030301010803" pitchFamily="18" charset="0"/>
              </a:rPr>
              <a:t>Implicit promises:</a:t>
            </a:r>
            <a:r>
              <a:rPr lang="en-US" dirty="0">
                <a:latin typeface="Garamond" panose="02020404030301010803" pitchFamily="18" charset="0"/>
              </a:rPr>
              <a:t> service-related cues that lead to inferences about what the service should and will be like (like higher prices might mean better quality).</a:t>
            </a:r>
          </a:p>
          <a:p>
            <a:r>
              <a:rPr lang="en-US" b="1" u="sng" dirty="0">
                <a:latin typeface="Garamond" panose="02020404030301010803" pitchFamily="18" charset="0"/>
              </a:rPr>
              <a:t>Word-of-mouth communication:</a:t>
            </a:r>
            <a:r>
              <a:rPr lang="en-US" dirty="0">
                <a:latin typeface="Garamond" panose="02020404030301010803" pitchFamily="18" charset="0"/>
              </a:rPr>
              <a:t> statements made by parties other than the organization</a:t>
            </a:r>
          </a:p>
          <a:p>
            <a:pPr lvl="1"/>
            <a:r>
              <a:rPr lang="en-US" dirty="0">
                <a:latin typeface="Garamond" panose="02020404030301010803" pitchFamily="18" charset="0"/>
              </a:rPr>
              <a:t>Carries more weight as is often considered unbiased.</a:t>
            </a:r>
          </a:p>
          <a:p>
            <a:pPr lvl="1"/>
            <a:r>
              <a:rPr lang="en-US" dirty="0">
                <a:latin typeface="Garamond" panose="02020404030301010803" pitchFamily="18" charset="0"/>
              </a:rPr>
              <a:t>Helps customers when services are difficult to evaluate before purchase (e.g., Google Reviews)</a:t>
            </a:r>
          </a:p>
          <a:p>
            <a:r>
              <a:rPr lang="en-US" b="1" u="sng" dirty="0">
                <a:latin typeface="Garamond" panose="02020404030301010803" pitchFamily="18" charset="0"/>
              </a:rPr>
              <a:t>Past experience:</a:t>
            </a:r>
            <a:r>
              <a:rPr lang="en-US" dirty="0">
                <a:latin typeface="Garamond" panose="02020404030301010803" pitchFamily="18" charset="0"/>
              </a:rPr>
              <a:t> most of us draw from this!</a:t>
            </a:r>
          </a:p>
          <a:p>
            <a:endParaRPr lang="en-US" dirty="0">
              <a:latin typeface="Garamond" panose="02020404030301010803" pitchFamily="18" charset="0"/>
            </a:endParaRPr>
          </a:p>
        </p:txBody>
      </p:sp>
    </p:spTree>
    <p:extLst>
      <p:ext uri="{BB962C8B-B14F-4D97-AF65-F5344CB8AC3E}">
        <p14:creationId xmlns:p14="http://schemas.microsoft.com/office/powerpoint/2010/main" val="433182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1B9C-8868-84B5-4F95-5DE149D6C6EC}"/>
              </a:ext>
            </a:extLst>
          </p:cNvPr>
          <p:cNvSpPr>
            <a:spLocks noGrp="1"/>
          </p:cNvSpPr>
          <p:nvPr>
            <p:ph type="title"/>
          </p:nvPr>
        </p:nvSpPr>
        <p:spPr/>
        <p:txBody>
          <a:bodyPr>
            <a:normAutofit/>
          </a:bodyPr>
          <a:lstStyle/>
          <a:p>
            <a:r>
              <a:rPr lang="en-US" sz="4000" dirty="0">
                <a:latin typeface="Garamond" panose="02020404030301010803" pitchFamily="18" charset="0"/>
              </a:rPr>
              <a:t>What does a service marketer or manager do if customer expectations are unrealistic?</a:t>
            </a:r>
          </a:p>
        </p:txBody>
      </p:sp>
      <p:sp>
        <p:nvSpPr>
          <p:cNvPr id="3" name="Text Placeholder 2">
            <a:extLst>
              <a:ext uri="{FF2B5EF4-FFF2-40B4-BE49-F238E27FC236}">
                <a16:creationId xmlns:a16="http://schemas.microsoft.com/office/drawing/2014/main" id="{1DA5BA38-BDF2-9021-4B0B-810475FACF38}"/>
              </a:ext>
            </a:extLst>
          </p:cNvPr>
          <p:cNvSpPr>
            <a:spLocks noGrp="1"/>
          </p:cNvSpPr>
          <p:nvPr>
            <p:ph type="body" idx="1"/>
          </p:nvPr>
        </p:nvSpPr>
        <p:spPr/>
        <p:txBody>
          <a:bodyPr>
            <a:normAutofit/>
          </a:bodyPr>
          <a:lstStyle/>
          <a:p>
            <a:r>
              <a:rPr lang="en-US" sz="2400" dirty="0">
                <a:latin typeface="Garamond" panose="02020404030301010803" pitchFamily="18" charset="0"/>
              </a:rPr>
              <a:t>Give me some examples.</a:t>
            </a:r>
          </a:p>
        </p:txBody>
      </p:sp>
    </p:spTree>
    <p:extLst>
      <p:ext uri="{BB962C8B-B14F-4D97-AF65-F5344CB8AC3E}">
        <p14:creationId xmlns:p14="http://schemas.microsoft.com/office/powerpoint/2010/main" val="435767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F8E90A-BE1F-F814-C8AE-6BED7184AB2B}"/>
              </a:ext>
            </a:extLst>
          </p:cNvPr>
          <p:cNvPicPr>
            <a:picLocks noChangeAspect="1"/>
          </p:cNvPicPr>
          <p:nvPr/>
        </p:nvPicPr>
        <p:blipFill>
          <a:blip r:embed="rId2"/>
          <a:stretch>
            <a:fillRect/>
          </a:stretch>
        </p:blipFill>
        <p:spPr>
          <a:xfrm>
            <a:off x="1012367" y="1338018"/>
            <a:ext cx="10167267" cy="5205429"/>
          </a:xfrm>
          <a:prstGeom prst="rect">
            <a:avLst/>
          </a:prstGeom>
        </p:spPr>
      </p:pic>
      <p:sp>
        <p:nvSpPr>
          <p:cNvPr id="2" name="Title 1">
            <a:extLst>
              <a:ext uri="{FF2B5EF4-FFF2-40B4-BE49-F238E27FC236}">
                <a16:creationId xmlns:a16="http://schemas.microsoft.com/office/drawing/2014/main" id="{87D176AF-662B-6ACD-6626-66C79D910F5D}"/>
              </a:ext>
            </a:extLst>
          </p:cNvPr>
          <p:cNvSpPr txBox="1">
            <a:spLocks/>
          </p:cNvSpPr>
          <p:nvPr/>
        </p:nvSpPr>
        <p:spPr>
          <a:xfrm>
            <a:off x="823913" y="503854"/>
            <a:ext cx="10544175" cy="682690"/>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fr-FR" dirty="0">
                <a:latin typeface="Garamond" panose="02020404030301010803" pitchFamily="18" charset="0"/>
              </a:rPr>
              <a:t>Musts, </a:t>
            </a:r>
            <a:r>
              <a:rPr lang="fr-FR" dirty="0" err="1">
                <a:latin typeface="Garamond" panose="02020404030301010803" pitchFamily="18" charset="0"/>
              </a:rPr>
              <a:t>Satisfiers</a:t>
            </a:r>
            <a:r>
              <a:rPr lang="fr-FR" dirty="0">
                <a:latin typeface="Garamond" panose="02020404030301010803" pitchFamily="18" charset="0"/>
              </a:rPr>
              <a:t>, and </a:t>
            </a:r>
            <a:r>
              <a:rPr lang="fr-FR" dirty="0" err="1">
                <a:latin typeface="Garamond" panose="02020404030301010803" pitchFamily="18" charset="0"/>
              </a:rPr>
              <a:t>Delights</a:t>
            </a:r>
            <a:endParaRPr lang="en-US" dirty="0">
              <a:latin typeface="Garamond" panose="02020404030301010803" pitchFamily="18" charset="0"/>
            </a:endParaRPr>
          </a:p>
        </p:txBody>
      </p:sp>
    </p:spTree>
    <p:extLst>
      <p:ext uri="{BB962C8B-B14F-4D97-AF65-F5344CB8AC3E}">
        <p14:creationId xmlns:p14="http://schemas.microsoft.com/office/powerpoint/2010/main" val="1747610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1B9C-8868-84B5-4F95-5DE149D6C6EC}"/>
              </a:ext>
            </a:extLst>
          </p:cNvPr>
          <p:cNvSpPr>
            <a:spLocks noGrp="1"/>
          </p:cNvSpPr>
          <p:nvPr>
            <p:ph type="title"/>
          </p:nvPr>
        </p:nvSpPr>
        <p:spPr/>
        <p:txBody>
          <a:bodyPr>
            <a:normAutofit/>
          </a:bodyPr>
          <a:lstStyle/>
          <a:p>
            <a:r>
              <a:rPr lang="en-US" sz="4000" dirty="0">
                <a:latin typeface="Garamond" panose="02020404030301010803" pitchFamily="18" charset="0"/>
              </a:rPr>
              <a:t>Customer Delight</a:t>
            </a:r>
          </a:p>
        </p:txBody>
      </p:sp>
      <p:sp>
        <p:nvSpPr>
          <p:cNvPr id="3" name="Text Placeholder 2">
            <a:extLst>
              <a:ext uri="{FF2B5EF4-FFF2-40B4-BE49-F238E27FC236}">
                <a16:creationId xmlns:a16="http://schemas.microsoft.com/office/drawing/2014/main" id="{1DA5BA38-BDF2-9021-4B0B-810475FACF38}"/>
              </a:ext>
            </a:extLst>
          </p:cNvPr>
          <p:cNvSpPr>
            <a:spLocks noGrp="1"/>
          </p:cNvSpPr>
          <p:nvPr>
            <p:ph type="body" idx="1"/>
          </p:nvPr>
        </p:nvSpPr>
        <p:spPr/>
        <p:txBody>
          <a:bodyPr>
            <a:normAutofit/>
          </a:bodyPr>
          <a:lstStyle/>
          <a:p>
            <a:endParaRPr lang="en-US" sz="2400" dirty="0">
              <a:latin typeface="Garamond" panose="02020404030301010803" pitchFamily="18" charset="0"/>
            </a:endParaRPr>
          </a:p>
        </p:txBody>
      </p:sp>
    </p:spTree>
    <p:extLst>
      <p:ext uri="{BB962C8B-B14F-4D97-AF65-F5344CB8AC3E}">
        <p14:creationId xmlns:p14="http://schemas.microsoft.com/office/powerpoint/2010/main" val="778545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1F7E-95C9-6408-A729-A9BDE7D61D49}"/>
              </a:ext>
            </a:extLst>
          </p:cNvPr>
          <p:cNvSpPr>
            <a:spLocks noGrp="1"/>
          </p:cNvSpPr>
          <p:nvPr>
            <p:ph type="title"/>
          </p:nvPr>
        </p:nvSpPr>
        <p:spPr>
          <a:xfrm>
            <a:off x="823913" y="503854"/>
            <a:ext cx="10544175" cy="682690"/>
          </a:xfrm>
        </p:spPr>
        <p:txBody>
          <a:bodyPr>
            <a:normAutofit/>
          </a:bodyPr>
          <a:lstStyle/>
          <a:p>
            <a:pPr algn="ctr"/>
            <a:r>
              <a:rPr lang="fr-FR" dirty="0">
                <a:latin typeface="Garamond" panose="02020404030301010803" pitchFamily="18" charset="0"/>
              </a:rPr>
              <a:t>Customer </a:t>
            </a:r>
            <a:r>
              <a:rPr lang="fr-FR" dirty="0" err="1">
                <a:latin typeface="Garamond" panose="02020404030301010803" pitchFamily="18" charset="0"/>
              </a:rPr>
              <a:t>Delight</a:t>
            </a:r>
            <a:endParaRPr lang="en-US" dirty="0">
              <a:latin typeface="Garamond" panose="02020404030301010803" pitchFamily="18" charset="0"/>
            </a:endParaRPr>
          </a:p>
        </p:txBody>
      </p:sp>
      <p:sp>
        <p:nvSpPr>
          <p:cNvPr id="11" name="Content Placeholder 10">
            <a:extLst>
              <a:ext uri="{FF2B5EF4-FFF2-40B4-BE49-F238E27FC236}">
                <a16:creationId xmlns:a16="http://schemas.microsoft.com/office/drawing/2014/main" id="{0CDFBFD5-4903-52F7-D7F8-DC7EB598EEC0}"/>
              </a:ext>
            </a:extLst>
          </p:cNvPr>
          <p:cNvSpPr>
            <a:spLocks noGrp="1"/>
          </p:cNvSpPr>
          <p:nvPr>
            <p:ph idx="1"/>
          </p:nvPr>
        </p:nvSpPr>
        <p:spPr>
          <a:xfrm>
            <a:off x="842211" y="1503947"/>
            <a:ext cx="5006139" cy="4249153"/>
          </a:xfrm>
        </p:spPr>
        <p:txBody>
          <a:bodyPr>
            <a:noAutofit/>
          </a:bodyPr>
          <a:lstStyle/>
          <a:p>
            <a:r>
              <a:rPr lang="en-US" sz="2800" dirty="0">
                <a:latin typeface="Garamond" panose="02020404030301010803" pitchFamily="18" charset="0"/>
              </a:rPr>
              <a:t>This occurs when service is </a:t>
            </a:r>
            <a:r>
              <a:rPr lang="en-US" sz="2800" b="1" dirty="0">
                <a:latin typeface="Garamond" panose="02020404030301010803" pitchFamily="18" charset="0"/>
              </a:rPr>
              <a:t>unexpected, random, extraordinary, and disproportionately positive. </a:t>
            </a:r>
          </a:p>
          <a:p>
            <a:r>
              <a:rPr lang="en-US" sz="2800" dirty="0">
                <a:latin typeface="Garamond" panose="02020404030301010803" pitchFamily="18" charset="0"/>
              </a:rPr>
              <a:t>The basic premise of ‘customer delight’ is that firms should go above and beyond to delight their customers by exceeding expectations. </a:t>
            </a:r>
          </a:p>
        </p:txBody>
      </p:sp>
      <p:pic>
        <p:nvPicPr>
          <p:cNvPr id="4098" name="Picture 2" descr="What is Customer Delight? The Ultimate Guide">
            <a:extLst>
              <a:ext uri="{FF2B5EF4-FFF2-40B4-BE49-F238E27FC236}">
                <a16:creationId xmlns:a16="http://schemas.microsoft.com/office/drawing/2014/main" id="{8B7E38B6-2C99-38C9-1520-185CEB8952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77" r="16677"/>
          <a:stretch/>
        </p:blipFill>
        <p:spPr bwMode="auto">
          <a:xfrm>
            <a:off x="6772274" y="1503947"/>
            <a:ext cx="4371975" cy="437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131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94328-AD7E-731C-B090-57E65B655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5E2A6-F793-DFE1-1E2C-5B7466DABFA6}"/>
              </a:ext>
            </a:extLst>
          </p:cNvPr>
          <p:cNvSpPr>
            <a:spLocks noGrp="1"/>
          </p:cNvSpPr>
          <p:nvPr>
            <p:ph type="title"/>
          </p:nvPr>
        </p:nvSpPr>
        <p:spPr/>
        <p:txBody>
          <a:bodyPr>
            <a:normAutofit/>
          </a:bodyPr>
          <a:lstStyle/>
          <a:p>
            <a:r>
              <a:rPr lang="en-US" sz="4000" dirty="0">
                <a:latin typeface="Garamond" panose="02020404030301010803" pitchFamily="18" charset="0"/>
              </a:rPr>
              <a:t>What is the issue with customer delight?</a:t>
            </a:r>
          </a:p>
        </p:txBody>
      </p:sp>
      <p:sp>
        <p:nvSpPr>
          <p:cNvPr id="5" name="Text Placeholder 4">
            <a:extLst>
              <a:ext uri="{FF2B5EF4-FFF2-40B4-BE49-F238E27FC236}">
                <a16:creationId xmlns:a16="http://schemas.microsoft.com/office/drawing/2014/main" id="{554FBE85-2AC8-D456-A7F5-1C431A0989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505357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diamondgrid theme</Template>
  <TotalTime>3164</TotalTime>
  <Words>1385</Words>
  <Application>Microsoft Macintosh PowerPoint</Application>
  <PresentationFormat>Widescreen</PresentationFormat>
  <Paragraphs>101</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Garamond</vt:lpstr>
      <vt:lpstr>diamondgrid theme</vt:lpstr>
      <vt:lpstr>PowerPoint Presentation</vt:lpstr>
      <vt:lpstr>Chapter Objectives</vt:lpstr>
      <vt:lpstr>Customer expectations are beliefs about service delivery that serve as standards or reference points against which performance is judged.</vt:lpstr>
      <vt:lpstr>Technological Evolution and Shifting Expectations</vt:lpstr>
      <vt:lpstr>Competitive Landscape and Inter-Industry Influence</vt:lpstr>
      <vt:lpstr>2 Types of Customer Expectations</vt:lpstr>
      <vt:lpstr>Desired Service</vt:lpstr>
      <vt:lpstr>Adequate Service</vt:lpstr>
      <vt:lpstr>The Zone of Tolerance</vt:lpstr>
      <vt:lpstr>Do we live in a zone of tolerance?</vt:lpstr>
      <vt:lpstr>Sources of All Service Expectations</vt:lpstr>
      <vt:lpstr>Sources of Desired Service</vt:lpstr>
      <vt:lpstr>Sources of Adequate Service</vt:lpstr>
      <vt:lpstr>Sources of Both Desired &amp; Predicted Service</vt:lpstr>
      <vt:lpstr>What does a service marketer or manager do if customer expectations are unrealistic?</vt:lpstr>
      <vt:lpstr>PowerPoint Presentation</vt:lpstr>
      <vt:lpstr>Customer Delight</vt:lpstr>
      <vt:lpstr>Customer Delight</vt:lpstr>
      <vt:lpstr>What is the issue with customer delight?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 Anh Nu Ton</dc:creator>
  <cp:lastModifiedBy>Sakshi Sanjay Babar</cp:lastModifiedBy>
  <cp:revision>177</cp:revision>
  <dcterms:created xsi:type="dcterms:W3CDTF">2021-01-26T21:27:35Z</dcterms:created>
  <dcterms:modified xsi:type="dcterms:W3CDTF">2025-01-17T15:10:21Z</dcterms:modified>
</cp:coreProperties>
</file>