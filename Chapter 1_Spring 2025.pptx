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notesMasterIdLst>
    <p:notesMasterId r:id="rId33"/>
  </p:notesMasterIdLst>
  <p:sldIdLst>
    <p:sldId id="256" r:id="rId2"/>
    <p:sldId id="257" r:id="rId3"/>
    <p:sldId id="353" r:id="rId4"/>
    <p:sldId id="347" r:id="rId5"/>
    <p:sldId id="259" r:id="rId6"/>
    <p:sldId id="328" r:id="rId7"/>
    <p:sldId id="329" r:id="rId8"/>
    <p:sldId id="330" r:id="rId9"/>
    <p:sldId id="349" r:id="rId10"/>
    <p:sldId id="348" r:id="rId11"/>
    <p:sldId id="350" r:id="rId12"/>
    <p:sldId id="351" r:id="rId13"/>
    <p:sldId id="331" r:id="rId14"/>
    <p:sldId id="354" r:id="rId15"/>
    <p:sldId id="332" r:id="rId16"/>
    <p:sldId id="355" r:id="rId17"/>
    <p:sldId id="333" r:id="rId18"/>
    <p:sldId id="346" r:id="rId19"/>
    <p:sldId id="335" r:id="rId20"/>
    <p:sldId id="356" r:id="rId21"/>
    <p:sldId id="334" r:id="rId22"/>
    <p:sldId id="317" r:id="rId23"/>
    <p:sldId id="336" r:id="rId24"/>
    <p:sldId id="341" r:id="rId25"/>
    <p:sldId id="340" r:id="rId26"/>
    <p:sldId id="342" r:id="rId27"/>
    <p:sldId id="322" r:id="rId28"/>
    <p:sldId id="337" r:id="rId29"/>
    <p:sldId id="338" r:id="rId30"/>
    <p:sldId id="343" r:id="rId31"/>
    <p:sldId id="34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395"/>
    <a:srgbClr val="3F6384"/>
    <a:srgbClr val="FFFFFF"/>
    <a:srgbClr val="820002"/>
    <a:srgbClr val="800000"/>
    <a:srgbClr val="7F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69"/>
    <p:restoredTop sz="87590" autoAdjust="0"/>
  </p:normalViewPr>
  <p:slideViewPr>
    <p:cSldViewPr snapToObjects="1">
      <p:cViewPr varScale="1">
        <p:scale>
          <a:sx n="105" d="100"/>
          <a:sy n="105" d="100"/>
        </p:scale>
        <p:origin x="760" y="19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A7E859-2926-204F-9B62-AE2BD49BE742}"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955AC-BBE9-A144-BEA0-0A44958C1A85}" type="slidenum">
              <a:rPr lang="en-US" smtClean="0"/>
              <a:t>‹#›</a:t>
            </a:fld>
            <a:endParaRPr lang="en-US"/>
          </a:p>
        </p:txBody>
      </p:sp>
    </p:spTree>
    <p:extLst>
      <p:ext uri="{BB962C8B-B14F-4D97-AF65-F5344CB8AC3E}">
        <p14:creationId xmlns:p14="http://schemas.microsoft.com/office/powerpoint/2010/main" val="2958189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a:t>
            </a:fld>
            <a:endParaRPr lang="en-US"/>
          </a:p>
        </p:txBody>
      </p:sp>
    </p:spTree>
    <p:extLst>
      <p:ext uri="{BB962C8B-B14F-4D97-AF65-F5344CB8AC3E}">
        <p14:creationId xmlns:p14="http://schemas.microsoft.com/office/powerpoint/2010/main" val="379915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a:t>
            </a:fld>
            <a:endParaRPr lang="en-US"/>
          </a:p>
        </p:txBody>
      </p:sp>
    </p:spTree>
    <p:extLst>
      <p:ext uri="{BB962C8B-B14F-4D97-AF65-F5344CB8AC3E}">
        <p14:creationId xmlns:p14="http://schemas.microsoft.com/office/powerpoint/2010/main" val="3889025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8</a:t>
            </a:fld>
            <a:endParaRPr lang="en-US"/>
          </a:p>
        </p:txBody>
      </p:sp>
    </p:spTree>
    <p:extLst>
      <p:ext uri="{BB962C8B-B14F-4D97-AF65-F5344CB8AC3E}">
        <p14:creationId xmlns:p14="http://schemas.microsoft.com/office/powerpoint/2010/main" val="2545542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6B14-5E44-51CF-D978-F1E67F049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2FB4A-245F-3A63-BDE9-DA0A8F523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C8229-9CBC-C528-B3AC-887E583D8C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A2761C-CD2C-94E0-7B69-C03DAEFE3241}"/>
              </a:ext>
            </a:extLst>
          </p:cNvPr>
          <p:cNvSpPr>
            <a:spLocks noGrp="1"/>
          </p:cNvSpPr>
          <p:nvPr>
            <p:ph type="sldNum" sz="quarter" idx="5"/>
          </p:nvPr>
        </p:nvSpPr>
        <p:spPr/>
        <p:txBody>
          <a:bodyPr/>
          <a:lstStyle/>
          <a:p>
            <a:fld id="{1FA955AC-BBE9-A144-BEA0-0A44958C1A85}" type="slidenum">
              <a:rPr lang="en-US" smtClean="0"/>
              <a:t>10</a:t>
            </a:fld>
            <a:endParaRPr lang="en-US"/>
          </a:p>
        </p:txBody>
      </p:sp>
    </p:spTree>
    <p:extLst>
      <p:ext uri="{BB962C8B-B14F-4D97-AF65-F5344CB8AC3E}">
        <p14:creationId xmlns:p14="http://schemas.microsoft.com/office/powerpoint/2010/main" val="1866673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AA9D2-96DE-B530-6DCE-ADEAA0973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212BD-1CDD-34E3-0404-AA43BC87C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56F24-EF61-B535-4CC8-2C4A755FF2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96BE6D-A9AA-B1C3-4591-AD9F851F6C19}"/>
              </a:ext>
            </a:extLst>
          </p:cNvPr>
          <p:cNvSpPr>
            <a:spLocks noGrp="1"/>
          </p:cNvSpPr>
          <p:nvPr>
            <p:ph type="sldNum" sz="quarter" idx="5"/>
          </p:nvPr>
        </p:nvSpPr>
        <p:spPr/>
        <p:txBody>
          <a:bodyPr/>
          <a:lstStyle/>
          <a:p>
            <a:fld id="{1FA955AC-BBE9-A144-BEA0-0A44958C1A85}" type="slidenum">
              <a:rPr lang="en-US" smtClean="0"/>
              <a:t>11</a:t>
            </a:fld>
            <a:endParaRPr lang="en-US"/>
          </a:p>
        </p:txBody>
      </p:sp>
    </p:spTree>
    <p:extLst>
      <p:ext uri="{BB962C8B-B14F-4D97-AF65-F5344CB8AC3E}">
        <p14:creationId xmlns:p14="http://schemas.microsoft.com/office/powerpoint/2010/main" val="2332033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13</a:t>
            </a:fld>
            <a:endParaRPr lang="en-US"/>
          </a:p>
        </p:txBody>
      </p:sp>
    </p:spTree>
    <p:extLst>
      <p:ext uri="{BB962C8B-B14F-4D97-AF65-F5344CB8AC3E}">
        <p14:creationId xmlns:p14="http://schemas.microsoft.com/office/powerpoint/2010/main" val="4217176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8021-62FA-C1A0-A867-B98028680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78B52-D632-2728-BD03-A8A905F42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BCEC9-DAA7-C5CB-985B-C92E68C732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05AF8A-9AA3-4C67-60B4-ACD4D11AE207}"/>
              </a:ext>
            </a:extLst>
          </p:cNvPr>
          <p:cNvSpPr>
            <a:spLocks noGrp="1"/>
          </p:cNvSpPr>
          <p:nvPr>
            <p:ph type="sldNum" sz="quarter" idx="5"/>
          </p:nvPr>
        </p:nvSpPr>
        <p:spPr/>
        <p:txBody>
          <a:bodyPr/>
          <a:lstStyle/>
          <a:p>
            <a:fld id="{1FA955AC-BBE9-A144-BEA0-0A44958C1A85}" type="slidenum">
              <a:rPr lang="en-US" smtClean="0"/>
              <a:t>14</a:t>
            </a:fld>
            <a:endParaRPr lang="en-US"/>
          </a:p>
        </p:txBody>
      </p:sp>
    </p:spTree>
    <p:extLst>
      <p:ext uri="{BB962C8B-B14F-4D97-AF65-F5344CB8AC3E}">
        <p14:creationId xmlns:p14="http://schemas.microsoft.com/office/powerpoint/2010/main" val="2252946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do we mean by intangibility? Few products are purely tangible or totally tangible, instead many fall along the spectrum. For example, the fast-food industry, while classified as a service, also has many tangible components such as the good, the packaging and so on. </a:t>
            </a:r>
          </a:p>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15</a:t>
            </a:fld>
            <a:endParaRPr lang="en-US"/>
          </a:p>
        </p:txBody>
      </p:sp>
    </p:spTree>
    <p:extLst>
      <p:ext uri="{BB962C8B-B14F-4D97-AF65-F5344CB8AC3E}">
        <p14:creationId xmlns:p14="http://schemas.microsoft.com/office/powerpoint/2010/main" val="820089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14470-3C19-9BC3-144F-DF93923E8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4AB61-9EC2-A560-9DB8-111286743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3200B-E64E-6880-E5B9-54136B30B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3DE86D-34B7-4AA8-DE2E-44B68840E563}"/>
              </a:ext>
            </a:extLst>
          </p:cNvPr>
          <p:cNvSpPr>
            <a:spLocks noGrp="1"/>
          </p:cNvSpPr>
          <p:nvPr>
            <p:ph type="sldNum" sz="quarter" idx="5"/>
          </p:nvPr>
        </p:nvSpPr>
        <p:spPr/>
        <p:txBody>
          <a:bodyPr/>
          <a:lstStyle/>
          <a:p>
            <a:fld id="{1FA955AC-BBE9-A144-BEA0-0A44958C1A85}" type="slidenum">
              <a:rPr lang="en-US" smtClean="0"/>
              <a:t>16</a:t>
            </a:fld>
            <a:endParaRPr lang="en-US"/>
          </a:p>
        </p:txBody>
      </p:sp>
    </p:spTree>
    <p:extLst>
      <p:ext uri="{BB962C8B-B14F-4D97-AF65-F5344CB8AC3E}">
        <p14:creationId xmlns:p14="http://schemas.microsoft.com/office/powerpoint/2010/main" val="1690668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two services (even by the same person at the same place) will be precisely alike. Similarly, no two customers are alike. People delivering the service may differ in the customer’s eyes. Heterogeneity is largely a result of human interaction. Delivering consistent quality is challenging.</a:t>
            </a:r>
          </a:p>
        </p:txBody>
      </p:sp>
      <p:sp>
        <p:nvSpPr>
          <p:cNvPr id="4" name="Slide Number Placeholder 3"/>
          <p:cNvSpPr>
            <a:spLocks noGrp="1"/>
          </p:cNvSpPr>
          <p:nvPr>
            <p:ph type="sldNum" sz="quarter" idx="5"/>
          </p:nvPr>
        </p:nvSpPr>
        <p:spPr/>
        <p:txBody>
          <a:bodyPr/>
          <a:lstStyle/>
          <a:p>
            <a:fld id="{1FA955AC-BBE9-A144-BEA0-0A44958C1A85}" type="slidenum">
              <a:rPr lang="en-US" smtClean="0"/>
              <a:t>17</a:t>
            </a:fld>
            <a:endParaRPr lang="en-US"/>
          </a:p>
        </p:txBody>
      </p:sp>
    </p:spTree>
    <p:extLst>
      <p:ext uri="{BB962C8B-B14F-4D97-AF65-F5344CB8AC3E}">
        <p14:creationId xmlns:p14="http://schemas.microsoft.com/office/powerpoint/2010/main" val="145007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18</a:t>
            </a:fld>
            <a:endParaRPr lang="en-US"/>
          </a:p>
        </p:txBody>
      </p:sp>
    </p:spTree>
    <p:extLst>
      <p:ext uri="{BB962C8B-B14F-4D97-AF65-F5344CB8AC3E}">
        <p14:creationId xmlns:p14="http://schemas.microsoft.com/office/powerpoint/2010/main" val="1679082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are present when service is being produced (dining, air travel etc.) taking part as co-creators of service. Customers may also interact with each other affecting their experience. </a:t>
            </a:r>
          </a:p>
        </p:txBody>
      </p:sp>
      <p:sp>
        <p:nvSpPr>
          <p:cNvPr id="4" name="Slide Number Placeholder 3"/>
          <p:cNvSpPr>
            <a:spLocks noGrp="1"/>
          </p:cNvSpPr>
          <p:nvPr>
            <p:ph type="sldNum" sz="quarter" idx="5"/>
          </p:nvPr>
        </p:nvSpPr>
        <p:spPr/>
        <p:txBody>
          <a:bodyPr/>
          <a:lstStyle/>
          <a:p>
            <a:fld id="{1FA955AC-BBE9-A144-BEA0-0A44958C1A85}" type="slidenum">
              <a:rPr lang="en-US" smtClean="0"/>
              <a:t>19</a:t>
            </a:fld>
            <a:endParaRPr lang="en-US"/>
          </a:p>
        </p:txBody>
      </p:sp>
    </p:spTree>
    <p:extLst>
      <p:ext uri="{BB962C8B-B14F-4D97-AF65-F5344CB8AC3E}">
        <p14:creationId xmlns:p14="http://schemas.microsoft.com/office/powerpoint/2010/main" val="1791168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0E55-9F0B-7D63-737A-85F3CF0A9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7BD56-1B85-1976-655D-1BFBD8FD9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FFD3B-C71B-C523-E355-3077C1B732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AE4DC-1336-F889-023A-67DF8F35E887}"/>
              </a:ext>
            </a:extLst>
          </p:cNvPr>
          <p:cNvSpPr>
            <a:spLocks noGrp="1"/>
          </p:cNvSpPr>
          <p:nvPr>
            <p:ph type="sldNum" sz="quarter" idx="5"/>
          </p:nvPr>
        </p:nvSpPr>
        <p:spPr/>
        <p:txBody>
          <a:bodyPr/>
          <a:lstStyle/>
          <a:p>
            <a:fld id="{1FA955AC-BBE9-A144-BEA0-0A44958C1A85}" type="slidenum">
              <a:rPr lang="en-US" smtClean="0"/>
              <a:t>20</a:t>
            </a:fld>
            <a:endParaRPr lang="en-US"/>
          </a:p>
        </p:txBody>
      </p:sp>
    </p:spTree>
    <p:extLst>
      <p:ext uri="{BB962C8B-B14F-4D97-AF65-F5344CB8AC3E}">
        <p14:creationId xmlns:p14="http://schemas.microsoft.com/office/powerpoint/2010/main" val="1795210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and demand forecasting is difficult. Requires marketers to have a strong recovery strategy in case things </a:t>
            </a:r>
            <a:r>
              <a:rPr lang="en-US"/>
              <a:t>go wrong.</a:t>
            </a:r>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21</a:t>
            </a:fld>
            <a:endParaRPr lang="en-US"/>
          </a:p>
        </p:txBody>
      </p:sp>
    </p:spTree>
    <p:extLst>
      <p:ext uri="{BB962C8B-B14F-4D97-AF65-F5344CB8AC3E}">
        <p14:creationId xmlns:p14="http://schemas.microsoft.com/office/powerpoint/2010/main" val="599695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services are intangible, customers are often looking for any tangible cue to help them understand the nature of the service experience.</a:t>
            </a:r>
          </a:p>
        </p:txBody>
      </p:sp>
      <p:sp>
        <p:nvSpPr>
          <p:cNvPr id="4" name="Slide Number Placeholder 3"/>
          <p:cNvSpPr>
            <a:spLocks noGrp="1"/>
          </p:cNvSpPr>
          <p:nvPr>
            <p:ph type="sldNum" sz="quarter" idx="5"/>
          </p:nvPr>
        </p:nvSpPr>
        <p:spPr/>
        <p:txBody>
          <a:bodyPr/>
          <a:lstStyle/>
          <a:p>
            <a:fld id="{1FA955AC-BBE9-A144-BEA0-0A44958C1A85}" type="slidenum">
              <a:rPr lang="en-US" smtClean="0"/>
              <a:t>22</a:t>
            </a:fld>
            <a:endParaRPr lang="en-US"/>
          </a:p>
        </p:txBody>
      </p:sp>
    </p:spTree>
    <p:extLst>
      <p:ext uri="{BB962C8B-B14F-4D97-AF65-F5344CB8AC3E}">
        <p14:creationId xmlns:p14="http://schemas.microsoft.com/office/powerpoint/2010/main" val="1177633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23</a:t>
            </a:fld>
            <a:endParaRPr lang="en-US"/>
          </a:p>
        </p:txBody>
      </p:sp>
    </p:spTree>
    <p:extLst>
      <p:ext uri="{BB962C8B-B14F-4D97-AF65-F5344CB8AC3E}">
        <p14:creationId xmlns:p14="http://schemas.microsoft.com/office/powerpoint/2010/main" val="3921749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24</a:t>
            </a:fld>
            <a:endParaRPr lang="en-US"/>
          </a:p>
        </p:txBody>
      </p:sp>
    </p:spTree>
    <p:extLst>
      <p:ext uri="{BB962C8B-B14F-4D97-AF65-F5344CB8AC3E}">
        <p14:creationId xmlns:p14="http://schemas.microsoft.com/office/powerpoint/2010/main" val="3662891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25</a:t>
            </a:fld>
            <a:endParaRPr lang="en-US"/>
          </a:p>
        </p:txBody>
      </p:sp>
    </p:spTree>
    <p:extLst>
      <p:ext uri="{BB962C8B-B14F-4D97-AF65-F5344CB8AC3E}">
        <p14:creationId xmlns:p14="http://schemas.microsoft.com/office/powerpoint/2010/main" val="2686542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26</a:t>
            </a:fld>
            <a:endParaRPr lang="en-US"/>
          </a:p>
        </p:txBody>
      </p:sp>
    </p:spTree>
    <p:extLst>
      <p:ext uri="{BB962C8B-B14F-4D97-AF65-F5344CB8AC3E}">
        <p14:creationId xmlns:p14="http://schemas.microsoft.com/office/powerpoint/2010/main" val="3070540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some services like consulting, counseling, teaching etc. the provider is the service. Customers can also influence service delivery, affecting service quality and their own satisfaction. Customers can also influence outcomes for other customers, e.g., in a theater.</a:t>
            </a:r>
          </a:p>
        </p:txBody>
      </p:sp>
      <p:sp>
        <p:nvSpPr>
          <p:cNvPr id="4" name="Slide Number Placeholder 3"/>
          <p:cNvSpPr>
            <a:spLocks noGrp="1"/>
          </p:cNvSpPr>
          <p:nvPr>
            <p:ph type="sldNum" sz="quarter" idx="5"/>
          </p:nvPr>
        </p:nvSpPr>
        <p:spPr/>
        <p:txBody>
          <a:bodyPr/>
          <a:lstStyle/>
          <a:p>
            <a:fld id="{1FA955AC-BBE9-A144-BEA0-0A44958C1A85}" type="slidenum">
              <a:rPr lang="en-US" smtClean="0"/>
              <a:t>27</a:t>
            </a:fld>
            <a:endParaRPr lang="en-US"/>
          </a:p>
        </p:txBody>
      </p:sp>
    </p:spTree>
    <p:extLst>
      <p:ext uri="{BB962C8B-B14F-4D97-AF65-F5344CB8AC3E}">
        <p14:creationId xmlns:p14="http://schemas.microsoft.com/office/powerpoint/2010/main" val="3330232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evidence: brochures, letterheads, signage, equipment, facility where service is offered</a:t>
            </a:r>
          </a:p>
          <a:p>
            <a:r>
              <a:rPr lang="en-US" dirty="0"/>
              <a:t>Virtual evidence: website, VR interfaces, mobile applications</a:t>
            </a:r>
          </a:p>
        </p:txBody>
      </p:sp>
      <p:sp>
        <p:nvSpPr>
          <p:cNvPr id="4" name="Slide Number Placeholder 3"/>
          <p:cNvSpPr>
            <a:spLocks noGrp="1"/>
          </p:cNvSpPr>
          <p:nvPr>
            <p:ph type="sldNum" sz="quarter" idx="5"/>
          </p:nvPr>
        </p:nvSpPr>
        <p:spPr/>
        <p:txBody>
          <a:bodyPr/>
          <a:lstStyle/>
          <a:p>
            <a:fld id="{1FA955AC-BBE9-A144-BEA0-0A44958C1A85}" type="slidenum">
              <a:rPr lang="en-US" smtClean="0"/>
              <a:t>28</a:t>
            </a:fld>
            <a:endParaRPr lang="en-US"/>
          </a:p>
        </p:txBody>
      </p:sp>
    </p:spTree>
    <p:extLst>
      <p:ext uri="{BB962C8B-B14F-4D97-AF65-F5344CB8AC3E}">
        <p14:creationId xmlns:p14="http://schemas.microsoft.com/office/powerpoint/2010/main" val="132344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29</a:t>
            </a:fld>
            <a:endParaRPr lang="en-US"/>
          </a:p>
        </p:txBody>
      </p:sp>
    </p:spTree>
    <p:extLst>
      <p:ext uri="{BB962C8B-B14F-4D97-AF65-F5344CB8AC3E}">
        <p14:creationId xmlns:p14="http://schemas.microsoft.com/office/powerpoint/2010/main" val="3274761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30</a:t>
            </a:fld>
            <a:endParaRPr lang="en-US"/>
          </a:p>
        </p:txBody>
      </p:sp>
    </p:spTree>
    <p:extLst>
      <p:ext uri="{BB962C8B-B14F-4D97-AF65-F5344CB8AC3E}">
        <p14:creationId xmlns:p14="http://schemas.microsoft.com/office/powerpoint/2010/main" val="3866372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31</a:t>
            </a:fld>
            <a:endParaRPr lang="en-US"/>
          </a:p>
        </p:txBody>
      </p:sp>
    </p:spTree>
    <p:extLst>
      <p:ext uri="{BB962C8B-B14F-4D97-AF65-F5344CB8AC3E}">
        <p14:creationId xmlns:p14="http://schemas.microsoft.com/office/powerpoint/2010/main" val="2517151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46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19910A9-B215-E645-BE0C-450C62DB1E8F}" type="datetimeFigureOut">
              <a:rPr lang="en-US" smtClean="0"/>
              <a:t>1/13/25</a:t>
            </a:fld>
            <a:endParaRPr lang="en-US"/>
          </a:p>
        </p:txBody>
      </p:sp>
      <p:sp>
        <p:nvSpPr>
          <p:cNvPr id="6" name="Slide Number Placeholder 5"/>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138730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8137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719910A9-B215-E645-BE0C-450C62DB1E8F}" type="datetimeFigureOut">
              <a:rPr lang="en-US" smtClean="0"/>
              <a:t>1/13/25</a:t>
            </a:fld>
            <a:endParaRPr lang="en-US"/>
          </a:p>
        </p:txBody>
      </p:sp>
      <p:sp>
        <p:nvSpPr>
          <p:cNvPr id="7" name="Slide Number Placeholder 6"/>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33508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719910A9-B215-E645-BE0C-450C62DB1E8F}" type="datetimeFigureOut">
              <a:rPr lang="en-US" smtClean="0"/>
              <a:t>1/13/25</a:t>
            </a:fld>
            <a:endParaRPr lang="en-US"/>
          </a:p>
        </p:txBody>
      </p:sp>
      <p:sp>
        <p:nvSpPr>
          <p:cNvPr id="9" name="Slide Number Placeholder 8"/>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266344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719910A9-B215-E645-BE0C-450C62DB1E8F}" type="datetimeFigureOut">
              <a:rPr lang="en-US" smtClean="0"/>
              <a:t>1/13/25</a:t>
            </a:fld>
            <a:endParaRPr lang="en-US"/>
          </a:p>
        </p:txBody>
      </p:sp>
      <p:sp>
        <p:nvSpPr>
          <p:cNvPr id="5" name="Slide Number Placeholder 4"/>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11415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a:p>
        </p:txBody>
      </p:sp>
      <p:sp>
        <p:nvSpPr>
          <p:cNvPr id="212" name="Date Placeholder 211"/>
          <p:cNvSpPr>
            <a:spLocks noGrp="1"/>
          </p:cNvSpPr>
          <p:nvPr>
            <p:ph type="dt" sz="half" idx="10"/>
          </p:nvPr>
        </p:nvSpPr>
        <p:spPr/>
        <p:txBody>
          <a:bodyPr/>
          <a:lstStyle/>
          <a:p>
            <a:fld id="{719910A9-B215-E645-BE0C-450C62DB1E8F}" type="datetimeFigureOut">
              <a:rPr lang="en-US" smtClean="0"/>
              <a:t>1/13/25</a:t>
            </a:fld>
            <a:endParaRPr lang="en-US"/>
          </a:p>
        </p:txBody>
      </p:sp>
      <p:sp>
        <p:nvSpPr>
          <p:cNvPr id="214" name="Slide Number Placeholder 213"/>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300544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lvl1pPr>
              <a:defRPr>
                <a:solidFill>
                  <a:schemeClr val="bg1"/>
                </a:solidFill>
              </a:defRPr>
            </a:lvl1pPr>
          </a:lstStyle>
          <a:p>
            <a:fld id="{719910A9-B215-E645-BE0C-450C62DB1E8F}" type="datetimeFigureOut">
              <a:rPr lang="en-US" smtClean="0"/>
              <a:t>1/13/25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7DD6029A-A0C6-FE42-824F-60B71B69FA5C}" type="slidenum">
              <a:rPr lang="en-US" smtClean="0"/>
              <a:t>‹#›</a:t>
            </a:fld>
            <a:endParaRPr lang="en-US"/>
          </a:p>
        </p:txBody>
      </p:sp>
    </p:spTree>
    <p:extLst>
      <p:ext uri="{BB962C8B-B14F-4D97-AF65-F5344CB8AC3E}">
        <p14:creationId xmlns:p14="http://schemas.microsoft.com/office/powerpoint/2010/main" val="360265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26841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19910A9-B215-E645-BE0C-450C62DB1E8F}" type="datetimeFigureOut">
              <a:rPr lang="en-US" smtClean="0"/>
              <a:t>1/13/25</a:t>
            </a:fld>
            <a:endParaRPr lang="en-US"/>
          </a:p>
        </p:txBody>
      </p:sp>
      <p:sp>
        <p:nvSpPr>
          <p:cNvPr id="6" name="Slide Number Placeholder 5"/>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284221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19910A9-B215-E645-BE0C-450C62DB1E8F}" type="datetimeFigureOut">
              <a:rPr lang="en-US" smtClean="0"/>
              <a:t>1/13/25</a:t>
            </a:fld>
            <a:endParaRPr lang="en-US"/>
          </a:p>
        </p:txBody>
      </p:sp>
      <p:sp>
        <p:nvSpPr>
          <p:cNvPr id="6" name="Slide Number Placeholder 5"/>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174372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19910A9-B215-E645-BE0C-450C62DB1E8F}" type="datetimeFigureOut">
              <a:rPr lang="en-US" smtClean="0"/>
              <a:t>1/13/25</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DD6029A-A0C6-FE42-824F-60B71B69FA5C}" type="slidenum">
              <a:rPr lang="en-US" smtClean="0"/>
              <a:t>‹#›</a:t>
            </a:fld>
            <a:endParaRPr lang="en-US"/>
          </a:p>
        </p:txBody>
      </p:sp>
    </p:spTree>
    <p:extLst>
      <p:ext uri="{BB962C8B-B14F-4D97-AF65-F5344CB8AC3E}">
        <p14:creationId xmlns:p14="http://schemas.microsoft.com/office/powerpoint/2010/main" val="3812005260"/>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gif"/><Relationship Id="rId4" Type="http://schemas.openxmlformats.org/officeDocument/2006/relationships/image" Target="../media/image13.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EE006-398F-E147-9CF2-66454FD34446}"/>
              </a:ext>
            </a:extLst>
          </p:cNvPr>
          <p:cNvSpPr txBox="1"/>
          <p:nvPr/>
        </p:nvSpPr>
        <p:spPr>
          <a:xfrm>
            <a:off x="0" y="2129587"/>
            <a:ext cx="12192000" cy="1969770"/>
          </a:xfrm>
          <a:prstGeom prst="rect">
            <a:avLst/>
          </a:prstGeom>
          <a:noFill/>
        </p:spPr>
        <p:txBody>
          <a:bodyPr wrap="square" rtlCol="0">
            <a:spAutoFit/>
          </a:bodyPr>
          <a:lstStyle/>
          <a:p>
            <a:pPr algn="ctr"/>
            <a:r>
              <a:rPr lang="en-US" sz="4400" b="1" dirty="0">
                <a:solidFill>
                  <a:srgbClr val="0B5395"/>
                </a:solidFill>
                <a:latin typeface="Garamond" panose="02020404030301010803" pitchFamily="18" charset="0"/>
              </a:rPr>
              <a:t>CHAPTER 1</a:t>
            </a:r>
          </a:p>
          <a:p>
            <a:pPr algn="ctr"/>
            <a:endParaRPr lang="en-US" sz="4000" dirty="0">
              <a:solidFill>
                <a:srgbClr val="820002"/>
              </a:solidFill>
              <a:latin typeface="Garamond" panose="02020404030301010803" pitchFamily="18" charset="0"/>
            </a:endParaRPr>
          </a:p>
          <a:p>
            <a:pPr algn="ctr"/>
            <a:r>
              <a:rPr lang="en-US" sz="3800" dirty="0">
                <a:latin typeface="Garamond" panose="02020404030301010803" pitchFamily="18" charset="0"/>
              </a:rPr>
              <a:t>Introduction to Services</a:t>
            </a:r>
          </a:p>
        </p:txBody>
      </p:sp>
    </p:spTree>
    <p:extLst>
      <p:ext uri="{BB962C8B-B14F-4D97-AF65-F5344CB8AC3E}">
        <p14:creationId xmlns:p14="http://schemas.microsoft.com/office/powerpoint/2010/main" val="35884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lstStyle/>
          <a:p>
            <a:pPr algn="ctr"/>
            <a:r>
              <a:rPr lang="en-US" altLang="en-US" b="1" dirty="0">
                <a:solidFill>
                  <a:srgbClr val="0B5395"/>
                </a:solidFill>
                <a:latin typeface="Garamond" panose="02020404030301010803" pitchFamily="18" charset="0"/>
              </a:rPr>
              <a:t>Chapter Overview</a:t>
            </a:r>
          </a:p>
        </p:txBody>
      </p:sp>
      <p:sp>
        <p:nvSpPr>
          <p:cNvPr id="5" name="Content Placeholder 2">
            <a:extLst>
              <a:ext uri="{FF2B5EF4-FFF2-40B4-BE49-F238E27FC236}">
                <a16:creationId xmlns:a16="http://schemas.microsoft.com/office/drawing/2014/main" id="{D1724647-207F-1346-BC45-932603259DBD}"/>
              </a:ext>
            </a:extLst>
          </p:cNvPr>
          <p:cNvSpPr>
            <a:spLocks noGrp="1"/>
          </p:cNvSpPr>
          <p:nvPr>
            <p:ph idx="1"/>
          </p:nvPr>
        </p:nvSpPr>
        <p:spPr>
          <a:xfrm>
            <a:off x="1023445" y="1744579"/>
            <a:ext cx="10145110" cy="4152354"/>
          </a:xfrm>
        </p:spPr>
        <p:txBody>
          <a:bodyPr>
            <a:noAutofit/>
          </a:bodyPr>
          <a:lstStyle/>
          <a:p>
            <a:pPr marL="457200" indent="-457200">
              <a:lnSpc>
                <a:spcPct val="100000"/>
              </a:lnSpc>
              <a:spcBef>
                <a:spcPts val="1800"/>
              </a:spcBef>
              <a:buFont typeface="+mj-lt"/>
              <a:buAutoNum type="arabicPeriod"/>
            </a:pPr>
            <a:r>
              <a:rPr lang="en-US" altLang="en-US" sz="2500" dirty="0">
                <a:latin typeface="Garamond" panose="02020404030301010803" pitchFamily="18" charset="0"/>
              </a:rPr>
              <a:t>What services are and important trends.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Explain the need for special service marketing concepts and practices (and why this need is accelerating). </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Explore the profound impact of technology on service.</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Outline the basic differences between goods and services – and the resulting challenges and opportunities for service businesses.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Introduce the expanded marketing mix for services.</a:t>
            </a:r>
          </a:p>
        </p:txBody>
      </p:sp>
    </p:spTree>
    <p:extLst>
      <p:ext uri="{BB962C8B-B14F-4D97-AF65-F5344CB8AC3E}">
        <p14:creationId xmlns:p14="http://schemas.microsoft.com/office/powerpoint/2010/main" val="72505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FC246-C67C-4ABF-304C-A5CED8E1267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81C1A7A-F867-7052-68BB-B53EB24AF5CD}"/>
              </a:ext>
            </a:extLst>
          </p:cNvPr>
          <p:cNvSpPr>
            <a:spLocks noGrp="1"/>
          </p:cNvSpPr>
          <p:nvPr>
            <p:ph type="title"/>
          </p:nvPr>
        </p:nvSpPr>
        <p:spPr>
          <a:xfrm>
            <a:off x="491613" y="503854"/>
            <a:ext cx="10404987" cy="723368"/>
          </a:xfrm>
        </p:spPr>
        <p:txBody>
          <a:bodyPr anchor="b">
            <a:normAutofit/>
          </a:bodyPr>
          <a:lstStyle/>
          <a:p>
            <a:r>
              <a:rPr lang="en-US" altLang="en-US" sz="3600" dirty="0">
                <a:solidFill>
                  <a:srgbClr val="0B5395"/>
                </a:solidFill>
                <a:latin typeface="Garamond" panose="02020404030301010803" pitchFamily="18" charset="0"/>
              </a:rPr>
              <a:t>Defining Services</a:t>
            </a:r>
          </a:p>
        </p:txBody>
      </p:sp>
      <p:sp>
        <p:nvSpPr>
          <p:cNvPr id="3" name="Content Placeholder 2">
            <a:extLst>
              <a:ext uri="{FF2B5EF4-FFF2-40B4-BE49-F238E27FC236}">
                <a16:creationId xmlns:a16="http://schemas.microsoft.com/office/drawing/2014/main" id="{B0D99F71-2CC0-3835-A83F-4CD168804C14}"/>
              </a:ext>
            </a:extLst>
          </p:cNvPr>
          <p:cNvSpPr>
            <a:spLocks noGrp="1"/>
          </p:cNvSpPr>
          <p:nvPr>
            <p:ph sz="half" idx="2"/>
          </p:nvPr>
        </p:nvSpPr>
        <p:spPr>
          <a:xfrm>
            <a:off x="585860" y="1564105"/>
            <a:ext cx="10404987" cy="4403558"/>
          </a:xfrm>
        </p:spPr>
        <p:txBody>
          <a:bodyPr>
            <a:noAutofit/>
          </a:bodyPr>
          <a:lstStyle/>
          <a:p>
            <a:pPr marL="414338" lvl="2" indent="0">
              <a:lnSpc>
                <a:spcPct val="100000"/>
              </a:lnSpc>
              <a:buNone/>
            </a:pPr>
            <a:r>
              <a:rPr lang="en-US" sz="5400" dirty="0">
                <a:solidFill>
                  <a:schemeClr val="tx1">
                    <a:lumMod val="85000"/>
                    <a:lumOff val="15000"/>
                  </a:schemeClr>
                </a:solidFill>
                <a:latin typeface="Garamond" panose="02020404030301010803" pitchFamily="18" charset="0"/>
              </a:rPr>
              <a:t>Services are deeds, processes, and performances provided, coproduced or cocreated by an entity or person for and/or with another entity or person.</a:t>
            </a:r>
            <a:endParaRPr lang="en-US" sz="5400" dirty="0">
              <a:latin typeface="Garamond" panose="02020404030301010803" pitchFamily="18" charset="0"/>
            </a:endParaRPr>
          </a:p>
        </p:txBody>
      </p:sp>
    </p:spTree>
    <p:extLst>
      <p:ext uri="{BB962C8B-B14F-4D97-AF65-F5344CB8AC3E}">
        <p14:creationId xmlns:p14="http://schemas.microsoft.com/office/powerpoint/2010/main" val="1015104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pie chart with arrows and a circular arrow&#10;&#10;Description automatically generated">
            <a:extLst>
              <a:ext uri="{FF2B5EF4-FFF2-40B4-BE49-F238E27FC236}">
                <a16:creationId xmlns:a16="http://schemas.microsoft.com/office/drawing/2014/main" id="{D04DCAD4-93F7-B976-57BC-09117EFFEB74}"/>
              </a:ext>
            </a:extLst>
          </p:cNvPr>
          <p:cNvPicPr>
            <a:picLocks noChangeAspect="1"/>
          </p:cNvPicPr>
          <p:nvPr/>
        </p:nvPicPr>
        <p:blipFill>
          <a:blip r:embed="rId2"/>
          <a:stretch>
            <a:fillRect/>
          </a:stretch>
        </p:blipFill>
        <p:spPr>
          <a:xfrm>
            <a:off x="2419144" y="144311"/>
            <a:ext cx="7353711" cy="5037289"/>
          </a:xfrm>
          <a:prstGeom prst="rect">
            <a:avLst/>
          </a:prstGeom>
        </p:spPr>
      </p:pic>
      <p:sp>
        <p:nvSpPr>
          <p:cNvPr id="8" name="Text Placeholder 7">
            <a:extLst>
              <a:ext uri="{FF2B5EF4-FFF2-40B4-BE49-F238E27FC236}">
                <a16:creationId xmlns:a16="http://schemas.microsoft.com/office/drawing/2014/main" id="{7F9FBEC5-50F1-A6DD-E630-DCE69F91B146}"/>
              </a:ext>
            </a:extLst>
          </p:cNvPr>
          <p:cNvSpPr>
            <a:spLocks noGrp="1"/>
          </p:cNvSpPr>
          <p:nvPr>
            <p:ph type="body" idx="1"/>
          </p:nvPr>
        </p:nvSpPr>
        <p:spPr>
          <a:xfrm>
            <a:off x="1295400" y="5410200"/>
            <a:ext cx="9601200" cy="1066800"/>
          </a:xfrm>
        </p:spPr>
        <p:txBody>
          <a:bodyPr>
            <a:normAutofit/>
          </a:bodyPr>
          <a:lstStyle/>
          <a:p>
            <a:r>
              <a:rPr lang="en-US" sz="3200" b="1" dirty="0">
                <a:latin typeface="Garamond" panose="02020404030301010803" pitchFamily="18" charset="0"/>
              </a:rPr>
              <a:t>Can you think of examples of firms/ services from these industries?</a:t>
            </a:r>
          </a:p>
        </p:txBody>
      </p:sp>
    </p:spTree>
    <p:extLst>
      <p:ext uri="{BB962C8B-B14F-4D97-AF65-F5344CB8AC3E}">
        <p14:creationId xmlns:p14="http://schemas.microsoft.com/office/powerpoint/2010/main" val="249185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0404987" cy="723368"/>
          </a:xfrm>
        </p:spPr>
        <p:txBody>
          <a:bodyPr anchor="b">
            <a:normAutofit/>
          </a:bodyPr>
          <a:lstStyle/>
          <a:p>
            <a:r>
              <a:rPr lang="en-US" altLang="en-US" sz="3600" dirty="0">
                <a:latin typeface="Garamond" panose="02020404030301010803" pitchFamily="18" charset="0"/>
              </a:rPr>
              <a:t>What are services?</a:t>
            </a: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0" y="1564105"/>
            <a:ext cx="10404987" cy="4403558"/>
          </a:xfrm>
        </p:spPr>
        <p:txBody>
          <a:bodyPr>
            <a:normAutofit fontScale="92500"/>
          </a:bodyPr>
          <a:lstStyle/>
          <a:p>
            <a:pPr marL="928688" lvl="2" indent="-514350">
              <a:lnSpc>
                <a:spcPct val="100000"/>
              </a:lnSpc>
              <a:buFont typeface="+mj-lt"/>
              <a:buAutoNum type="arabicPeriod"/>
            </a:pPr>
            <a:r>
              <a:rPr lang="en-US" sz="2800" dirty="0">
                <a:latin typeface="Garamond" panose="02020404030301010803" pitchFamily="18" charset="0"/>
              </a:rPr>
              <a:t>Service industries and companies: where </a:t>
            </a:r>
            <a:r>
              <a:rPr lang="en-US" sz="2800" b="1" dirty="0">
                <a:latin typeface="Garamond" panose="02020404030301010803" pitchFamily="18" charset="0"/>
              </a:rPr>
              <a:t>the core product </a:t>
            </a:r>
            <a:r>
              <a:rPr lang="en-US" sz="2800" dirty="0">
                <a:latin typeface="Garamond" panose="02020404030301010803" pitchFamily="18" charset="0"/>
              </a:rPr>
              <a:t>is a service. Ex: financial services, hospitality.</a:t>
            </a:r>
          </a:p>
          <a:p>
            <a:pPr marL="928688" lvl="2" indent="-514350">
              <a:lnSpc>
                <a:spcPct val="100000"/>
              </a:lnSpc>
              <a:buFont typeface="+mj-lt"/>
              <a:buAutoNum type="arabicPeriod"/>
            </a:pPr>
            <a:r>
              <a:rPr lang="en-US" sz="2800" dirty="0">
                <a:latin typeface="Garamond" panose="02020404030301010803" pitchFamily="18" charset="0"/>
              </a:rPr>
              <a:t>Service as a product: </a:t>
            </a:r>
            <a:r>
              <a:rPr lang="en-US" sz="2800" b="1" dirty="0">
                <a:latin typeface="Garamond" panose="02020404030301010803" pitchFamily="18" charset="0"/>
              </a:rPr>
              <a:t>intangible</a:t>
            </a:r>
            <a:r>
              <a:rPr lang="en-US" sz="2800" dirty="0">
                <a:latin typeface="Garamond" panose="02020404030301010803" pitchFamily="18" charset="0"/>
              </a:rPr>
              <a:t> product offerings that customers value and pay for in the marketplace. Ex: technology consulting services, gift wrapping services.</a:t>
            </a:r>
          </a:p>
          <a:p>
            <a:pPr marL="928688" lvl="2" indent="-514350">
              <a:lnSpc>
                <a:spcPct val="100000"/>
              </a:lnSpc>
              <a:buFont typeface="+mj-lt"/>
              <a:buAutoNum type="arabicPeriod"/>
            </a:pPr>
            <a:r>
              <a:rPr lang="en-US" sz="2800" dirty="0">
                <a:latin typeface="Garamond" panose="02020404030301010803" pitchFamily="18" charset="0"/>
              </a:rPr>
              <a:t>Customer service: service provided in </a:t>
            </a:r>
            <a:r>
              <a:rPr lang="en-US" sz="2800" b="1" dirty="0">
                <a:latin typeface="Garamond" panose="02020404030301010803" pitchFamily="18" charset="0"/>
              </a:rPr>
              <a:t>support</a:t>
            </a:r>
            <a:r>
              <a:rPr lang="en-US" sz="2800" dirty="0">
                <a:latin typeface="Garamond" panose="02020404030301010803" pitchFamily="18" charset="0"/>
              </a:rPr>
              <a:t> of a company’s core products. Ex: service provided with technology purchase.</a:t>
            </a:r>
          </a:p>
          <a:p>
            <a:pPr marL="928688" lvl="2" indent="-514350">
              <a:lnSpc>
                <a:spcPct val="100000"/>
              </a:lnSpc>
              <a:buFont typeface="+mj-lt"/>
              <a:buAutoNum type="arabicPeriod"/>
            </a:pPr>
            <a:r>
              <a:rPr lang="en-US" sz="2800" dirty="0">
                <a:latin typeface="Garamond" panose="02020404030301010803" pitchFamily="18" charset="0"/>
              </a:rPr>
              <a:t>Derived service: proposes that the </a:t>
            </a:r>
            <a:r>
              <a:rPr lang="en-US" sz="2800" b="1" dirty="0">
                <a:latin typeface="Garamond" panose="02020404030301010803" pitchFamily="18" charset="0"/>
              </a:rPr>
              <a:t>value derived from physical goods</a:t>
            </a:r>
            <a:r>
              <a:rPr lang="en-US" sz="2800" dirty="0">
                <a:latin typeface="Garamond" panose="02020404030301010803" pitchFamily="18" charset="0"/>
              </a:rPr>
              <a:t> is really the service provided by the good, not the good itself. Ex: computers provide information and data manipulation services.</a:t>
            </a:r>
          </a:p>
        </p:txBody>
      </p:sp>
    </p:spTree>
    <p:extLst>
      <p:ext uri="{BB962C8B-B14F-4D97-AF65-F5344CB8AC3E}">
        <p14:creationId xmlns:p14="http://schemas.microsoft.com/office/powerpoint/2010/main" val="233441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0404987" cy="723368"/>
          </a:xfrm>
        </p:spPr>
        <p:txBody>
          <a:bodyPr anchor="b">
            <a:normAutofit/>
          </a:bodyPr>
          <a:lstStyle/>
          <a:p>
            <a:r>
              <a:rPr lang="en-US" altLang="en-US" sz="3600" dirty="0">
                <a:latin typeface="Garamond" panose="02020404030301010803" pitchFamily="18" charset="0"/>
              </a:rPr>
              <a:t>Why study services marketing?</a:t>
            </a: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1" y="1564105"/>
            <a:ext cx="4824339" cy="4403558"/>
          </a:xfrm>
        </p:spPr>
        <p:txBody>
          <a:bodyPr>
            <a:normAutofit lnSpcReduction="10000"/>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Service industries represent 79% of total employment in the USA in 2022!</a:t>
            </a:r>
            <a:endParaRPr lang="en-US" sz="2600" dirty="0">
              <a:latin typeface="Garamond" panose="02020404030301010803" pitchFamily="18" charset="0"/>
            </a:endParaRPr>
          </a:p>
          <a:p>
            <a:pPr marL="928688" lvl="2" indent="-514350">
              <a:lnSpc>
                <a:spcPct val="100000"/>
              </a:lnSpc>
              <a:buFont typeface="Wingdings" panose="05000000000000000000" pitchFamily="2" charset="2"/>
              <a:buChar char="§"/>
            </a:pPr>
            <a:r>
              <a:rPr lang="en-US" sz="2800" dirty="0">
                <a:latin typeface="Garamond" panose="02020404030301010803" pitchFamily="18" charset="0"/>
              </a:rPr>
              <a:t>Service-led growth is now a leading growth strategy.</a:t>
            </a:r>
          </a:p>
          <a:p>
            <a:pPr marL="1385888" lvl="4" indent="-514350">
              <a:lnSpc>
                <a:spcPct val="100000"/>
              </a:lnSpc>
              <a:buFont typeface="Wingdings" panose="05000000000000000000" pitchFamily="2" charset="2"/>
              <a:buChar char="§"/>
            </a:pPr>
            <a:r>
              <a:rPr lang="en-US" sz="2600" dirty="0">
                <a:latin typeface="Garamond" panose="02020404030301010803" pitchFamily="18" charset="0"/>
              </a:rPr>
              <a:t>Can you think of examples where firms leverage services to drive growth?</a:t>
            </a:r>
          </a:p>
        </p:txBody>
      </p:sp>
      <p:pic>
        <p:nvPicPr>
          <p:cNvPr id="4" name="Picture 3">
            <a:extLst>
              <a:ext uri="{FF2B5EF4-FFF2-40B4-BE49-F238E27FC236}">
                <a16:creationId xmlns:a16="http://schemas.microsoft.com/office/drawing/2014/main" id="{A0570239-DBDC-6135-A267-298B18DA4233}"/>
              </a:ext>
            </a:extLst>
          </p:cNvPr>
          <p:cNvPicPr>
            <a:picLocks noChangeAspect="1"/>
          </p:cNvPicPr>
          <p:nvPr/>
        </p:nvPicPr>
        <p:blipFill>
          <a:blip r:embed="rId2"/>
          <a:stretch>
            <a:fillRect/>
          </a:stretch>
        </p:blipFill>
        <p:spPr>
          <a:xfrm>
            <a:off x="5580144" y="2133600"/>
            <a:ext cx="6078456" cy="3007751"/>
          </a:xfrm>
          <a:prstGeom prst="rect">
            <a:avLst/>
          </a:prstGeom>
        </p:spPr>
      </p:pic>
    </p:spTree>
    <p:extLst>
      <p:ext uri="{BB962C8B-B14F-4D97-AF65-F5344CB8AC3E}">
        <p14:creationId xmlns:p14="http://schemas.microsoft.com/office/powerpoint/2010/main" val="247604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0404987" cy="723368"/>
          </a:xfrm>
        </p:spPr>
        <p:txBody>
          <a:bodyPr anchor="b">
            <a:normAutofit/>
          </a:bodyPr>
          <a:lstStyle/>
          <a:p>
            <a:r>
              <a:rPr lang="en-US" altLang="en-US" sz="3600" dirty="0">
                <a:latin typeface="Garamond" panose="02020404030301010803" pitchFamily="18" charset="0"/>
              </a:rPr>
              <a:t>Service marketing is different</a:t>
            </a: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0" y="1564105"/>
            <a:ext cx="10404987" cy="4403558"/>
          </a:xfrm>
        </p:spPr>
        <p:txBody>
          <a:bodyPr>
            <a:normAutofit fontScale="92500" lnSpcReduction="20000"/>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Unique challenges that are not common when marketing goods.</a:t>
            </a:r>
          </a:p>
          <a:p>
            <a:pPr marL="1385888" lvl="4" indent="-514350">
              <a:lnSpc>
                <a:spcPct val="100000"/>
              </a:lnSpc>
              <a:buFont typeface="Wingdings" panose="05000000000000000000" pitchFamily="2" charset="2"/>
              <a:buChar char="§"/>
            </a:pPr>
            <a:r>
              <a:rPr lang="en-US" sz="2400" dirty="0">
                <a:latin typeface="Garamond" panose="02020404030301010803" pitchFamily="18" charset="0"/>
              </a:rPr>
              <a:t>For example, if you depend on an employee to offer good service, how can you manage this and ensure consistently good service?</a:t>
            </a:r>
          </a:p>
          <a:p>
            <a:pPr marL="928688" lvl="2" indent="-514350">
              <a:lnSpc>
                <a:spcPct val="100000"/>
              </a:lnSpc>
              <a:buFont typeface="Wingdings" panose="05000000000000000000" pitchFamily="2" charset="2"/>
              <a:buChar char="§"/>
            </a:pPr>
            <a:r>
              <a:rPr lang="en-US" sz="2800" dirty="0">
                <a:latin typeface="Garamond" panose="02020404030301010803" pitchFamily="18" charset="0"/>
              </a:rPr>
              <a:t>Service quality and offerings drive customer loyalty, customer satisfaction, and ultimately profits.</a:t>
            </a:r>
          </a:p>
          <a:p>
            <a:pPr marL="642938" lvl="3" indent="0">
              <a:lnSpc>
                <a:spcPct val="100000"/>
              </a:lnSpc>
              <a:buNone/>
            </a:pPr>
            <a:endParaRPr lang="en-US" sz="2600" dirty="0">
              <a:latin typeface="Garamond" panose="02020404030301010803" pitchFamily="18" charset="0"/>
            </a:endParaRPr>
          </a:p>
          <a:p>
            <a:pPr marL="928688" lvl="2" indent="-514350">
              <a:lnSpc>
                <a:spcPct val="100000"/>
              </a:lnSpc>
              <a:buFont typeface="Wingdings" panose="05000000000000000000" pitchFamily="2" charset="2"/>
              <a:buChar char="§"/>
            </a:pPr>
            <a:r>
              <a:rPr lang="en-US" sz="2800" dirty="0">
                <a:latin typeface="Garamond" panose="02020404030301010803" pitchFamily="18" charset="0"/>
              </a:rPr>
              <a:t>Competitive strategies include:</a:t>
            </a:r>
          </a:p>
          <a:p>
            <a:pPr marL="1385888" lvl="4" indent="-514350">
              <a:lnSpc>
                <a:spcPct val="100000"/>
              </a:lnSpc>
              <a:buFont typeface="Wingdings" panose="05000000000000000000" pitchFamily="2" charset="2"/>
              <a:buChar char="§"/>
            </a:pPr>
            <a:r>
              <a:rPr lang="en-US" sz="2600" dirty="0">
                <a:latin typeface="Garamond" panose="02020404030301010803" pitchFamily="18" charset="0"/>
              </a:rPr>
              <a:t>Out-of-the-box customer service</a:t>
            </a:r>
          </a:p>
          <a:p>
            <a:pPr marL="1385888" lvl="4" indent="-514350">
              <a:lnSpc>
                <a:spcPct val="100000"/>
              </a:lnSpc>
              <a:buFont typeface="Wingdings" panose="05000000000000000000" pitchFamily="2" charset="2"/>
              <a:buChar char="§"/>
            </a:pPr>
            <a:r>
              <a:rPr lang="en-US" sz="2600" dirty="0">
                <a:latin typeface="Garamond" panose="02020404030301010803" pitchFamily="18" charset="0"/>
              </a:rPr>
              <a:t>Innovative / cutting-edge services</a:t>
            </a:r>
          </a:p>
          <a:p>
            <a:pPr marL="1385888" lvl="4" indent="-514350">
              <a:lnSpc>
                <a:spcPct val="100000"/>
              </a:lnSpc>
              <a:buFont typeface="Wingdings" panose="05000000000000000000" pitchFamily="2" charset="2"/>
              <a:buChar char="§"/>
            </a:pPr>
            <a:r>
              <a:rPr lang="en-US" sz="2600" dirty="0">
                <a:latin typeface="Garamond" panose="02020404030301010803" pitchFamily="18" charset="0"/>
              </a:rPr>
              <a:t>Value-add / revenue-producing services</a:t>
            </a:r>
          </a:p>
          <a:p>
            <a:pPr marL="1385888" lvl="4" indent="-514350">
              <a:lnSpc>
                <a:spcPct val="100000"/>
              </a:lnSpc>
              <a:buFont typeface="Wingdings" panose="05000000000000000000" pitchFamily="2" charset="2"/>
              <a:buChar char="§"/>
            </a:pPr>
            <a:r>
              <a:rPr lang="en-US" sz="2600" dirty="0">
                <a:latin typeface="Garamond" panose="02020404030301010803" pitchFamily="18" charset="0"/>
              </a:rPr>
              <a:t>Differentiating with service culture</a:t>
            </a:r>
            <a:endParaRPr lang="en-US" sz="2400" dirty="0">
              <a:latin typeface="Garamond" panose="02020404030301010803" pitchFamily="18" charset="0"/>
            </a:endParaRPr>
          </a:p>
        </p:txBody>
      </p:sp>
    </p:spTree>
    <p:extLst>
      <p:ext uri="{BB962C8B-B14F-4D97-AF65-F5344CB8AC3E}">
        <p14:creationId xmlns:p14="http://schemas.microsoft.com/office/powerpoint/2010/main" val="264892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Technology is causing a service revolution</a:t>
            </a: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0" y="1564105"/>
            <a:ext cx="11163688" cy="3465095"/>
          </a:xfrm>
        </p:spPr>
        <p:txBody>
          <a:bodyPr>
            <a:normAutofit/>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Companies like MAAMA offer services previously unheard of services.</a:t>
            </a:r>
          </a:p>
          <a:p>
            <a:pPr marL="928688" lvl="2" indent="-514350">
              <a:lnSpc>
                <a:spcPct val="100000"/>
              </a:lnSpc>
              <a:buFont typeface="Wingdings" panose="05000000000000000000" pitchFamily="2" charset="2"/>
              <a:buChar char="§"/>
            </a:pPr>
            <a:endParaRPr lang="en-US" sz="2800" dirty="0">
              <a:latin typeface="Garamond" panose="02020404030301010803" pitchFamily="18" charset="0"/>
            </a:endParaRPr>
          </a:p>
        </p:txBody>
      </p:sp>
      <p:pic>
        <p:nvPicPr>
          <p:cNvPr id="1026" name="Picture 2" descr="Google Maps letting you specify car engine type - 9to5Google">
            <a:extLst>
              <a:ext uri="{FF2B5EF4-FFF2-40B4-BE49-F238E27FC236}">
                <a16:creationId xmlns:a16="http://schemas.microsoft.com/office/drawing/2014/main" id="{DE72C483-BEDC-369C-BF8F-69D52730E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2209800"/>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oogle Maps letting you specify car engine type - 9to5Google">
            <a:extLst>
              <a:ext uri="{FF2B5EF4-FFF2-40B4-BE49-F238E27FC236}">
                <a16:creationId xmlns:a16="http://schemas.microsoft.com/office/drawing/2014/main" id="{CE3EC85A-AA28-ADFE-0474-8BCF150E887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625" r="25625"/>
          <a:stretch/>
        </p:blipFill>
        <p:spPr bwMode="auto">
          <a:xfrm>
            <a:off x="5105400" y="2209800"/>
            <a:ext cx="3549301"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C87F080-ECDF-5C88-32DE-FE6092CB7F04}"/>
              </a:ext>
            </a:extLst>
          </p:cNvPr>
          <p:cNvSpPr txBox="1"/>
          <p:nvPr/>
        </p:nvSpPr>
        <p:spPr>
          <a:xfrm>
            <a:off x="-914401" y="4664597"/>
            <a:ext cx="5976001" cy="1323439"/>
          </a:xfrm>
          <a:prstGeom prst="rect">
            <a:avLst/>
          </a:prstGeom>
          <a:noFill/>
        </p:spPr>
        <p:txBody>
          <a:bodyPr wrap="square">
            <a:spAutoFit/>
          </a:bodyPr>
          <a:lstStyle/>
          <a:p>
            <a:pPr lvl="3" algn="r"/>
            <a:r>
              <a:rPr lang="en-US" sz="4000" b="1" dirty="0">
                <a:latin typeface="Garamond" panose="02020404030301010803" pitchFamily="18" charset="0"/>
              </a:rPr>
              <a:t>Alphabet (Google): Google Maps </a:t>
            </a:r>
            <a:endParaRPr lang="en-US" sz="4000" b="1" dirty="0"/>
          </a:p>
        </p:txBody>
      </p:sp>
    </p:spTree>
    <p:extLst>
      <p:ext uri="{BB962C8B-B14F-4D97-AF65-F5344CB8AC3E}">
        <p14:creationId xmlns:p14="http://schemas.microsoft.com/office/powerpoint/2010/main" val="3112860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B0914-DF28-FE55-14E4-A527F746E5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6DE461-8AF3-5A3E-074C-E8FD46F96545}"/>
              </a:ext>
            </a:extLst>
          </p:cNvPr>
          <p:cNvSpPr>
            <a:spLocks noGrp="1"/>
          </p:cNvSpPr>
          <p:nvPr>
            <p:ph type="title"/>
          </p:nvPr>
        </p:nvSpPr>
        <p:spPr/>
        <p:txBody>
          <a:bodyPr>
            <a:normAutofit fontScale="90000"/>
          </a:bodyPr>
          <a:lstStyle/>
          <a:p>
            <a:r>
              <a:rPr lang="en-US" dirty="0">
                <a:latin typeface="Garamond" panose="02020404030301010803" pitchFamily="18" charset="0"/>
              </a:rPr>
              <a:t>Can you think of other examples where technology has transformed a service process?</a:t>
            </a:r>
          </a:p>
        </p:txBody>
      </p:sp>
      <p:sp>
        <p:nvSpPr>
          <p:cNvPr id="6" name="Text Placeholder 5">
            <a:extLst>
              <a:ext uri="{FF2B5EF4-FFF2-40B4-BE49-F238E27FC236}">
                <a16:creationId xmlns:a16="http://schemas.microsoft.com/office/drawing/2014/main" id="{6F0C92EA-E956-DE03-A45C-AEAB20227ED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17344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39EDB-8BF0-96E6-065C-E67EE05C889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290E3E0-7626-CB6F-7A72-673A406899D7}"/>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Technology is causing a service revolution</a:t>
            </a:r>
          </a:p>
        </p:txBody>
      </p:sp>
      <p:sp>
        <p:nvSpPr>
          <p:cNvPr id="3" name="Content Placeholder 2">
            <a:extLst>
              <a:ext uri="{FF2B5EF4-FFF2-40B4-BE49-F238E27FC236}">
                <a16:creationId xmlns:a16="http://schemas.microsoft.com/office/drawing/2014/main" id="{033216D9-3705-6EC5-E468-191ED7A3AE94}"/>
              </a:ext>
            </a:extLst>
          </p:cNvPr>
          <p:cNvSpPr>
            <a:spLocks noGrp="1"/>
          </p:cNvSpPr>
          <p:nvPr>
            <p:ph sz="half" idx="2"/>
          </p:nvPr>
        </p:nvSpPr>
        <p:spPr>
          <a:xfrm>
            <a:off x="585860" y="1564105"/>
            <a:ext cx="11060450" cy="3465095"/>
          </a:xfrm>
        </p:spPr>
        <p:txBody>
          <a:bodyPr>
            <a:normAutofit/>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Smart phones offer innumerable new service applications.</a:t>
            </a:r>
          </a:p>
        </p:txBody>
      </p:sp>
      <p:pic>
        <p:nvPicPr>
          <p:cNvPr id="2050" name="Picture 2" descr="Pay by Mobile | Visa">
            <a:extLst>
              <a:ext uri="{FF2B5EF4-FFF2-40B4-BE49-F238E27FC236}">
                <a16:creationId xmlns:a16="http://schemas.microsoft.com/office/drawing/2014/main" id="{9B3C4A18-A79E-CE50-163B-2236CA4B9D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09800"/>
            <a:ext cx="3733800" cy="37338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5 Remarkable Benefits of Remote Patient Monitoring for Improved Healthcare">
            <a:extLst>
              <a:ext uri="{FF2B5EF4-FFF2-40B4-BE49-F238E27FC236}">
                <a16:creationId xmlns:a16="http://schemas.microsoft.com/office/drawing/2014/main" id="{CF87067E-F0B9-EBCF-3AAA-B24CC69FC2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251" r="7793"/>
          <a:stretch/>
        </p:blipFill>
        <p:spPr bwMode="auto">
          <a:xfrm>
            <a:off x="4468379" y="2209800"/>
            <a:ext cx="3297875" cy="37338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owerCommand Cloud™ Generator Remote Monitoring System | Cummins Inc.">
            <a:extLst>
              <a:ext uri="{FF2B5EF4-FFF2-40B4-BE49-F238E27FC236}">
                <a16:creationId xmlns:a16="http://schemas.microsoft.com/office/drawing/2014/main" id="{739DA195-9BA0-B4E4-1A4B-43198C3E0DA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1187"/>
          <a:stretch/>
        </p:blipFill>
        <p:spPr bwMode="auto">
          <a:xfrm>
            <a:off x="7924801" y="2209800"/>
            <a:ext cx="3809999"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75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64BB5-7205-DA4C-16B9-4817DCE9F10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A3F1368-6C2D-0753-9F82-8A5964C2080E}"/>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Technology is causing a service revolution</a:t>
            </a:r>
          </a:p>
        </p:txBody>
      </p:sp>
      <p:sp>
        <p:nvSpPr>
          <p:cNvPr id="3" name="Content Placeholder 2">
            <a:extLst>
              <a:ext uri="{FF2B5EF4-FFF2-40B4-BE49-F238E27FC236}">
                <a16:creationId xmlns:a16="http://schemas.microsoft.com/office/drawing/2014/main" id="{B39BC060-DEAD-1772-01F0-06C507BF79E2}"/>
              </a:ext>
            </a:extLst>
          </p:cNvPr>
          <p:cNvSpPr>
            <a:spLocks noGrp="1"/>
          </p:cNvSpPr>
          <p:nvPr>
            <p:ph sz="half" idx="2"/>
          </p:nvPr>
        </p:nvSpPr>
        <p:spPr>
          <a:xfrm>
            <a:off x="585860" y="1334032"/>
            <a:ext cx="10404987" cy="723368"/>
          </a:xfrm>
        </p:spPr>
        <p:txBody>
          <a:bodyPr>
            <a:normAutofit/>
          </a:bodyPr>
          <a:lstStyle/>
          <a:p>
            <a:pPr marL="928688" lvl="2" indent="-514350">
              <a:lnSpc>
                <a:spcPct val="100000"/>
              </a:lnSpc>
              <a:buFont typeface="Wingdings" panose="05000000000000000000" pitchFamily="2" charset="2"/>
              <a:buChar char="§"/>
            </a:pPr>
            <a:r>
              <a:rPr lang="en-US" sz="2800" dirty="0">
                <a:latin typeface="Garamond" panose="02020404030301010803" pitchFamily="18" charset="0"/>
              </a:rPr>
              <a:t>How will Generative AI affect service jobs?</a:t>
            </a:r>
          </a:p>
        </p:txBody>
      </p:sp>
      <p:pic>
        <p:nvPicPr>
          <p:cNvPr id="5" name="Picture 4">
            <a:extLst>
              <a:ext uri="{FF2B5EF4-FFF2-40B4-BE49-F238E27FC236}">
                <a16:creationId xmlns:a16="http://schemas.microsoft.com/office/drawing/2014/main" id="{87306176-A40B-63E2-A890-F5A248382C41}"/>
              </a:ext>
            </a:extLst>
          </p:cNvPr>
          <p:cNvPicPr>
            <a:picLocks noChangeAspect="1"/>
          </p:cNvPicPr>
          <p:nvPr/>
        </p:nvPicPr>
        <p:blipFill>
          <a:blip r:embed="rId3"/>
          <a:stretch>
            <a:fillRect/>
          </a:stretch>
        </p:blipFill>
        <p:spPr>
          <a:xfrm>
            <a:off x="1066800" y="1905000"/>
            <a:ext cx="10058400" cy="4610770"/>
          </a:xfrm>
          <a:prstGeom prst="rect">
            <a:avLst/>
          </a:prstGeom>
        </p:spPr>
      </p:pic>
      <p:sp>
        <p:nvSpPr>
          <p:cNvPr id="8" name="TextBox 7">
            <a:extLst>
              <a:ext uri="{FF2B5EF4-FFF2-40B4-BE49-F238E27FC236}">
                <a16:creationId xmlns:a16="http://schemas.microsoft.com/office/drawing/2014/main" id="{5F8E4F05-29AE-BDFF-AFC7-41CE31AE9D29}"/>
              </a:ext>
            </a:extLst>
          </p:cNvPr>
          <p:cNvSpPr txBox="1"/>
          <p:nvPr/>
        </p:nvSpPr>
        <p:spPr>
          <a:xfrm>
            <a:off x="1143000" y="6096000"/>
            <a:ext cx="6102096" cy="338554"/>
          </a:xfrm>
          <a:prstGeom prst="rect">
            <a:avLst/>
          </a:prstGeom>
          <a:noFill/>
        </p:spPr>
        <p:txBody>
          <a:bodyPr wrap="square">
            <a:spAutoFit/>
          </a:bodyPr>
          <a:lstStyle/>
          <a:p>
            <a:r>
              <a:rPr lang="en-US" sz="1600" b="1" dirty="0">
                <a:solidFill>
                  <a:schemeClr val="bg1"/>
                </a:solidFill>
                <a:latin typeface="Garamond" panose="02020404030301010803" pitchFamily="18" charset="0"/>
              </a:rPr>
              <a:t>Source: Moser Consulting</a:t>
            </a:r>
            <a:endParaRPr lang="en-US" sz="1600" b="1" dirty="0">
              <a:solidFill>
                <a:schemeClr val="bg1"/>
              </a:solidFill>
            </a:endParaRPr>
          </a:p>
        </p:txBody>
      </p:sp>
    </p:spTree>
    <p:extLst>
      <p:ext uri="{BB962C8B-B14F-4D97-AF65-F5344CB8AC3E}">
        <p14:creationId xmlns:p14="http://schemas.microsoft.com/office/powerpoint/2010/main" val="863093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740C8-8AE3-5D96-BD79-F3B0798CC5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173E98-DE9D-91C1-3AE3-27604C1C441E}"/>
              </a:ext>
            </a:extLst>
          </p:cNvPr>
          <p:cNvSpPr>
            <a:spLocks noGrp="1"/>
          </p:cNvSpPr>
          <p:nvPr>
            <p:ph type="title"/>
          </p:nvPr>
        </p:nvSpPr>
        <p:spPr/>
        <p:txBody>
          <a:bodyPr>
            <a:normAutofit fontScale="90000"/>
          </a:bodyPr>
          <a:lstStyle/>
          <a:p>
            <a:r>
              <a:rPr lang="en-US" dirty="0">
                <a:latin typeface="Garamond" panose="02020404030301010803" pitchFamily="18" charset="0"/>
              </a:rPr>
              <a:t>What are your thoughts on Generative AI affecting services/ tasks in an industry you might want to work in?</a:t>
            </a:r>
          </a:p>
        </p:txBody>
      </p:sp>
      <p:sp>
        <p:nvSpPr>
          <p:cNvPr id="6" name="Text Placeholder 5">
            <a:extLst>
              <a:ext uri="{FF2B5EF4-FFF2-40B4-BE49-F238E27FC236}">
                <a16:creationId xmlns:a16="http://schemas.microsoft.com/office/drawing/2014/main" id="{6DE9DA7A-6DA9-E354-048B-6CE11F7E19E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35092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AC6C4FA-9F71-C534-ECF4-19F1D132ED34}"/>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
        <p:nvSpPr>
          <p:cNvPr id="3" name="Content Placeholder 2">
            <a:extLst>
              <a:ext uri="{FF2B5EF4-FFF2-40B4-BE49-F238E27FC236}">
                <a16:creationId xmlns:a16="http://schemas.microsoft.com/office/drawing/2014/main" id="{02E47DA6-B7F7-5262-3955-2FF2D18D15B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3323368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F2E9A-5B88-7C7C-C5F2-6D4E55CAFE88}"/>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7ED4D562-E68D-2E15-BE25-55C65F5F645C}"/>
              </a:ext>
            </a:extLst>
          </p:cNvPr>
          <p:cNvGraphicFramePr>
            <a:graphicFrameLocks noGrp="1"/>
          </p:cNvGraphicFramePr>
          <p:nvPr>
            <p:ph idx="1"/>
            <p:extLst>
              <p:ext uri="{D42A27DB-BD31-4B8C-83A1-F6EECF244321}">
                <p14:modId xmlns:p14="http://schemas.microsoft.com/office/powerpoint/2010/main" val="1826671698"/>
              </p:ext>
            </p:extLst>
          </p:nvPr>
        </p:nvGraphicFramePr>
        <p:xfrm>
          <a:off x="953729" y="1297858"/>
          <a:ext cx="10540182" cy="4711001"/>
        </p:xfrm>
        <a:graphic>
          <a:graphicData uri="http://schemas.openxmlformats.org/drawingml/2006/table">
            <a:tbl>
              <a:tblPr firstRow="1">
                <a:tableStyleId>{073A0DAA-6AF3-43AB-8588-CEC1D06C72B9}</a:tableStyleId>
              </a:tblPr>
              <a:tblGrid>
                <a:gridCol w="1713271">
                  <a:extLst>
                    <a:ext uri="{9D8B030D-6E8A-4147-A177-3AD203B41FA5}">
                      <a16:colId xmlns:a16="http://schemas.microsoft.com/office/drawing/2014/main" val="2019304911"/>
                    </a:ext>
                  </a:extLst>
                </a:gridCol>
                <a:gridCol w="2057400">
                  <a:extLst>
                    <a:ext uri="{9D8B030D-6E8A-4147-A177-3AD203B41FA5}">
                      <a16:colId xmlns:a16="http://schemas.microsoft.com/office/drawing/2014/main" val="2096477519"/>
                    </a:ext>
                  </a:extLst>
                </a:gridCol>
                <a:gridCol w="6769511">
                  <a:extLst>
                    <a:ext uri="{9D8B030D-6E8A-4147-A177-3AD203B41FA5}">
                      <a16:colId xmlns:a16="http://schemas.microsoft.com/office/drawing/2014/main" val="2355744077"/>
                    </a:ext>
                  </a:extLst>
                </a:gridCol>
              </a:tblGrid>
              <a:tr h="504761">
                <a:tc>
                  <a:txBody>
                    <a:bodyPr/>
                    <a:lstStyle/>
                    <a:p>
                      <a:r>
                        <a:rPr lang="en-US" sz="2400" dirty="0">
                          <a:latin typeface="Garamond" panose="02020404030301010803" pitchFamily="18" charset="0"/>
                        </a:rPr>
                        <a:t>Goods</a:t>
                      </a:r>
                    </a:p>
                  </a:txBody>
                  <a:tcPr anchor="ctr"/>
                </a:tc>
                <a:tc>
                  <a:txBody>
                    <a:bodyPr/>
                    <a:lstStyle/>
                    <a:p>
                      <a:r>
                        <a:rPr lang="en-US" sz="2400" dirty="0">
                          <a:latin typeface="Garamond" panose="02020404030301010803" pitchFamily="18" charset="0"/>
                        </a:rPr>
                        <a:t>Services</a:t>
                      </a:r>
                    </a:p>
                  </a:txBody>
                  <a:tcPr anchor="ctr"/>
                </a:tc>
                <a:tc>
                  <a:txBody>
                    <a:bodyPr/>
                    <a:lstStyle/>
                    <a:p>
                      <a:r>
                        <a:rPr lang="en-US" sz="2400" dirty="0">
                          <a:latin typeface="Garamond" panose="02020404030301010803" pitchFamily="18" charset="0"/>
                        </a:rPr>
                        <a:t>Resulting Implications</a:t>
                      </a:r>
                    </a:p>
                  </a:txBody>
                  <a:tcPr anchor="ctr"/>
                </a:tc>
                <a:extLst>
                  <a:ext uri="{0D108BD9-81ED-4DB2-BD59-A6C34878D82A}">
                    <a16:rowId xmlns:a16="http://schemas.microsoft.com/office/drawing/2014/main" val="4261316152"/>
                  </a:ext>
                </a:extLst>
              </a:tr>
              <a:tr h="1716186">
                <a:tc>
                  <a:txBody>
                    <a:bodyPr/>
                    <a:lstStyle/>
                    <a:p>
                      <a:r>
                        <a:rPr lang="en-US" sz="2400" dirty="0">
                          <a:latin typeface="Garamond" panose="02020404030301010803" pitchFamily="18" charset="0"/>
                        </a:rPr>
                        <a:t>Tangible</a:t>
                      </a:r>
                    </a:p>
                  </a:txBody>
                  <a:tcPr anchor="ctr">
                    <a:solidFill>
                      <a:schemeClr val="accent5">
                        <a:lumMod val="20000"/>
                        <a:lumOff val="80000"/>
                      </a:schemeClr>
                    </a:solidFill>
                  </a:tcPr>
                </a:tc>
                <a:tc>
                  <a:txBody>
                    <a:bodyPr/>
                    <a:lstStyle/>
                    <a:p>
                      <a:r>
                        <a:rPr lang="en-US" sz="2400" dirty="0">
                          <a:latin typeface="Garamond" panose="02020404030301010803" pitchFamily="18" charset="0"/>
                        </a:rPr>
                        <a:t>Intangible</a:t>
                      </a:r>
                    </a:p>
                  </a:txBody>
                  <a:tcPr anchor="ctr">
                    <a:solidFill>
                      <a:schemeClr val="accent5">
                        <a:lumMod val="20000"/>
                        <a:lumOff val="80000"/>
                      </a:schemeClr>
                    </a:solidFill>
                  </a:tcPr>
                </a:tc>
                <a:tc>
                  <a:txBody>
                    <a:bodyPr/>
                    <a:lstStyle/>
                    <a:p>
                      <a:pPr marL="171450" indent="-171450">
                        <a:buFont typeface="Arial" panose="020B0604020202020204" pitchFamily="34" charset="0"/>
                        <a:buChar char="•"/>
                      </a:pPr>
                      <a:r>
                        <a:rPr lang="en-US" sz="2400" dirty="0">
                          <a:latin typeface="Garamond" panose="02020404030301010803" pitchFamily="18" charset="0"/>
                        </a:rPr>
                        <a:t>Services cannot be inventoried.</a:t>
                      </a:r>
                    </a:p>
                    <a:p>
                      <a:pPr marL="171450" indent="-171450">
                        <a:buFont typeface="Arial" panose="020B0604020202020204" pitchFamily="34" charset="0"/>
                        <a:buChar char="•"/>
                      </a:pPr>
                      <a:r>
                        <a:rPr lang="en-US" sz="2400" dirty="0">
                          <a:latin typeface="Garamond" panose="02020404030301010803" pitchFamily="18" charset="0"/>
                        </a:rPr>
                        <a:t>Services cannot be easily patented.</a:t>
                      </a:r>
                    </a:p>
                    <a:p>
                      <a:pPr marL="171450" indent="-171450">
                        <a:buFont typeface="Arial" panose="020B0604020202020204" pitchFamily="34" charset="0"/>
                        <a:buChar char="•"/>
                      </a:pPr>
                      <a:r>
                        <a:rPr lang="en-US" sz="2400" dirty="0">
                          <a:latin typeface="Garamond" panose="02020404030301010803" pitchFamily="18" charset="0"/>
                        </a:rPr>
                        <a:t>Services cannot be readily displayed or communicated.</a:t>
                      </a:r>
                    </a:p>
                    <a:p>
                      <a:pPr marL="171450" indent="-171450">
                        <a:buFont typeface="Arial" panose="020B0604020202020204" pitchFamily="34" charset="0"/>
                        <a:buChar char="•"/>
                      </a:pPr>
                      <a:r>
                        <a:rPr lang="en-US" sz="2400" dirty="0">
                          <a:latin typeface="Garamond" panose="02020404030301010803" pitchFamily="18" charset="0"/>
                        </a:rPr>
                        <a:t>Pricing is difficult.</a:t>
                      </a:r>
                    </a:p>
                  </a:txBody>
                  <a:tcPr anchor="ctr">
                    <a:solidFill>
                      <a:schemeClr val="accent5">
                        <a:lumMod val="20000"/>
                        <a:lumOff val="80000"/>
                      </a:schemeClr>
                    </a:solidFill>
                  </a:tcPr>
                </a:tc>
                <a:extLst>
                  <a:ext uri="{0D108BD9-81ED-4DB2-BD59-A6C34878D82A}">
                    <a16:rowId xmlns:a16="http://schemas.microsoft.com/office/drawing/2014/main" val="991332338"/>
                  </a:ext>
                </a:extLst>
              </a:tr>
              <a:tr h="2119995">
                <a:tc>
                  <a:txBody>
                    <a:bodyPr/>
                    <a:lstStyle/>
                    <a:p>
                      <a:r>
                        <a:rPr lang="en-US" sz="2400" dirty="0">
                          <a:latin typeface="Garamond" panose="02020404030301010803" pitchFamily="18" charset="0"/>
                        </a:rPr>
                        <a:t>Standardized</a:t>
                      </a:r>
                    </a:p>
                  </a:txBody>
                  <a:tcPr anchor="ctr"/>
                </a:tc>
                <a:tc>
                  <a:txBody>
                    <a:bodyPr/>
                    <a:lstStyle/>
                    <a:p>
                      <a:r>
                        <a:rPr lang="en-US" sz="2400" dirty="0">
                          <a:latin typeface="Garamond" panose="02020404030301010803" pitchFamily="18" charset="0"/>
                        </a:rPr>
                        <a:t>Heterogeneous</a:t>
                      </a:r>
                    </a:p>
                  </a:txBody>
                  <a:tcPr anchor="ctr"/>
                </a:tc>
                <a:tc>
                  <a:txBody>
                    <a:bodyPr/>
                    <a:lstStyle/>
                    <a:p>
                      <a:pPr marL="171450" indent="-171450">
                        <a:buFont typeface="Arial" panose="020B0604020202020204" pitchFamily="34" charset="0"/>
                        <a:buChar char="•"/>
                      </a:pPr>
                      <a:r>
                        <a:rPr lang="en-US" sz="2400" dirty="0">
                          <a:latin typeface="Garamond" panose="02020404030301010803" pitchFamily="18" charset="0"/>
                        </a:rPr>
                        <a:t>Service delivery and customer satisfaction depend on employee and customer actions.</a:t>
                      </a:r>
                    </a:p>
                    <a:p>
                      <a:pPr marL="171450" indent="-171450">
                        <a:buFont typeface="Arial" panose="020B0604020202020204" pitchFamily="34" charset="0"/>
                        <a:buChar char="•"/>
                      </a:pPr>
                      <a:r>
                        <a:rPr lang="en-US" sz="2400" dirty="0">
                          <a:latin typeface="Garamond" panose="02020404030301010803" pitchFamily="18" charset="0"/>
                        </a:rPr>
                        <a:t>Service quality depends on many uncontrollable factors.</a:t>
                      </a:r>
                    </a:p>
                    <a:p>
                      <a:pPr marL="171450" indent="-171450">
                        <a:buFont typeface="Arial" panose="020B0604020202020204" pitchFamily="34" charset="0"/>
                        <a:buChar char="•"/>
                      </a:pPr>
                      <a:r>
                        <a:rPr lang="en-US" sz="2400" dirty="0">
                          <a:latin typeface="Garamond" panose="02020404030301010803" pitchFamily="18" charset="0"/>
                        </a:rPr>
                        <a:t>There is no sure knowledge that the service delivered matches what was planned and promoted.</a:t>
                      </a:r>
                    </a:p>
                  </a:txBody>
                  <a:tcPr anchor="ctr"/>
                </a:tc>
                <a:extLst>
                  <a:ext uri="{0D108BD9-81ED-4DB2-BD59-A6C34878D82A}">
                    <a16:rowId xmlns:a16="http://schemas.microsoft.com/office/drawing/2014/main" val="3949574415"/>
                  </a:ext>
                </a:extLst>
              </a:tr>
            </a:tbl>
          </a:graphicData>
        </a:graphic>
      </p:graphicFrame>
      <p:sp>
        <p:nvSpPr>
          <p:cNvPr id="14" name="Title 1">
            <a:extLst>
              <a:ext uri="{FF2B5EF4-FFF2-40B4-BE49-F238E27FC236}">
                <a16:creationId xmlns:a16="http://schemas.microsoft.com/office/drawing/2014/main" id="{CBC1AB44-C597-1E8A-639E-F7FC21D453BE}"/>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Tree>
    <p:extLst>
      <p:ext uri="{BB962C8B-B14F-4D97-AF65-F5344CB8AC3E}">
        <p14:creationId xmlns:p14="http://schemas.microsoft.com/office/powerpoint/2010/main" val="39709287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Tangibility Spectrum</a:t>
            </a:r>
          </a:p>
        </p:txBody>
      </p:sp>
      <p:pic>
        <p:nvPicPr>
          <p:cNvPr id="6" name="Content Placeholder 5">
            <a:extLst>
              <a:ext uri="{FF2B5EF4-FFF2-40B4-BE49-F238E27FC236}">
                <a16:creationId xmlns:a16="http://schemas.microsoft.com/office/drawing/2014/main" id="{B0A6FBC5-7A9E-9224-0511-14FD65A57311}"/>
              </a:ext>
            </a:extLst>
          </p:cNvPr>
          <p:cNvPicPr>
            <a:picLocks noGrp="1" noChangeAspect="1"/>
          </p:cNvPicPr>
          <p:nvPr>
            <p:ph idx="1"/>
          </p:nvPr>
        </p:nvPicPr>
        <p:blipFill>
          <a:blip r:embed="rId3"/>
          <a:stretch>
            <a:fillRect/>
          </a:stretch>
        </p:blipFill>
        <p:spPr>
          <a:xfrm>
            <a:off x="1295400" y="2387732"/>
            <a:ext cx="9601200" cy="2996935"/>
          </a:xfrm>
          <a:prstGeom prst="rect">
            <a:avLst/>
          </a:prstGeom>
        </p:spPr>
      </p:pic>
    </p:spTree>
    <p:extLst>
      <p:ext uri="{BB962C8B-B14F-4D97-AF65-F5344CB8AC3E}">
        <p14:creationId xmlns:p14="http://schemas.microsoft.com/office/powerpoint/2010/main" val="9868428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A88B2-6715-A143-BD70-A639AF16E0D3}"/>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55A2DBD0-3878-557D-4B5A-CB2EE0EFC8F3}"/>
              </a:ext>
            </a:extLst>
          </p:cNvPr>
          <p:cNvGraphicFramePr>
            <a:graphicFrameLocks noGrp="1"/>
          </p:cNvGraphicFramePr>
          <p:nvPr>
            <p:ph idx="1"/>
            <p:extLst>
              <p:ext uri="{D42A27DB-BD31-4B8C-83A1-F6EECF244321}">
                <p14:modId xmlns:p14="http://schemas.microsoft.com/office/powerpoint/2010/main" val="1269415938"/>
              </p:ext>
            </p:extLst>
          </p:nvPr>
        </p:nvGraphicFramePr>
        <p:xfrm>
          <a:off x="953729" y="1297858"/>
          <a:ext cx="10540182" cy="4711001"/>
        </p:xfrm>
        <a:graphic>
          <a:graphicData uri="http://schemas.openxmlformats.org/drawingml/2006/table">
            <a:tbl>
              <a:tblPr firstRow="1">
                <a:tableStyleId>{073A0DAA-6AF3-43AB-8588-CEC1D06C72B9}</a:tableStyleId>
              </a:tblPr>
              <a:tblGrid>
                <a:gridCol w="1713271">
                  <a:extLst>
                    <a:ext uri="{9D8B030D-6E8A-4147-A177-3AD203B41FA5}">
                      <a16:colId xmlns:a16="http://schemas.microsoft.com/office/drawing/2014/main" val="2019304911"/>
                    </a:ext>
                  </a:extLst>
                </a:gridCol>
                <a:gridCol w="2057400">
                  <a:extLst>
                    <a:ext uri="{9D8B030D-6E8A-4147-A177-3AD203B41FA5}">
                      <a16:colId xmlns:a16="http://schemas.microsoft.com/office/drawing/2014/main" val="2096477519"/>
                    </a:ext>
                  </a:extLst>
                </a:gridCol>
                <a:gridCol w="6769511">
                  <a:extLst>
                    <a:ext uri="{9D8B030D-6E8A-4147-A177-3AD203B41FA5}">
                      <a16:colId xmlns:a16="http://schemas.microsoft.com/office/drawing/2014/main" val="2355744077"/>
                    </a:ext>
                  </a:extLst>
                </a:gridCol>
              </a:tblGrid>
              <a:tr h="504761">
                <a:tc>
                  <a:txBody>
                    <a:bodyPr/>
                    <a:lstStyle/>
                    <a:p>
                      <a:r>
                        <a:rPr lang="en-US" sz="2400" dirty="0">
                          <a:latin typeface="Garamond" panose="02020404030301010803" pitchFamily="18" charset="0"/>
                        </a:rPr>
                        <a:t>Goods</a:t>
                      </a:r>
                    </a:p>
                  </a:txBody>
                  <a:tcPr anchor="ctr"/>
                </a:tc>
                <a:tc>
                  <a:txBody>
                    <a:bodyPr/>
                    <a:lstStyle/>
                    <a:p>
                      <a:r>
                        <a:rPr lang="en-US" sz="2400" dirty="0">
                          <a:latin typeface="Garamond" panose="02020404030301010803" pitchFamily="18" charset="0"/>
                        </a:rPr>
                        <a:t>Services</a:t>
                      </a:r>
                    </a:p>
                  </a:txBody>
                  <a:tcPr anchor="ctr"/>
                </a:tc>
                <a:tc>
                  <a:txBody>
                    <a:bodyPr/>
                    <a:lstStyle/>
                    <a:p>
                      <a:r>
                        <a:rPr lang="en-US" sz="2400" dirty="0">
                          <a:latin typeface="Garamond" panose="02020404030301010803" pitchFamily="18" charset="0"/>
                        </a:rPr>
                        <a:t>Resulting Implications</a:t>
                      </a:r>
                    </a:p>
                  </a:txBody>
                  <a:tcPr anchor="ctr"/>
                </a:tc>
                <a:extLst>
                  <a:ext uri="{0D108BD9-81ED-4DB2-BD59-A6C34878D82A}">
                    <a16:rowId xmlns:a16="http://schemas.microsoft.com/office/drawing/2014/main" val="4261316152"/>
                  </a:ext>
                </a:extLst>
              </a:tr>
              <a:tr h="1716186">
                <a:tc>
                  <a:txBody>
                    <a:bodyPr/>
                    <a:lstStyle/>
                    <a:p>
                      <a:r>
                        <a:rPr lang="en-US" sz="2400" dirty="0">
                          <a:latin typeface="Garamond" panose="02020404030301010803" pitchFamily="18" charset="0"/>
                        </a:rPr>
                        <a:t>Tangible</a:t>
                      </a:r>
                    </a:p>
                  </a:txBody>
                  <a:tcPr anchor="ctr"/>
                </a:tc>
                <a:tc>
                  <a:txBody>
                    <a:bodyPr/>
                    <a:lstStyle/>
                    <a:p>
                      <a:r>
                        <a:rPr lang="en-US" sz="2400" dirty="0">
                          <a:latin typeface="Garamond" panose="02020404030301010803" pitchFamily="18" charset="0"/>
                        </a:rPr>
                        <a:t>Intangible</a:t>
                      </a:r>
                    </a:p>
                  </a:txBody>
                  <a:tcPr anchor="ctr"/>
                </a:tc>
                <a:tc>
                  <a:txBody>
                    <a:bodyPr/>
                    <a:lstStyle/>
                    <a:p>
                      <a:pPr marL="171450" indent="-171450">
                        <a:buFont typeface="Arial" panose="020B0604020202020204" pitchFamily="34" charset="0"/>
                        <a:buChar char="•"/>
                      </a:pPr>
                      <a:r>
                        <a:rPr lang="en-US" sz="2400" dirty="0">
                          <a:latin typeface="Garamond" panose="02020404030301010803" pitchFamily="18" charset="0"/>
                        </a:rPr>
                        <a:t>Services cannot be inventoried.</a:t>
                      </a:r>
                    </a:p>
                    <a:p>
                      <a:pPr marL="171450" indent="-171450">
                        <a:buFont typeface="Arial" panose="020B0604020202020204" pitchFamily="34" charset="0"/>
                        <a:buChar char="•"/>
                      </a:pPr>
                      <a:r>
                        <a:rPr lang="en-US" sz="2400" dirty="0">
                          <a:latin typeface="Garamond" panose="02020404030301010803" pitchFamily="18" charset="0"/>
                        </a:rPr>
                        <a:t>Services cannot be easily patented.</a:t>
                      </a:r>
                    </a:p>
                    <a:p>
                      <a:pPr marL="171450" indent="-171450">
                        <a:buFont typeface="Arial" panose="020B0604020202020204" pitchFamily="34" charset="0"/>
                        <a:buChar char="•"/>
                      </a:pPr>
                      <a:r>
                        <a:rPr lang="en-US" sz="2400" dirty="0">
                          <a:latin typeface="Garamond" panose="02020404030301010803" pitchFamily="18" charset="0"/>
                        </a:rPr>
                        <a:t>Services cannot be readily displayed or communicated.</a:t>
                      </a:r>
                    </a:p>
                    <a:p>
                      <a:pPr marL="171450" indent="-171450">
                        <a:buFont typeface="Arial" panose="020B0604020202020204" pitchFamily="34" charset="0"/>
                        <a:buChar char="•"/>
                      </a:pPr>
                      <a:r>
                        <a:rPr lang="en-US" sz="2400" dirty="0">
                          <a:latin typeface="Garamond" panose="02020404030301010803" pitchFamily="18" charset="0"/>
                        </a:rPr>
                        <a:t>Pricing is difficult.</a:t>
                      </a:r>
                    </a:p>
                  </a:txBody>
                  <a:tcPr anchor="ctr"/>
                </a:tc>
                <a:extLst>
                  <a:ext uri="{0D108BD9-81ED-4DB2-BD59-A6C34878D82A}">
                    <a16:rowId xmlns:a16="http://schemas.microsoft.com/office/drawing/2014/main" val="991332338"/>
                  </a:ext>
                </a:extLst>
              </a:tr>
              <a:tr h="2119995">
                <a:tc>
                  <a:txBody>
                    <a:bodyPr/>
                    <a:lstStyle/>
                    <a:p>
                      <a:r>
                        <a:rPr lang="en-US" sz="2400" dirty="0">
                          <a:latin typeface="Garamond" panose="02020404030301010803" pitchFamily="18" charset="0"/>
                        </a:rPr>
                        <a:t>Standardized</a:t>
                      </a:r>
                    </a:p>
                  </a:txBody>
                  <a:tcPr anchor="ctr">
                    <a:solidFill>
                      <a:schemeClr val="accent5">
                        <a:lumMod val="20000"/>
                        <a:lumOff val="80000"/>
                      </a:schemeClr>
                    </a:solidFill>
                  </a:tcPr>
                </a:tc>
                <a:tc>
                  <a:txBody>
                    <a:bodyPr/>
                    <a:lstStyle/>
                    <a:p>
                      <a:r>
                        <a:rPr lang="en-US" sz="2400" dirty="0">
                          <a:latin typeface="Garamond" panose="02020404030301010803" pitchFamily="18" charset="0"/>
                        </a:rPr>
                        <a:t>Heterogeneous</a:t>
                      </a:r>
                    </a:p>
                  </a:txBody>
                  <a:tcPr anchor="ctr">
                    <a:solidFill>
                      <a:schemeClr val="accent5">
                        <a:lumMod val="20000"/>
                        <a:lumOff val="80000"/>
                      </a:schemeClr>
                    </a:solidFill>
                  </a:tcPr>
                </a:tc>
                <a:tc>
                  <a:txBody>
                    <a:bodyPr/>
                    <a:lstStyle/>
                    <a:p>
                      <a:pPr marL="171450" indent="-171450">
                        <a:buFont typeface="Arial" panose="020B0604020202020204" pitchFamily="34" charset="0"/>
                        <a:buChar char="•"/>
                      </a:pPr>
                      <a:r>
                        <a:rPr lang="en-US" sz="2400" dirty="0">
                          <a:latin typeface="Garamond" panose="02020404030301010803" pitchFamily="18" charset="0"/>
                        </a:rPr>
                        <a:t>Service delivery and customer satisfaction depend on employee and customer actions.</a:t>
                      </a:r>
                    </a:p>
                    <a:p>
                      <a:pPr marL="171450" indent="-171450">
                        <a:buFont typeface="Arial" panose="020B0604020202020204" pitchFamily="34" charset="0"/>
                        <a:buChar char="•"/>
                      </a:pPr>
                      <a:r>
                        <a:rPr lang="en-US" sz="2400" dirty="0">
                          <a:latin typeface="Garamond" panose="02020404030301010803" pitchFamily="18" charset="0"/>
                        </a:rPr>
                        <a:t>Service quality depends on many uncontrollable factors.</a:t>
                      </a:r>
                    </a:p>
                    <a:p>
                      <a:pPr marL="171450" indent="-171450">
                        <a:buFont typeface="Arial" panose="020B0604020202020204" pitchFamily="34" charset="0"/>
                        <a:buChar char="•"/>
                      </a:pPr>
                      <a:r>
                        <a:rPr lang="en-US" sz="2400" dirty="0">
                          <a:latin typeface="Garamond" panose="02020404030301010803" pitchFamily="18" charset="0"/>
                        </a:rPr>
                        <a:t>There is no sure knowledge that the service delivered matches what was planned and promoted.</a:t>
                      </a:r>
                    </a:p>
                  </a:txBody>
                  <a:tcPr anchor="ctr">
                    <a:solidFill>
                      <a:schemeClr val="accent5">
                        <a:lumMod val="20000"/>
                        <a:lumOff val="80000"/>
                      </a:schemeClr>
                    </a:solidFill>
                  </a:tcPr>
                </a:tc>
                <a:extLst>
                  <a:ext uri="{0D108BD9-81ED-4DB2-BD59-A6C34878D82A}">
                    <a16:rowId xmlns:a16="http://schemas.microsoft.com/office/drawing/2014/main" val="3949574415"/>
                  </a:ext>
                </a:extLst>
              </a:tr>
            </a:tbl>
          </a:graphicData>
        </a:graphic>
      </p:graphicFrame>
      <p:sp>
        <p:nvSpPr>
          <p:cNvPr id="14" name="Title 1">
            <a:extLst>
              <a:ext uri="{FF2B5EF4-FFF2-40B4-BE49-F238E27FC236}">
                <a16:creationId xmlns:a16="http://schemas.microsoft.com/office/drawing/2014/main" id="{28970EF8-8CB7-92FF-AF39-3642BCE92975}"/>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Tree>
    <p:extLst>
      <p:ext uri="{BB962C8B-B14F-4D97-AF65-F5344CB8AC3E}">
        <p14:creationId xmlns:p14="http://schemas.microsoft.com/office/powerpoint/2010/main" val="158875751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normAutofit/>
          </a:bodyPr>
          <a:lstStyle/>
          <a:p>
            <a:pPr algn="ctr"/>
            <a:r>
              <a:rPr lang="en-US" altLang="en-US" sz="3600" b="1" dirty="0">
                <a:solidFill>
                  <a:srgbClr val="0B5395"/>
                </a:solidFill>
                <a:latin typeface="Garamond" panose="02020404030301010803" pitchFamily="18" charset="0"/>
              </a:rPr>
              <a:t>Heterogeneity</a:t>
            </a:r>
          </a:p>
        </p:txBody>
      </p:sp>
      <p:pic>
        <p:nvPicPr>
          <p:cNvPr id="16" name="Picture 15">
            <a:extLst>
              <a:ext uri="{FF2B5EF4-FFF2-40B4-BE49-F238E27FC236}">
                <a16:creationId xmlns:a16="http://schemas.microsoft.com/office/drawing/2014/main" id="{A4684C92-1889-0A3D-F802-8E263ED1B546}"/>
              </a:ext>
            </a:extLst>
          </p:cNvPr>
          <p:cNvPicPr>
            <a:picLocks noChangeAspect="1"/>
          </p:cNvPicPr>
          <p:nvPr/>
        </p:nvPicPr>
        <p:blipFill rotWithShape="1">
          <a:blip r:embed="rId3"/>
          <a:srcRect b="50000"/>
          <a:stretch/>
        </p:blipFill>
        <p:spPr>
          <a:xfrm>
            <a:off x="1328515" y="1899044"/>
            <a:ext cx="9534970" cy="1072989"/>
          </a:xfrm>
          <a:prstGeom prst="rect">
            <a:avLst/>
          </a:prstGeom>
        </p:spPr>
      </p:pic>
      <p:pic>
        <p:nvPicPr>
          <p:cNvPr id="25" name="Picture 24">
            <a:extLst>
              <a:ext uri="{FF2B5EF4-FFF2-40B4-BE49-F238E27FC236}">
                <a16:creationId xmlns:a16="http://schemas.microsoft.com/office/drawing/2014/main" id="{A2A9D1FD-AF30-54B6-EFD5-D9602C9AA3EA}"/>
              </a:ext>
            </a:extLst>
          </p:cNvPr>
          <p:cNvPicPr>
            <a:picLocks noChangeAspect="1"/>
          </p:cNvPicPr>
          <p:nvPr/>
        </p:nvPicPr>
        <p:blipFill>
          <a:blip r:embed="rId4"/>
          <a:stretch>
            <a:fillRect/>
          </a:stretch>
        </p:blipFill>
        <p:spPr>
          <a:xfrm>
            <a:off x="783985" y="3500108"/>
            <a:ext cx="10406774" cy="1804572"/>
          </a:xfrm>
          <a:prstGeom prst="rect">
            <a:avLst/>
          </a:prstGeom>
        </p:spPr>
      </p:pic>
    </p:spTree>
    <p:extLst>
      <p:ext uri="{BB962C8B-B14F-4D97-AF65-F5344CB8AC3E}">
        <p14:creationId xmlns:p14="http://schemas.microsoft.com/office/powerpoint/2010/main" val="41391234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D6AAF19D-775F-7C83-9B6E-7679B2EE48D1}"/>
              </a:ext>
            </a:extLst>
          </p:cNvPr>
          <p:cNvGraphicFramePr>
            <a:graphicFrameLocks noGrp="1"/>
          </p:cNvGraphicFramePr>
          <p:nvPr>
            <p:ph idx="1"/>
            <p:extLst>
              <p:ext uri="{D42A27DB-BD31-4B8C-83A1-F6EECF244321}">
                <p14:modId xmlns:p14="http://schemas.microsoft.com/office/powerpoint/2010/main" val="3124098778"/>
              </p:ext>
            </p:extLst>
          </p:nvPr>
        </p:nvGraphicFramePr>
        <p:xfrm>
          <a:off x="953729" y="1297858"/>
          <a:ext cx="10540182" cy="3931920"/>
        </p:xfrm>
        <a:graphic>
          <a:graphicData uri="http://schemas.openxmlformats.org/drawingml/2006/table">
            <a:tbl>
              <a:tblPr firstRow="1">
                <a:tableStyleId>{073A0DAA-6AF3-43AB-8588-CEC1D06C72B9}</a:tableStyleId>
              </a:tblPr>
              <a:tblGrid>
                <a:gridCol w="2018071">
                  <a:extLst>
                    <a:ext uri="{9D8B030D-6E8A-4147-A177-3AD203B41FA5}">
                      <a16:colId xmlns:a16="http://schemas.microsoft.com/office/drawing/2014/main" val="2019304911"/>
                    </a:ext>
                  </a:extLst>
                </a:gridCol>
                <a:gridCol w="2133600">
                  <a:extLst>
                    <a:ext uri="{9D8B030D-6E8A-4147-A177-3AD203B41FA5}">
                      <a16:colId xmlns:a16="http://schemas.microsoft.com/office/drawing/2014/main" val="2096477519"/>
                    </a:ext>
                  </a:extLst>
                </a:gridCol>
                <a:gridCol w="6388511">
                  <a:extLst>
                    <a:ext uri="{9D8B030D-6E8A-4147-A177-3AD203B41FA5}">
                      <a16:colId xmlns:a16="http://schemas.microsoft.com/office/drawing/2014/main" val="2355744077"/>
                    </a:ext>
                  </a:extLst>
                </a:gridCol>
              </a:tblGrid>
              <a:tr h="328803">
                <a:tc>
                  <a:txBody>
                    <a:bodyPr/>
                    <a:lstStyle/>
                    <a:p>
                      <a:r>
                        <a:rPr lang="en-US" sz="2400" dirty="0">
                          <a:latin typeface="Garamond" panose="02020404030301010803" pitchFamily="18" charset="0"/>
                        </a:rPr>
                        <a:t>Goods</a:t>
                      </a:r>
                    </a:p>
                  </a:txBody>
                  <a:tcPr anchor="ctr"/>
                </a:tc>
                <a:tc>
                  <a:txBody>
                    <a:bodyPr/>
                    <a:lstStyle/>
                    <a:p>
                      <a:r>
                        <a:rPr lang="en-US" sz="2400" dirty="0">
                          <a:latin typeface="Garamond" panose="02020404030301010803" pitchFamily="18" charset="0"/>
                        </a:rPr>
                        <a:t>Services</a:t>
                      </a:r>
                    </a:p>
                  </a:txBody>
                  <a:tcPr anchor="ctr"/>
                </a:tc>
                <a:tc>
                  <a:txBody>
                    <a:bodyPr/>
                    <a:lstStyle/>
                    <a:p>
                      <a:r>
                        <a:rPr lang="en-US" sz="2400" dirty="0">
                          <a:latin typeface="Garamond" panose="02020404030301010803" pitchFamily="18" charset="0"/>
                        </a:rPr>
                        <a:t>Resulting Implications</a:t>
                      </a:r>
                    </a:p>
                  </a:txBody>
                  <a:tcPr anchor="ctr"/>
                </a:tc>
                <a:extLst>
                  <a:ext uri="{0D108BD9-81ED-4DB2-BD59-A6C34878D82A}">
                    <a16:rowId xmlns:a16="http://schemas.microsoft.com/office/drawing/2014/main" val="4261316152"/>
                  </a:ext>
                </a:extLst>
              </a:tr>
              <a:tr h="1408287">
                <a:tc>
                  <a:txBody>
                    <a:bodyPr/>
                    <a:lstStyle/>
                    <a:p>
                      <a:r>
                        <a:rPr lang="en-US" sz="2400" dirty="0">
                          <a:latin typeface="Garamond" panose="02020404030301010803" pitchFamily="18" charset="0"/>
                        </a:rPr>
                        <a:t>Production separate from consumption</a:t>
                      </a:r>
                    </a:p>
                  </a:txBody>
                  <a:tcPr anchor="ctr">
                    <a:solidFill>
                      <a:schemeClr val="accent5">
                        <a:lumMod val="20000"/>
                        <a:lumOff val="80000"/>
                      </a:schemeClr>
                    </a:solidFill>
                  </a:tcPr>
                </a:tc>
                <a:tc>
                  <a:txBody>
                    <a:bodyPr/>
                    <a:lstStyle/>
                    <a:p>
                      <a:r>
                        <a:rPr lang="en-US" sz="2400" dirty="0">
                          <a:latin typeface="Garamond" panose="02020404030301010803" pitchFamily="18" charset="0"/>
                        </a:rPr>
                        <a:t>Simultaneous production and consumption</a:t>
                      </a:r>
                    </a:p>
                  </a:txBody>
                  <a:tcPr anchor="ctr">
                    <a:solidFill>
                      <a:schemeClr val="accent5">
                        <a:lumMod val="20000"/>
                        <a:lumOff val="80000"/>
                      </a:schemeClr>
                    </a:solidFill>
                  </a:tcPr>
                </a:tc>
                <a:tc>
                  <a:txBody>
                    <a:bodyPr/>
                    <a:lstStyle/>
                    <a:p>
                      <a:pPr marL="171450" indent="-171450">
                        <a:buFont typeface="Arial" panose="020B0604020202020204" pitchFamily="34" charset="0"/>
                        <a:buChar char="•"/>
                      </a:pPr>
                      <a:r>
                        <a:rPr lang="en-US" sz="2400" dirty="0">
                          <a:latin typeface="Garamond" panose="02020404030301010803" pitchFamily="18" charset="0"/>
                        </a:rPr>
                        <a:t>Customers participate in and affect the transaction.</a:t>
                      </a:r>
                    </a:p>
                    <a:p>
                      <a:pPr marL="171450" indent="-171450">
                        <a:buFont typeface="Arial" panose="020B0604020202020204" pitchFamily="34" charset="0"/>
                        <a:buChar char="•"/>
                      </a:pPr>
                      <a:r>
                        <a:rPr lang="en-US" sz="2400" dirty="0">
                          <a:latin typeface="Garamond" panose="02020404030301010803" pitchFamily="18" charset="0"/>
                        </a:rPr>
                        <a:t>Customers affect each other.</a:t>
                      </a:r>
                    </a:p>
                    <a:p>
                      <a:pPr marL="171450" indent="-171450">
                        <a:buFont typeface="Arial" panose="020B0604020202020204" pitchFamily="34" charset="0"/>
                        <a:buChar char="•"/>
                      </a:pPr>
                      <a:r>
                        <a:rPr lang="en-US" sz="2400" dirty="0">
                          <a:latin typeface="Garamond" panose="02020404030301010803" pitchFamily="18" charset="0"/>
                        </a:rPr>
                        <a:t>Employees affect the service outcome.</a:t>
                      </a:r>
                    </a:p>
                    <a:p>
                      <a:pPr marL="171450" indent="-171450">
                        <a:buFont typeface="Arial" panose="020B0604020202020204" pitchFamily="34" charset="0"/>
                        <a:buChar char="•"/>
                      </a:pPr>
                      <a:r>
                        <a:rPr lang="en-US" sz="2400" dirty="0">
                          <a:latin typeface="Garamond" panose="02020404030301010803" pitchFamily="18" charset="0"/>
                        </a:rPr>
                        <a:t>Mass production is difficult.</a:t>
                      </a:r>
                    </a:p>
                  </a:txBody>
                  <a:tcPr anchor="ctr">
                    <a:solidFill>
                      <a:schemeClr val="accent5">
                        <a:lumMod val="20000"/>
                        <a:lumOff val="80000"/>
                      </a:schemeClr>
                    </a:solidFill>
                  </a:tcPr>
                </a:tc>
                <a:extLst>
                  <a:ext uri="{0D108BD9-81ED-4DB2-BD59-A6C34878D82A}">
                    <a16:rowId xmlns:a16="http://schemas.microsoft.com/office/drawing/2014/main" val="3519476138"/>
                  </a:ext>
                </a:extLst>
              </a:tr>
              <a:tr h="844972">
                <a:tc>
                  <a:txBody>
                    <a:bodyPr/>
                    <a:lstStyle/>
                    <a:p>
                      <a:r>
                        <a:rPr lang="en-US" sz="2400" dirty="0">
                          <a:latin typeface="Garamond" panose="02020404030301010803" pitchFamily="18" charset="0"/>
                        </a:rPr>
                        <a:t>Nonperishable</a:t>
                      </a:r>
                    </a:p>
                  </a:txBody>
                  <a:tcPr anchor="ctr"/>
                </a:tc>
                <a:tc>
                  <a:txBody>
                    <a:bodyPr/>
                    <a:lstStyle/>
                    <a:p>
                      <a:r>
                        <a:rPr lang="en-US" sz="2400" dirty="0">
                          <a:latin typeface="Garamond" panose="02020404030301010803" pitchFamily="18" charset="0"/>
                        </a:rPr>
                        <a:t>Perishable</a:t>
                      </a:r>
                    </a:p>
                  </a:txBody>
                  <a:tcPr anchor="ctr"/>
                </a:tc>
                <a:tc>
                  <a:txBody>
                    <a:bodyPr/>
                    <a:lstStyle/>
                    <a:p>
                      <a:pPr marL="171450" indent="-171450">
                        <a:buFont typeface="Arial" panose="020B0604020202020204" pitchFamily="34" charset="0"/>
                        <a:buChar char="•"/>
                      </a:pPr>
                      <a:r>
                        <a:rPr lang="en-US" sz="2400" dirty="0">
                          <a:latin typeface="Garamond" panose="02020404030301010803" pitchFamily="18" charset="0"/>
                        </a:rPr>
                        <a:t>It is difficult to synchronize supply and demand of services.</a:t>
                      </a:r>
                    </a:p>
                    <a:p>
                      <a:pPr marL="171450" indent="-171450">
                        <a:buFont typeface="Arial" panose="020B0604020202020204" pitchFamily="34" charset="0"/>
                        <a:buChar char="•"/>
                      </a:pPr>
                      <a:r>
                        <a:rPr lang="en-US" sz="2400" dirty="0">
                          <a:latin typeface="Garamond" panose="02020404030301010803" pitchFamily="18" charset="0"/>
                        </a:rPr>
                        <a:t>Services cannot be returned and sold.</a:t>
                      </a:r>
                    </a:p>
                    <a:p>
                      <a:pPr marL="171450" indent="-171450">
                        <a:buFont typeface="Arial" panose="020B0604020202020204" pitchFamily="34" charset="0"/>
                        <a:buChar char="•"/>
                      </a:pPr>
                      <a:r>
                        <a:rPr lang="en-US" sz="2400" dirty="0">
                          <a:latin typeface="Garamond" panose="02020404030301010803" pitchFamily="18" charset="0"/>
                        </a:rPr>
                        <a:t>Services for any given time-period cannot be sold or delivered at a later date.</a:t>
                      </a:r>
                    </a:p>
                  </a:txBody>
                  <a:tcPr anchor="ctr"/>
                </a:tc>
                <a:extLst>
                  <a:ext uri="{0D108BD9-81ED-4DB2-BD59-A6C34878D82A}">
                    <a16:rowId xmlns:a16="http://schemas.microsoft.com/office/drawing/2014/main" val="2119847966"/>
                  </a:ext>
                </a:extLst>
              </a:tr>
            </a:tbl>
          </a:graphicData>
        </a:graphic>
      </p:graphicFrame>
      <p:sp>
        <p:nvSpPr>
          <p:cNvPr id="14" name="Title 1">
            <a:extLst>
              <a:ext uri="{FF2B5EF4-FFF2-40B4-BE49-F238E27FC236}">
                <a16:creationId xmlns:a16="http://schemas.microsoft.com/office/drawing/2014/main" id="{EAC6C4FA-9F71-C534-ECF4-19F1D132ED34}"/>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Tree>
    <p:extLst>
      <p:ext uri="{BB962C8B-B14F-4D97-AF65-F5344CB8AC3E}">
        <p14:creationId xmlns:p14="http://schemas.microsoft.com/office/powerpoint/2010/main" val="30414603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693607" y="591765"/>
            <a:ext cx="8804787" cy="1143000"/>
          </a:xfrm>
        </p:spPr>
        <p:txBody>
          <a:bodyPr>
            <a:normAutofit/>
          </a:bodyPr>
          <a:lstStyle/>
          <a:p>
            <a:pPr algn="ctr"/>
            <a:r>
              <a:rPr lang="en-US" altLang="en-US" sz="3600" dirty="0">
                <a:solidFill>
                  <a:srgbClr val="0B5395"/>
                </a:solidFill>
                <a:latin typeface="Garamond" panose="02020404030301010803" pitchFamily="18" charset="0"/>
              </a:rPr>
              <a:t>Simultaneous Production and Consumption</a:t>
            </a:r>
            <a:endParaRPr lang="en-US" altLang="en-US" sz="3600" b="1" dirty="0">
              <a:solidFill>
                <a:srgbClr val="0B5395"/>
              </a:solidFill>
              <a:latin typeface="Garamond" panose="02020404030301010803" pitchFamily="18" charset="0"/>
            </a:endParaRPr>
          </a:p>
        </p:txBody>
      </p:sp>
      <p:pic>
        <p:nvPicPr>
          <p:cNvPr id="5122" name="Picture 2" descr="7 Ways That Teachers Can Improve Their Lessons | by Europass">
            <a:extLst>
              <a:ext uri="{FF2B5EF4-FFF2-40B4-BE49-F238E27FC236}">
                <a16:creationId xmlns:a16="http://schemas.microsoft.com/office/drawing/2014/main" id="{5627D671-C387-A21F-3374-A6A8C46E7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34" y="1924665"/>
            <a:ext cx="3242206" cy="259376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Everyday conversations: Ordering a meal | ShareAmerica">
            <a:extLst>
              <a:ext uri="{FF2B5EF4-FFF2-40B4-BE49-F238E27FC236}">
                <a16:creationId xmlns:a16="http://schemas.microsoft.com/office/drawing/2014/main" id="{534758CA-FD62-5F00-DB53-6B0CC55060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8299" y="2594863"/>
            <a:ext cx="3888846" cy="259376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The incredible shrinking airplane, and what's causing those tantrums in the  sky – Orange County Register">
            <a:extLst>
              <a:ext uri="{FF2B5EF4-FFF2-40B4-BE49-F238E27FC236}">
                <a16:creationId xmlns:a16="http://schemas.microsoft.com/office/drawing/2014/main" id="{989F0565-6E02-CE84-03E3-1D50081594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7004" y="3436374"/>
            <a:ext cx="4093405" cy="2593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459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FF12F-7FD2-E9D4-7230-9C5545900A11}"/>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DB59BF4D-6DD9-AD9E-8E77-FF947044122B}"/>
              </a:ext>
            </a:extLst>
          </p:cNvPr>
          <p:cNvGraphicFramePr>
            <a:graphicFrameLocks noGrp="1"/>
          </p:cNvGraphicFramePr>
          <p:nvPr>
            <p:ph idx="1"/>
            <p:extLst>
              <p:ext uri="{D42A27DB-BD31-4B8C-83A1-F6EECF244321}">
                <p14:modId xmlns:p14="http://schemas.microsoft.com/office/powerpoint/2010/main" val="3633474095"/>
              </p:ext>
            </p:extLst>
          </p:nvPr>
        </p:nvGraphicFramePr>
        <p:xfrm>
          <a:off x="953729" y="1297858"/>
          <a:ext cx="10540182" cy="3931920"/>
        </p:xfrm>
        <a:graphic>
          <a:graphicData uri="http://schemas.openxmlformats.org/drawingml/2006/table">
            <a:tbl>
              <a:tblPr firstRow="1">
                <a:tableStyleId>{073A0DAA-6AF3-43AB-8588-CEC1D06C72B9}</a:tableStyleId>
              </a:tblPr>
              <a:tblGrid>
                <a:gridCol w="2018071">
                  <a:extLst>
                    <a:ext uri="{9D8B030D-6E8A-4147-A177-3AD203B41FA5}">
                      <a16:colId xmlns:a16="http://schemas.microsoft.com/office/drawing/2014/main" val="2019304911"/>
                    </a:ext>
                  </a:extLst>
                </a:gridCol>
                <a:gridCol w="2133600">
                  <a:extLst>
                    <a:ext uri="{9D8B030D-6E8A-4147-A177-3AD203B41FA5}">
                      <a16:colId xmlns:a16="http://schemas.microsoft.com/office/drawing/2014/main" val="2096477519"/>
                    </a:ext>
                  </a:extLst>
                </a:gridCol>
                <a:gridCol w="6388511">
                  <a:extLst>
                    <a:ext uri="{9D8B030D-6E8A-4147-A177-3AD203B41FA5}">
                      <a16:colId xmlns:a16="http://schemas.microsoft.com/office/drawing/2014/main" val="2355744077"/>
                    </a:ext>
                  </a:extLst>
                </a:gridCol>
              </a:tblGrid>
              <a:tr h="328803">
                <a:tc>
                  <a:txBody>
                    <a:bodyPr/>
                    <a:lstStyle/>
                    <a:p>
                      <a:r>
                        <a:rPr lang="en-US" sz="2400" dirty="0">
                          <a:latin typeface="Garamond" panose="02020404030301010803" pitchFamily="18" charset="0"/>
                        </a:rPr>
                        <a:t>Goods</a:t>
                      </a:r>
                    </a:p>
                  </a:txBody>
                  <a:tcPr anchor="ctr"/>
                </a:tc>
                <a:tc>
                  <a:txBody>
                    <a:bodyPr/>
                    <a:lstStyle/>
                    <a:p>
                      <a:r>
                        <a:rPr lang="en-US" sz="2400" dirty="0">
                          <a:latin typeface="Garamond" panose="02020404030301010803" pitchFamily="18" charset="0"/>
                        </a:rPr>
                        <a:t>Services</a:t>
                      </a:r>
                    </a:p>
                  </a:txBody>
                  <a:tcPr anchor="ctr"/>
                </a:tc>
                <a:tc>
                  <a:txBody>
                    <a:bodyPr/>
                    <a:lstStyle/>
                    <a:p>
                      <a:r>
                        <a:rPr lang="en-US" sz="2400" dirty="0">
                          <a:latin typeface="Garamond" panose="02020404030301010803" pitchFamily="18" charset="0"/>
                        </a:rPr>
                        <a:t>Resulting Implications</a:t>
                      </a:r>
                    </a:p>
                  </a:txBody>
                  <a:tcPr anchor="ctr"/>
                </a:tc>
                <a:extLst>
                  <a:ext uri="{0D108BD9-81ED-4DB2-BD59-A6C34878D82A}">
                    <a16:rowId xmlns:a16="http://schemas.microsoft.com/office/drawing/2014/main" val="4261316152"/>
                  </a:ext>
                </a:extLst>
              </a:tr>
              <a:tr h="1408287">
                <a:tc>
                  <a:txBody>
                    <a:bodyPr/>
                    <a:lstStyle/>
                    <a:p>
                      <a:r>
                        <a:rPr lang="en-US" sz="2400" dirty="0">
                          <a:latin typeface="Garamond" panose="02020404030301010803" pitchFamily="18" charset="0"/>
                        </a:rPr>
                        <a:t>Production separate from consumption</a:t>
                      </a:r>
                    </a:p>
                  </a:txBody>
                  <a:tcPr anchor="ctr"/>
                </a:tc>
                <a:tc>
                  <a:txBody>
                    <a:bodyPr/>
                    <a:lstStyle/>
                    <a:p>
                      <a:r>
                        <a:rPr lang="en-US" sz="2400" dirty="0">
                          <a:latin typeface="Garamond" panose="02020404030301010803" pitchFamily="18" charset="0"/>
                        </a:rPr>
                        <a:t>Simultaneous production and consumption</a:t>
                      </a:r>
                    </a:p>
                  </a:txBody>
                  <a:tcPr anchor="ctr"/>
                </a:tc>
                <a:tc>
                  <a:txBody>
                    <a:bodyPr/>
                    <a:lstStyle/>
                    <a:p>
                      <a:pPr marL="171450" indent="-171450">
                        <a:buFont typeface="Arial" panose="020B0604020202020204" pitchFamily="34" charset="0"/>
                        <a:buChar char="•"/>
                      </a:pPr>
                      <a:r>
                        <a:rPr lang="en-US" sz="2400" dirty="0">
                          <a:latin typeface="Garamond" panose="02020404030301010803" pitchFamily="18" charset="0"/>
                        </a:rPr>
                        <a:t>Customers participate in and affect the transaction.</a:t>
                      </a:r>
                    </a:p>
                    <a:p>
                      <a:pPr marL="171450" indent="-171450">
                        <a:buFont typeface="Arial" panose="020B0604020202020204" pitchFamily="34" charset="0"/>
                        <a:buChar char="•"/>
                      </a:pPr>
                      <a:r>
                        <a:rPr lang="en-US" sz="2400" dirty="0">
                          <a:latin typeface="Garamond" panose="02020404030301010803" pitchFamily="18" charset="0"/>
                        </a:rPr>
                        <a:t>Customers affect each other.</a:t>
                      </a:r>
                    </a:p>
                    <a:p>
                      <a:pPr marL="171450" indent="-171450">
                        <a:buFont typeface="Arial" panose="020B0604020202020204" pitchFamily="34" charset="0"/>
                        <a:buChar char="•"/>
                      </a:pPr>
                      <a:r>
                        <a:rPr lang="en-US" sz="2400" dirty="0">
                          <a:latin typeface="Garamond" panose="02020404030301010803" pitchFamily="18" charset="0"/>
                        </a:rPr>
                        <a:t>Employees affect the service outcome.</a:t>
                      </a:r>
                    </a:p>
                    <a:p>
                      <a:pPr marL="171450" indent="-171450">
                        <a:buFont typeface="Arial" panose="020B0604020202020204" pitchFamily="34" charset="0"/>
                        <a:buChar char="•"/>
                      </a:pPr>
                      <a:r>
                        <a:rPr lang="en-US" sz="2400" dirty="0">
                          <a:latin typeface="Garamond" panose="02020404030301010803" pitchFamily="18" charset="0"/>
                        </a:rPr>
                        <a:t>Mass production is difficult.</a:t>
                      </a:r>
                    </a:p>
                  </a:txBody>
                  <a:tcPr anchor="ctr"/>
                </a:tc>
                <a:extLst>
                  <a:ext uri="{0D108BD9-81ED-4DB2-BD59-A6C34878D82A}">
                    <a16:rowId xmlns:a16="http://schemas.microsoft.com/office/drawing/2014/main" val="3519476138"/>
                  </a:ext>
                </a:extLst>
              </a:tr>
              <a:tr h="844972">
                <a:tc>
                  <a:txBody>
                    <a:bodyPr/>
                    <a:lstStyle/>
                    <a:p>
                      <a:r>
                        <a:rPr lang="en-US" sz="2400" dirty="0">
                          <a:latin typeface="Garamond" panose="02020404030301010803" pitchFamily="18" charset="0"/>
                        </a:rPr>
                        <a:t>Nonperishable</a:t>
                      </a:r>
                    </a:p>
                  </a:txBody>
                  <a:tcPr anchor="ctr">
                    <a:solidFill>
                      <a:schemeClr val="accent5">
                        <a:lumMod val="20000"/>
                        <a:lumOff val="80000"/>
                      </a:schemeClr>
                    </a:solidFill>
                  </a:tcPr>
                </a:tc>
                <a:tc>
                  <a:txBody>
                    <a:bodyPr/>
                    <a:lstStyle/>
                    <a:p>
                      <a:r>
                        <a:rPr lang="en-US" sz="2400" dirty="0">
                          <a:latin typeface="Garamond" panose="02020404030301010803" pitchFamily="18" charset="0"/>
                        </a:rPr>
                        <a:t>Perishable</a:t>
                      </a:r>
                    </a:p>
                  </a:txBody>
                  <a:tcPr anchor="ctr">
                    <a:solidFill>
                      <a:schemeClr val="accent5">
                        <a:lumMod val="20000"/>
                        <a:lumOff val="80000"/>
                      </a:schemeClr>
                    </a:solidFill>
                  </a:tcPr>
                </a:tc>
                <a:tc>
                  <a:txBody>
                    <a:bodyPr/>
                    <a:lstStyle/>
                    <a:p>
                      <a:pPr marL="171450" indent="-171450">
                        <a:buFont typeface="Arial" panose="020B0604020202020204" pitchFamily="34" charset="0"/>
                        <a:buChar char="•"/>
                      </a:pPr>
                      <a:r>
                        <a:rPr lang="en-US" sz="2400" dirty="0">
                          <a:latin typeface="Garamond" panose="02020404030301010803" pitchFamily="18" charset="0"/>
                        </a:rPr>
                        <a:t>It is difficult to synchronize supply and demand of services.</a:t>
                      </a:r>
                    </a:p>
                    <a:p>
                      <a:pPr marL="171450" indent="-171450">
                        <a:buFont typeface="Arial" panose="020B0604020202020204" pitchFamily="34" charset="0"/>
                        <a:buChar char="•"/>
                      </a:pPr>
                      <a:r>
                        <a:rPr lang="en-US" sz="2400" dirty="0">
                          <a:latin typeface="Garamond" panose="02020404030301010803" pitchFamily="18" charset="0"/>
                        </a:rPr>
                        <a:t>Services cannot be returned and sold.</a:t>
                      </a:r>
                    </a:p>
                    <a:p>
                      <a:pPr marL="171450" indent="-171450">
                        <a:buFont typeface="Arial" panose="020B0604020202020204" pitchFamily="34" charset="0"/>
                        <a:buChar char="•"/>
                      </a:pPr>
                      <a:r>
                        <a:rPr lang="en-US" sz="2400" dirty="0">
                          <a:latin typeface="Garamond" panose="02020404030301010803" pitchFamily="18" charset="0"/>
                        </a:rPr>
                        <a:t>Services for any given time-period cannot be sold or delivered at a later date.</a:t>
                      </a:r>
                    </a:p>
                  </a:txBody>
                  <a:tcPr anchor="ctr">
                    <a:solidFill>
                      <a:schemeClr val="accent5">
                        <a:lumMod val="20000"/>
                        <a:lumOff val="80000"/>
                      </a:schemeClr>
                    </a:solidFill>
                  </a:tcPr>
                </a:tc>
                <a:extLst>
                  <a:ext uri="{0D108BD9-81ED-4DB2-BD59-A6C34878D82A}">
                    <a16:rowId xmlns:a16="http://schemas.microsoft.com/office/drawing/2014/main" val="2119847966"/>
                  </a:ext>
                </a:extLst>
              </a:tr>
            </a:tbl>
          </a:graphicData>
        </a:graphic>
      </p:graphicFrame>
      <p:sp>
        <p:nvSpPr>
          <p:cNvPr id="14" name="Title 1">
            <a:extLst>
              <a:ext uri="{FF2B5EF4-FFF2-40B4-BE49-F238E27FC236}">
                <a16:creationId xmlns:a16="http://schemas.microsoft.com/office/drawing/2014/main" id="{C69DA219-3645-CDC4-FB1D-4AAA1B1AC157}"/>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Tree>
    <p:extLst>
      <p:ext uri="{BB962C8B-B14F-4D97-AF65-F5344CB8AC3E}">
        <p14:creationId xmlns:p14="http://schemas.microsoft.com/office/powerpoint/2010/main" val="22904899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693607" y="591765"/>
            <a:ext cx="8804787" cy="1143000"/>
          </a:xfrm>
        </p:spPr>
        <p:txBody>
          <a:bodyPr>
            <a:normAutofit/>
          </a:bodyPr>
          <a:lstStyle/>
          <a:p>
            <a:pPr algn="ctr"/>
            <a:r>
              <a:rPr lang="en-US" altLang="en-US" sz="3600" dirty="0">
                <a:solidFill>
                  <a:srgbClr val="0B5395"/>
                </a:solidFill>
                <a:latin typeface="Garamond" panose="02020404030301010803" pitchFamily="18" charset="0"/>
              </a:rPr>
              <a:t>Perishability</a:t>
            </a:r>
            <a:endParaRPr lang="en-US" altLang="en-US" sz="3600" b="1" dirty="0">
              <a:solidFill>
                <a:srgbClr val="0B5395"/>
              </a:solidFill>
              <a:latin typeface="Garamond" panose="02020404030301010803" pitchFamily="18" charset="0"/>
            </a:endParaRPr>
          </a:p>
        </p:txBody>
      </p:sp>
      <p:sp>
        <p:nvSpPr>
          <p:cNvPr id="2" name="Content Placeholder 2">
            <a:extLst>
              <a:ext uri="{FF2B5EF4-FFF2-40B4-BE49-F238E27FC236}">
                <a16:creationId xmlns:a16="http://schemas.microsoft.com/office/drawing/2014/main" id="{2810A6A4-B3A2-31C8-FF4E-6B4E3CCCBD31}"/>
              </a:ext>
            </a:extLst>
          </p:cNvPr>
          <p:cNvSpPr>
            <a:spLocks noGrp="1"/>
          </p:cNvSpPr>
          <p:nvPr>
            <p:ph idx="1"/>
          </p:nvPr>
        </p:nvSpPr>
        <p:spPr>
          <a:xfrm>
            <a:off x="1231490" y="2356185"/>
            <a:ext cx="4077929" cy="2873221"/>
          </a:xfrm>
        </p:spPr>
        <p:txBody>
          <a:bodyPr>
            <a:normAutofit/>
          </a:bodyPr>
          <a:lstStyle/>
          <a:p>
            <a:pPr marL="0" indent="0" algn="ctr">
              <a:buNone/>
            </a:pPr>
            <a:r>
              <a:rPr lang="en-US" sz="4000" i="0" u="none" strike="noStrike" kern="1200" dirty="0">
                <a:solidFill>
                  <a:schemeClr val="tx1"/>
                </a:solidFill>
                <a:effectLst/>
                <a:latin typeface="Garamond" panose="02020404030301010803" pitchFamily="18" charset="0"/>
              </a:rPr>
              <a:t>Services</a:t>
            </a:r>
            <a:r>
              <a:rPr lang="en-US" sz="4000" b="0" i="0" u="none" strike="noStrike" kern="1200" dirty="0">
                <a:solidFill>
                  <a:schemeClr val="tx1"/>
                </a:solidFill>
                <a:effectLst/>
                <a:latin typeface="Garamond" panose="02020404030301010803" pitchFamily="18" charset="0"/>
              </a:rPr>
              <a:t> </a:t>
            </a:r>
            <a:r>
              <a:rPr lang="en-US" sz="4000" b="1" i="0" u="none" strike="noStrike" kern="1200" dirty="0">
                <a:effectLst/>
                <a:latin typeface="Garamond" panose="02020404030301010803" pitchFamily="18" charset="0"/>
              </a:rPr>
              <a:t>cannot be stored, saved, returned, or resold </a:t>
            </a:r>
            <a:r>
              <a:rPr lang="en-US" sz="4000" b="0" i="0" u="none" strike="noStrike" kern="1200" dirty="0">
                <a:solidFill>
                  <a:schemeClr val="tx1"/>
                </a:solidFill>
                <a:effectLst/>
                <a:latin typeface="Garamond" panose="02020404030301010803" pitchFamily="18" charset="0"/>
              </a:rPr>
              <a:t>once they have been used.</a:t>
            </a:r>
            <a:endParaRPr lang="en-US" sz="4000" dirty="0">
              <a:latin typeface="Garamond" panose="02020404030301010803" pitchFamily="18" charset="0"/>
            </a:endParaRPr>
          </a:p>
        </p:txBody>
      </p:sp>
      <p:pic>
        <p:nvPicPr>
          <p:cNvPr id="2050" name="Picture 2" descr="Joanna Davidovich's Art &amp; Animation Blog: Bad Haircut">
            <a:extLst>
              <a:ext uri="{FF2B5EF4-FFF2-40B4-BE49-F238E27FC236}">
                <a16:creationId xmlns:a16="http://schemas.microsoft.com/office/drawing/2014/main" id="{9EEBE4E1-F6CD-074B-AFB6-4FCB3C5323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6830" y="2421854"/>
            <a:ext cx="5091266" cy="2741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6978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solidFill>
                  <a:srgbClr val="0B5395"/>
                </a:solidFill>
                <a:latin typeface="Garamond" panose="02020404030301010803" pitchFamily="18" charset="0"/>
              </a:rPr>
              <a:t>Expanded Marketing Mix (the 7Ps)</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1295400" y="1689905"/>
            <a:ext cx="9601200" cy="4101296"/>
          </a:xfrm>
        </p:spPr>
        <p:txBody>
          <a:bodyPr>
            <a:normAutofit/>
          </a:bodyPr>
          <a:lstStyle/>
          <a:p>
            <a:r>
              <a:rPr lang="en-US" sz="2400" dirty="0">
                <a:latin typeface="Garamond" panose="02020404030301010803" pitchFamily="18" charset="0"/>
              </a:rPr>
              <a:t>Product: physical good, packaging, warranties, etc.</a:t>
            </a:r>
          </a:p>
          <a:p>
            <a:r>
              <a:rPr lang="en-US" sz="2400" dirty="0">
                <a:latin typeface="Garamond" panose="02020404030301010803" pitchFamily="18" charset="0"/>
              </a:rPr>
              <a:t>Place: channel type(s), locations, storage, etc.</a:t>
            </a:r>
          </a:p>
          <a:p>
            <a:r>
              <a:rPr lang="en-US" sz="2400" dirty="0">
                <a:latin typeface="Garamond" panose="02020404030301010803" pitchFamily="18" charset="0"/>
              </a:rPr>
              <a:t>Promotion: salespeople, training, incentives, advertising, etc.</a:t>
            </a:r>
          </a:p>
          <a:p>
            <a:r>
              <a:rPr lang="en-US" sz="2400" dirty="0">
                <a:latin typeface="Garamond" panose="02020404030301010803" pitchFamily="18" charset="0"/>
              </a:rPr>
              <a:t>Price: price level, terms, discounts, etc.</a:t>
            </a:r>
          </a:p>
          <a:p>
            <a:r>
              <a:rPr lang="en-US" sz="2400" dirty="0">
                <a:latin typeface="Garamond" panose="02020404030301010803" pitchFamily="18" charset="0"/>
              </a:rPr>
              <a:t>People: employees and customers.</a:t>
            </a:r>
          </a:p>
          <a:p>
            <a:r>
              <a:rPr lang="en-US" sz="2400" dirty="0">
                <a:latin typeface="Garamond" panose="02020404030301010803" pitchFamily="18" charset="0"/>
              </a:rPr>
              <a:t>Physical Evidence: facility design, business cards, signage, etc.</a:t>
            </a:r>
          </a:p>
          <a:p>
            <a:r>
              <a:rPr lang="en-US" sz="2400" dirty="0">
                <a:latin typeface="Garamond" panose="02020404030301010803" pitchFamily="18" charset="0"/>
              </a:rPr>
              <a:t>Process: flow of activities, number of steps, customer involvement. </a:t>
            </a:r>
          </a:p>
        </p:txBody>
      </p:sp>
    </p:spTree>
    <p:extLst>
      <p:ext uri="{BB962C8B-B14F-4D97-AF65-F5344CB8AC3E}">
        <p14:creationId xmlns:p14="http://schemas.microsoft.com/office/powerpoint/2010/main" val="32231755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pic>
        <p:nvPicPr>
          <p:cNvPr id="1030" name="Picture 6" descr="PARADE Magazine: Rachel Dratch and Scott Adsit Reveal the Best New Products  of the Year | Product of the Year USA">
            <a:extLst>
              <a:ext uri="{FF2B5EF4-FFF2-40B4-BE49-F238E27FC236}">
                <a16:creationId xmlns:a16="http://schemas.microsoft.com/office/drawing/2014/main" id="{BB3D0200-3CCB-60DB-A9A2-41DFF7605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185169"/>
            <a:ext cx="8458200" cy="48609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D61A548-7E88-EC63-1876-58DA67B0BA75}"/>
              </a:ext>
            </a:extLst>
          </p:cNvPr>
          <p:cNvSpPr txBox="1"/>
          <p:nvPr/>
        </p:nvSpPr>
        <p:spPr>
          <a:xfrm>
            <a:off x="1752600" y="5799852"/>
            <a:ext cx="2383165" cy="246221"/>
          </a:xfrm>
          <a:prstGeom prst="rect">
            <a:avLst/>
          </a:prstGeom>
          <a:noFill/>
        </p:spPr>
        <p:txBody>
          <a:bodyPr wrap="square" rtlCol="0">
            <a:spAutoFit/>
          </a:bodyPr>
          <a:lstStyle/>
          <a:p>
            <a:r>
              <a:rPr lang="en-US" sz="1000" u="sng" dirty="0">
                <a:latin typeface="Garamond" panose="02020404030301010803" pitchFamily="18" charset="0"/>
              </a:rPr>
              <a:t>Source: NBC News</a:t>
            </a:r>
          </a:p>
        </p:txBody>
      </p:sp>
    </p:spTree>
    <p:extLst>
      <p:ext uri="{BB962C8B-B14F-4D97-AF65-F5344CB8AC3E}">
        <p14:creationId xmlns:p14="http://schemas.microsoft.com/office/powerpoint/2010/main" val="35971688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sp>
        <p:nvSpPr>
          <p:cNvPr id="8" name="TextBox 7">
            <a:extLst>
              <a:ext uri="{FF2B5EF4-FFF2-40B4-BE49-F238E27FC236}">
                <a16:creationId xmlns:a16="http://schemas.microsoft.com/office/drawing/2014/main" id="{D459E588-DA4A-05A4-F1FD-B3AA21EE9A32}"/>
              </a:ext>
            </a:extLst>
          </p:cNvPr>
          <p:cNvSpPr txBox="1"/>
          <p:nvPr/>
        </p:nvSpPr>
        <p:spPr>
          <a:xfrm flipH="1">
            <a:off x="609599" y="5199794"/>
            <a:ext cx="2358585" cy="246221"/>
          </a:xfrm>
          <a:prstGeom prst="rect">
            <a:avLst/>
          </a:prstGeom>
          <a:noFill/>
        </p:spPr>
        <p:txBody>
          <a:bodyPr wrap="square" rtlCol="0">
            <a:spAutoFit/>
          </a:bodyPr>
          <a:lstStyle/>
          <a:p>
            <a:r>
              <a:rPr lang="en-US" sz="1000" u="sng" dirty="0">
                <a:latin typeface="Garamond" panose="02020404030301010803" pitchFamily="18" charset="0"/>
              </a:rPr>
              <a:t>Source: Supermarket News</a:t>
            </a:r>
          </a:p>
        </p:txBody>
      </p:sp>
      <p:pic>
        <p:nvPicPr>
          <p:cNvPr id="6146" name="Picture 2" descr="This Grocery Store Has the Best Reputation, Study Says | Reader's Digest">
            <a:extLst>
              <a:ext uri="{FF2B5EF4-FFF2-40B4-BE49-F238E27FC236}">
                <a16:creationId xmlns:a16="http://schemas.microsoft.com/office/drawing/2014/main" id="{A96C07A1-AB73-072D-91E4-9EED524FE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58206"/>
            <a:ext cx="5307463" cy="354158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What Is Amazon Fresh? the Grocery Service, Explained">
            <a:extLst>
              <a:ext uri="{FF2B5EF4-FFF2-40B4-BE49-F238E27FC236}">
                <a16:creationId xmlns:a16="http://schemas.microsoft.com/office/drawing/2014/main" id="{46D761AA-807D-4D83-B321-23F382FA1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4939" y="1661066"/>
            <a:ext cx="4765964" cy="35387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0FFB27E-96E5-3886-185B-CE7941665A24}"/>
              </a:ext>
            </a:extLst>
          </p:cNvPr>
          <p:cNvSpPr txBox="1"/>
          <p:nvPr/>
        </p:nvSpPr>
        <p:spPr>
          <a:xfrm flipH="1">
            <a:off x="6274939" y="5196934"/>
            <a:ext cx="2358585" cy="246221"/>
          </a:xfrm>
          <a:prstGeom prst="rect">
            <a:avLst/>
          </a:prstGeom>
          <a:noFill/>
        </p:spPr>
        <p:txBody>
          <a:bodyPr wrap="square" rtlCol="0">
            <a:spAutoFit/>
          </a:bodyPr>
          <a:lstStyle/>
          <a:p>
            <a:r>
              <a:rPr lang="en-US" sz="1000" u="sng" dirty="0">
                <a:latin typeface="Garamond" panose="02020404030301010803" pitchFamily="18" charset="0"/>
              </a:rPr>
              <a:t>Source: Business Insider</a:t>
            </a:r>
          </a:p>
        </p:txBody>
      </p:sp>
    </p:spTree>
    <p:extLst>
      <p:ext uri="{BB962C8B-B14F-4D97-AF65-F5344CB8AC3E}">
        <p14:creationId xmlns:p14="http://schemas.microsoft.com/office/powerpoint/2010/main" val="16443397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pic>
        <p:nvPicPr>
          <p:cNvPr id="4098" name="Picture 2" descr="Food prices are reportedly expected to rise again in January">
            <a:extLst>
              <a:ext uri="{FF2B5EF4-FFF2-40B4-BE49-F238E27FC236}">
                <a16:creationId xmlns:a16="http://schemas.microsoft.com/office/drawing/2014/main" id="{4859AF87-D3E2-E9A4-2B4A-66A4CEFE0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428" y="1447800"/>
            <a:ext cx="6611144" cy="44060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092EC5-BCEB-4AA4-4F1A-14C7B0060AF8}"/>
              </a:ext>
            </a:extLst>
          </p:cNvPr>
          <p:cNvSpPr txBox="1"/>
          <p:nvPr/>
        </p:nvSpPr>
        <p:spPr>
          <a:xfrm flipH="1">
            <a:off x="2790428" y="5853869"/>
            <a:ext cx="2358585" cy="246221"/>
          </a:xfrm>
          <a:prstGeom prst="rect">
            <a:avLst/>
          </a:prstGeom>
          <a:noFill/>
        </p:spPr>
        <p:txBody>
          <a:bodyPr wrap="square" rtlCol="0">
            <a:spAutoFit/>
          </a:bodyPr>
          <a:lstStyle/>
          <a:p>
            <a:r>
              <a:rPr lang="en-US" sz="1000" u="sng" dirty="0">
                <a:latin typeface="Garamond" panose="02020404030301010803" pitchFamily="18" charset="0"/>
              </a:rPr>
              <a:t>Source: NY Post</a:t>
            </a:r>
          </a:p>
        </p:txBody>
      </p:sp>
    </p:spTree>
    <p:extLst>
      <p:ext uri="{BB962C8B-B14F-4D97-AF65-F5344CB8AC3E}">
        <p14:creationId xmlns:p14="http://schemas.microsoft.com/office/powerpoint/2010/main" val="39438988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sp>
        <p:nvSpPr>
          <p:cNvPr id="5" name="TextBox 4">
            <a:extLst>
              <a:ext uri="{FF2B5EF4-FFF2-40B4-BE49-F238E27FC236}">
                <a16:creationId xmlns:a16="http://schemas.microsoft.com/office/drawing/2014/main" id="{59092EC5-BCEB-4AA4-4F1A-14C7B0060AF8}"/>
              </a:ext>
            </a:extLst>
          </p:cNvPr>
          <p:cNvSpPr txBox="1"/>
          <p:nvPr/>
        </p:nvSpPr>
        <p:spPr>
          <a:xfrm flipH="1">
            <a:off x="685800" y="5279760"/>
            <a:ext cx="2358585" cy="246221"/>
          </a:xfrm>
          <a:prstGeom prst="rect">
            <a:avLst/>
          </a:prstGeom>
          <a:noFill/>
        </p:spPr>
        <p:txBody>
          <a:bodyPr wrap="square" rtlCol="0">
            <a:spAutoFit/>
          </a:bodyPr>
          <a:lstStyle/>
          <a:p>
            <a:r>
              <a:rPr lang="en-US" sz="1000" u="sng" dirty="0">
                <a:latin typeface="Garamond" panose="02020404030301010803" pitchFamily="18" charset="0"/>
              </a:rPr>
              <a:t>Source: </a:t>
            </a:r>
            <a:r>
              <a:rPr lang="en-US" sz="1000" u="sng" dirty="0" err="1">
                <a:latin typeface="Garamond" panose="02020404030301010803" pitchFamily="18" charset="0"/>
              </a:rPr>
              <a:t>GoFrugal</a:t>
            </a:r>
            <a:endParaRPr lang="en-US" sz="1000" u="sng" dirty="0">
              <a:latin typeface="Garamond" panose="02020404030301010803" pitchFamily="18" charset="0"/>
            </a:endParaRPr>
          </a:p>
        </p:txBody>
      </p:sp>
      <p:pic>
        <p:nvPicPr>
          <p:cNvPr id="7170" name="Picture 2" descr="How to increase sales in Supermarket/Retail Grocery Store? | Gofrugal">
            <a:extLst>
              <a:ext uri="{FF2B5EF4-FFF2-40B4-BE49-F238E27FC236}">
                <a16:creationId xmlns:a16="http://schemas.microsoft.com/office/drawing/2014/main" id="{D7DBB35A-CFF8-2238-8C95-08DE91F71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14334"/>
            <a:ext cx="6934200" cy="36195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Kroger on the App Store">
            <a:extLst>
              <a:ext uri="{FF2B5EF4-FFF2-40B4-BE49-F238E27FC236}">
                <a16:creationId xmlns:a16="http://schemas.microsoft.com/office/drawing/2014/main" id="{BCB25A54-4569-B9E8-76F0-7EDF7D748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1258781"/>
            <a:ext cx="3197436"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D0666DE-1926-D118-1925-C0ACE2D62089}"/>
              </a:ext>
            </a:extLst>
          </p:cNvPr>
          <p:cNvSpPr txBox="1"/>
          <p:nvPr/>
        </p:nvSpPr>
        <p:spPr>
          <a:xfrm flipH="1">
            <a:off x="8153400" y="5525981"/>
            <a:ext cx="2358585" cy="246221"/>
          </a:xfrm>
          <a:prstGeom prst="rect">
            <a:avLst/>
          </a:prstGeom>
          <a:noFill/>
        </p:spPr>
        <p:txBody>
          <a:bodyPr wrap="square" rtlCol="0">
            <a:spAutoFit/>
          </a:bodyPr>
          <a:lstStyle/>
          <a:p>
            <a:r>
              <a:rPr lang="en-US" sz="1000" u="sng" dirty="0">
                <a:latin typeface="Garamond" panose="02020404030301010803" pitchFamily="18" charset="0"/>
              </a:rPr>
              <a:t>Source: Kroger</a:t>
            </a:r>
          </a:p>
        </p:txBody>
      </p:sp>
    </p:spTree>
    <p:extLst>
      <p:ext uri="{BB962C8B-B14F-4D97-AF65-F5344CB8AC3E}">
        <p14:creationId xmlns:p14="http://schemas.microsoft.com/office/powerpoint/2010/main" val="371999589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B04A-4541-3A92-0FD1-82D83B14D233}"/>
              </a:ext>
            </a:extLst>
          </p:cNvPr>
          <p:cNvSpPr>
            <a:spLocks noGrp="1"/>
          </p:cNvSpPr>
          <p:nvPr>
            <p:ph type="title"/>
          </p:nvPr>
        </p:nvSpPr>
        <p:spPr>
          <a:xfrm>
            <a:off x="1295400" y="503853"/>
            <a:ext cx="9601200" cy="1510142"/>
          </a:xfrm>
        </p:spPr>
        <p:txBody>
          <a:bodyPr>
            <a:normAutofit fontScale="90000"/>
          </a:bodyPr>
          <a:lstStyle/>
          <a:p>
            <a:pPr algn="ctr"/>
            <a:r>
              <a:rPr lang="en-US" dirty="0">
                <a:latin typeface="Garamond" panose="02020404030301010803" pitchFamily="18" charset="0"/>
              </a:rPr>
              <a:t>People</a:t>
            </a:r>
            <a:br>
              <a:rPr lang="en-US" dirty="0">
                <a:latin typeface="Garamond" panose="02020404030301010803" pitchFamily="18" charset="0"/>
              </a:rPr>
            </a:br>
            <a:br>
              <a:rPr lang="en-US" dirty="0">
                <a:latin typeface="Garamond" panose="02020404030301010803" pitchFamily="18" charset="0"/>
              </a:rPr>
            </a:br>
            <a:r>
              <a:rPr lang="en-US" sz="2700" dirty="0">
                <a:latin typeface="Garamond" panose="02020404030301010803" pitchFamily="18" charset="0"/>
              </a:rPr>
              <a:t>All human actors who play a part in service delivery and thus influences the buyers’ perceptions.</a:t>
            </a:r>
          </a:p>
        </p:txBody>
      </p:sp>
      <p:sp>
        <p:nvSpPr>
          <p:cNvPr id="3" name="Content Placeholder 2">
            <a:extLst>
              <a:ext uri="{FF2B5EF4-FFF2-40B4-BE49-F238E27FC236}">
                <a16:creationId xmlns:a16="http://schemas.microsoft.com/office/drawing/2014/main" id="{1F3EF77D-704F-7F62-1C12-E69BAD632E3D}"/>
              </a:ext>
            </a:extLst>
          </p:cNvPr>
          <p:cNvSpPr>
            <a:spLocks noGrp="1"/>
          </p:cNvSpPr>
          <p:nvPr>
            <p:ph idx="1"/>
          </p:nvPr>
        </p:nvSpPr>
        <p:spPr>
          <a:xfrm>
            <a:off x="1295401" y="2500131"/>
            <a:ext cx="5244296" cy="3291069"/>
          </a:xfrm>
        </p:spPr>
        <p:txBody>
          <a:bodyPr>
            <a:normAutofit/>
          </a:bodyPr>
          <a:lstStyle/>
          <a:p>
            <a:r>
              <a:rPr lang="en-US" sz="2400" dirty="0">
                <a:latin typeface="Garamond" panose="02020404030301010803" pitchFamily="18" charset="0"/>
              </a:rPr>
              <a:t>Employees: attitudes and behaviors, dress, appearance, body language – all can influence the customer’s behavior.</a:t>
            </a:r>
          </a:p>
          <a:p>
            <a:r>
              <a:rPr lang="en-US" sz="2400" dirty="0">
                <a:latin typeface="Garamond" panose="02020404030301010803" pitchFamily="18" charset="0"/>
              </a:rPr>
              <a:t>Customers: can also influence customer behavior – how do you feel when someone is yelling at / praising an employee?</a:t>
            </a:r>
          </a:p>
        </p:txBody>
      </p:sp>
      <p:pic>
        <p:nvPicPr>
          <p:cNvPr id="8194" name="Picture 2" descr="Demand overwhelms grocery-delivery services in Malaysia, Singapore - Inside  Retail Asia">
            <a:extLst>
              <a:ext uri="{FF2B5EF4-FFF2-40B4-BE49-F238E27FC236}">
                <a16:creationId xmlns:a16="http://schemas.microsoft.com/office/drawing/2014/main" id="{64AE51FD-854A-40FB-1541-2F494679E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484086"/>
            <a:ext cx="4824731" cy="27139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FC5FC4E-FF94-C01E-0AC5-2783836CE802}"/>
              </a:ext>
            </a:extLst>
          </p:cNvPr>
          <p:cNvSpPr txBox="1"/>
          <p:nvPr/>
        </p:nvSpPr>
        <p:spPr>
          <a:xfrm flipH="1">
            <a:off x="6705600" y="5197997"/>
            <a:ext cx="2358585" cy="246221"/>
          </a:xfrm>
          <a:prstGeom prst="rect">
            <a:avLst/>
          </a:prstGeom>
          <a:noFill/>
        </p:spPr>
        <p:txBody>
          <a:bodyPr wrap="square" rtlCol="0">
            <a:spAutoFit/>
          </a:bodyPr>
          <a:lstStyle/>
          <a:p>
            <a:r>
              <a:rPr lang="en-US" sz="1000" u="sng" dirty="0">
                <a:latin typeface="Garamond" panose="02020404030301010803" pitchFamily="18" charset="0"/>
              </a:rPr>
              <a:t>Source: Inside Retail Asia</a:t>
            </a:r>
          </a:p>
        </p:txBody>
      </p:sp>
    </p:spTree>
    <p:extLst>
      <p:ext uri="{BB962C8B-B14F-4D97-AF65-F5344CB8AC3E}">
        <p14:creationId xmlns:p14="http://schemas.microsoft.com/office/powerpoint/2010/main" val="4275099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B04A-4541-3A92-0FD1-82D83B14D233}"/>
              </a:ext>
            </a:extLst>
          </p:cNvPr>
          <p:cNvSpPr>
            <a:spLocks noGrp="1"/>
          </p:cNvSpPr>
          <p:nvPr>
            <p:ph type="title"/>
          </p:nvPr>
        </p:nvSpPr>
        <p:spPr>
          <a:xfrm>
            <a:off x="1295400" y="503853"/>
            <a:ext cx="9601200" cy="1510142"/>
          </a:xfrm>
        </p:spPr>
        <p:txBody>
          <a:bodyPr>
            <a:normAutofit fontScale="90000"/>
          </a:bodyPr>
          <a:lstStyle/>
          <a:p>
            <a:pPr algn="ctr"/>
            <a:r>
              <a:rPr lang="en-US" dirty="0">
                <a:latin typeface="Garamond" panose="02020404030301010803" pitchFamily="18" charset="0"/>
              </a:rPr>
              <a:t>Physical Evidence</a:t>
            </a:r>
            <a:br>
              <a:rPr lang="en-US" dirty="0">
                <a:latin typeface="Garamond" panose="02020404030301010803" pitchFamily="18" charset="0"/>
              </a:rPr>
            </a:br>
            <a:br>
              <a:rPr lang="en-US" dirty="0">
                <a:latin typeface="Garamond" panose="02020404030301010803" pitchFamily="18" charset="0"/>
              </a:rPr>
            </a:br>
            <a:r>
              <a:rPr lang="en-US" sz="2700" dirty="0">
                <a:latin typeface="Garamond" panose="02020404030301010803" pitchFamily="18" charset="0"/>
              </a:rPr>
              <a:t>The physical and virtual environment in which the service is delivered and where the customer and firm interact. </a:t>
            </a:r>
          </a:p>
        </p:txBody>
      </p:sp>
      <p:sp>
        <p:nvSpPr>
          <p:cNvPr id="3" name="Content Placeholder 2">
            <a:extLst>
              <a:ext uri="{FF2B5EF4-FFF2-40B4-BE49-F238E27FC236}">
                <a16:creationId xmlns:a16="http://schemas.microsoft.com/office/drawing/2014/main" id="{1F3EF77D-704F-7F62-1C12-E69BAD632E3D}"/>
              </a:ext>
            </a:extLst>
          </p:cNvPr>
          <p:cNvSpPr>
            <a:spLocks noGrp="1"/>
          </p:cNvSpPr>
          <p:nvPr>
            <p:ph idx="1"/>
          </p:nvPr>
        </p:nvSpPr>
        <p:spPr>
          <a:xfrm>
            <a:off x="1295401" y="2500131"/>
            <a:ext cx="4648199" cy="3291069"/>
          </a:xfrm>
        </p:spPr>
        <p:txBody>
          <a:bodyPr>
            <a:normAutofit/>
          </a:bodyPr>
          <a:lstStyle/>
          <a:p>
            <a:r>
              <a:rPr lang="en-US" sz="2400" dirty="0">
                <a:latin typeface="Garamond" panose="02020404030301010803" pitchFamily="18" charset="0"/>
              </a:rPr>
              <a:t>This includes tangible component that facilitate performance or communication of the service. </a:t>
            </a:r>
          </a:p>
          <a:p>
            <a:r>
              <a:rPr lang="en-US" sz="2400" dirty="0">
                <a:latin typeface="Garamond" panose="02020404030301010803" pitchFamily="18" charset="0"/>
              </a:rPr>
              <a:t>When consumers have little to judge the actual quality of service, they will rely on such cues.</a:t>
            </a:r>
          </a:p>
        </p:txBody>
      </p:sp>
      <p:pic>
        <p:nvPicPr>
          <p:cNvPr id="9220" name="Picture 4" descr="28 Years of Amazon.com Website Design History - 34 Images - Version Museum">
            <a:extLst>
              <a:ext uri="{FF2B5EF4-FFF2-40B4-BE49-F238E27FC236}">
                <a16:creationId xmlns:a16="http://schemas.microsoft.com/office/drawing/2014/main" id="{C9CFB30E-C855-7ACF-78FE-E34F5B658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318" y="2355141"/>
            <a:ext cx="5329082" cy="33081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E3899F-9D09-7B5E-BEFC-3D5CEB2B19FE}"/>
              </a:ext>
            </a:extLst>
          </p:cNvPr>
          <p:cNvSpPr txBox="1"/>
          <p:nvPr/>
        </p:nvSpPr>
        <p:spPr>
          <a:xfrm flipH="1">
            <a:off x="6248402" y="5663322"/>
            <a:ext cx="2358585" cy="246221"/>
          </a:xfrm>
          <a:prstGeom prst="rect">
            <a:avLst/>
          </a:prstGeom>
          <a:noFill/>
        </p:spPr>
        <p:txBody>
          <a:bodyPr wrap="square" rtlCol="0">
            <a:spAutoFit/>
          </a:bodyPr>
          <a:lstStyle/>
          <a:p>
            <a:r>
              <a:rPr lang="en-US" sz="1000" u="sng" dirty="0">
                <a:latin typeface="Garamond" panose="02020404030301010803" pitchFamily="18" charset="0"/>
              </a:rPr>
              <a:t>Source: Version Museum</a:t>
            </a:r>
          </a:p>
        </p:txBody>
      </p:sp>
    </p:spTree>
    <p:extLst>
      <p:ext uri="{BB962C8B-B14F-4D97-AF65-F5344CB8AC3E}">
        <p14:creationId xmlns:p14="http://schemas.microsoft.com/office/powerpoint/2010/main" val="20473081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B04A-4541-3A92-0FD1-82D83B14D233}"/>
              </a:ext>
            </a:extLst>
          </p:cNvPr>
          <p:cNvSpPr>
            <a:spLocks noGrp="1"/>
          </p:cNvSpPr>
          <p:nvPr>
            <p:ph type="title"/>
          </p:nvPr>
        </p:nvSpPr>
        <p:spPr>
          <a:xfrm>
            <a:off x="1295400" y="503853"/>
            <a:ext cx="9601200" cy="1510142"/>
          </a:xfrm>
        </p:spPr>
        <p:txBody>
          <a:bodyPr>
            <a:normAutofit/>
          </a:bodyPr>
          <a:lstStyle/>
          <a:p>
            <a:pPr algn="ctr"/>
            <a:r>
              <a:rPr lang="en-US" dirty="0">
                <a:latin typeface="Garamond" panose="02020404030301010803" pitchFamily="18" charset="0"/>
              </a:rPr>
              <a:t>Process</a:t>
            </a:r>
            <a:br>
              <a:rPr lang="en-US" dirty="0">
                <a:latin typeface="Garamond" panose="02020404030301010803" pitchFamily="18" charset="0"/>
              </a:rPr>
            </a:br>
            <a:br>
              <a:rPr lang="en-US" dirty="0">
                <a:latin typeface="Garamond" panose="02020404030301010803" pitchFamily="18" charset="0"/>
              </a:rPr>
            </a:br>
            <a:r>
              <a:rPr lang="en-US" sz="2700" dirty="0">
                <a:latin typeface="Garamond" panose="02020404030301010803" pitchFamily="18" charset="0"/>
              </a:rPr>
              <a:t>The service delivery and operating systems. </a:t>
            </a:r>
          </a:p>
        </p:txBody>
      </p:sp>
      <p:sp>
        <p:nvSpPr>
          <p:cNvPr id="3" name="Content Placeholder 2">
            <a:extLst>
              <a:ext uri="{FF2B5EF4-FFF2-40B4-BE49-F238E27FC236}">
                <a16:creationId xmlns:a16="http://schemas.microsoft.com/office/drawing/2014/main" id="{1F3EF77D-704F-7F62-1C12-E69BAD632E3D}"/>
              </a:ext>
            </a:extLst>
          </p:cNvPr>
          <p:cNvSpPr>
            <a:spLocks noGrp="1"/>
          </p:cNvSpPr>
          <p:nvPr>
            <p:ph idx="1"/>
          </p:nvPr>
        </p:nvSpPr>
        <p:spPr>
          <a:xfrm>
            <a:off x="1295400" y="2101925"/>
            <a:ext cx="10129683" cy="793675"/>
          </a:xfrm>
        </p:spPr>
        <p:txBody>
          <a:bodyPr>
            <a:normAutofit/>
          </a:bodyPr>
          <a:lstStyle/>
          <a:p>
            <a:r>
              <a:rPr lang="en-US" sz="2400" dirty="0">
                <a:latin typeface="Garamond" panose="02020404030301010803" pitchFamily="18" charset="0"/>
              </a:rPr>
              <a:t>Firms can provide either a higher standardized production-line approach or a flexible and customizable approach.</a:t>
            </a:r>
          </a:p>
        </p:txBody>
      </p:sp>
      <p:pic>
        <p:nvPicPr>
          <p:cNvPr id="5" name="Picture 10" descr="Starbucks app / Concept on Behance">
            <a:extLst>
              <a:ext uri="{FF2B5EF4-FFF2-40B4-BE49-F238E27FC236}">
                <a16:creationId xmlns:a16="http://schemas.microsoft.com/office/drawing/2014/main" id="{0CF93F5C-3A2D-4604-7FDD-506E5E2D56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616" t="23123" r="6049" b="23544"/>
          <a:stretch/>
        </p:blipFill>
        <p:spPr bwMode="auto">
          <a:xfrm>
            <a:off x="7139900" y="2890684"/>
            <a:ext cx="3528100" cy="31356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10BD4D-6BA4-2980-6B37-C9265F82DF0E}"/>
              </a:ext>
            </a:extLst>
          </p:cNvPr>
          <p:cNvSpPr txBox="1"/>
          <p:nvPr/>
        </p:nvSpPr>
        <p:spPr>
          <a:xfrm flipH="1">
            <a:off x="7010400" y="5877220"/>
            <a:ext cx="2358585" cy="246221"/>
          </a:xfrm>
          <a:prstGeom prst="rect">
            <a:avLst/>
          </a:prstGeom>
          <a:noFill/>
        </p:spPr>
        <p:txBody>
          <a:bodyPr wrap="square" rtlCol="0">
            <a:spAutoFit/>
          </a:bodyPr>
          <a:lstStyle/>
          <a:p>
            <a:r>
              <a:rPr lang="en-US" sz="1000" u="sng" dirty="0">
                <a:latin typeface="Garamond" panose="02020404030301010803" pitchFamily="18" charset="0"/>
              </a:rPr>
              <a:t>Source: Starbucks</a:t>
            </a:r>
          </a:p>
        </p:txBody>
      </p:sp>
      <p:sp>
        <p:nvSpPr>
          <p:cNvPr id="8" name="TextBox 7">
            <a:extLst>
              <a:ext uri="{FF2B5EF4-FFF2-40B4-BE49-F238E27FC236}">
                <a16:creationId xmlns:a16="http://schemas.microsoft.com/office/drawing/2014/main" id="{F77E8E35-24ED-30E0-0880-E9AD1957BFB2}"/>
              </a:ext>
            </a:extLst>
          </p:cNvPr>
          <p:cNvSpPr txBox="1"/>
          <p:nvPr/>
        </p:nvSpPr>
        <p:spPr>
          <a:xfrm flipH="1">
            <a:off x="914400" y="5904274"/>
            <a:ext cx="2358585" cy="246221"/>
          </a:xfrm>
          <a:prstGeom prst="rect">
            <a:avLst/>
          </a:prstGeom>
          <a:noFill/>
        </p:spPr>
        <p:txBody>
          <a:bodyPr wrap="square" rtlCol="0">
            <a:spAutoFit/>
          </a:bodyPr>
          <a:lstStyle/>
          <a:p>
            <a:r>
              <a:rPr lang="en-US" sz="1000" u="sng" dirty="0">
                <a:latin typeface="Garamond" panose="02020404030301010803" pitchFamily="18" charset="0"/>
              </a:rPr>
              <a:t>Source: Carol-Greenberg</a:t>
            </a:r>
          </a:p>
        </p:txBody>
      </p:sp>
      <p:pic>
        <p:nvPicPr>
          <p:cNvPr id="10246" name="Picture 6" descr="Case Study - Wells Fargo">
            <a:extLst>
              <a:ext uri="{FF2B5EF4-FFF2-40B4-BE49-F238E27FC236}">
                <a16:creationId xmlns:a16="http://schemas.microsoft.com/office/drawing/2014/main" id="{13B1552A-9B70-B4B3-E872-72644053A6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1111"/>
          <a:stretch/>
        </p:blipFill>
        <p:spPr bwMode="auto">
          <a:xfrm>
            <a:off x="1066800" y="2949117"/>
            <a:ext cx="5582272" cy="2928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8295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Summary</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1295400" y="1689905"/>
            <a:ext cx="9601200" cy="4101296"/>
          </a:xfrm>
        </p:spPr>
        <p:txBody>
          <a:bodyPr>
            <a:normAutofit/>
          </a:bodyPr>
          <a:lstStyle/>
          <a:p>
            <a:r>
              <a:rPr lang="en-US" sz="2400" dirty="0">
                <a:latin typeface="Garamond" panose="02020404030301010803" pitchFamily="18" charset="0"/>
              </a:rPr>
              <a:t>Services have made an impact on the world economy and business practice.</a:t>
            </a:r>
          </a:p>
          <a:p>
            <a:r>
              <a:rPr lang="en-US" sz="2400" dirty="0">
                <a:latin typeface="Garamond" panose="02020404030301010803" pitchFamily="18" charset="0"/>
              </a:rPr>
              <a:t>We presented a broad definition and key characteristics of services.</a:t>
            </a:r>
          </a:p>
          <a:p>
            <a:r>
              <a:rPr lang="en-US" sz="2400" dirty="0">
                <a:latin typeface="Garamond" panose="02020404030301010803" pitchFamily="18" charset="0"/>
              </a:rPr>
              <a:t>We identified the importance of tangibility vs. intangibility. </a:t>
            </a:r>
          </a:p>
          <a:p>
            <a:r>
              <a:rPr lang="en-US" sz="2400" dirty="0">
                <a:latin typeface="Garamond" panose="02020404030301010803" pitchFamily="18" charset="0"/>
              </a:rPr>
              <a:t>We discussed the 7 Ps of Services Marketing.</a:t>
            </a:r>
          </a:p>
        </p:txBody>
      </p:sp>
    </p:spTree>
    <p:extLst>
      <p:ext uri="{BB962C8B-B14F-4D97-AF65-F5344CB8AC3E}">
        <p14:creationId xmlns:p14="http://schemas.microsoft.com/office/powerpoint/2010/main" val="1813388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Discussion Questions</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1295400" y="1689905"/>
            <a:ext cx="9601200" cy="4101296"/>
          </a:xfrm>
        </p:spPr>
        <p:txBody>
          <a:bodyPr>
            <a:normAutofit/>
          </a:bodyPr>
          <a:lstStyle/>
          <a:p>
            <a:r>
              <a:rPr lang="en-US" sz="2400" dirty="0">
                <a:latin typeface="Garamond" panose="02020404030301010803" pitchFamily="18" charset="0"/>
              </a:rPr>
              <a:t>Think of a service job you have had or currently have. How effective, in your opinion, was or is the organization in managing the elements of the service marketing mix?</a:t>
            </a:r>
          </a:p>
          <a:p>
            <a:r>
              <a:rPr lang="en-US" sz="2400" dirty="0">
                <a:latin typeface="Garamond" panose="02020404030301010803" pitchFamily="18" charset="0"/>
              </a:rPr>
              <a:t>Give me an example of the difference between service offerings and customer service?</a:t>
            </a:r>
          </a:p>
        </p:txBody>
      </p:sp>
    </p:spTree>
    <p:extLst>
      <p:ext uri="{BB962C8B-B14F-4D97-AF65-F5344CB8AC3E}">
        <p14:creationId xmlns:p14="http://schemas.microsoft.com/office/powerpoint/2010/main" val="3541961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amondgrid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mondgrid theme" id="{ED93937A-9EDD-431C-AF40-A6218FC4DE09}" vid="{8CDF1396-6A4F-4529-B9C5-69BA7F395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4195</TotalTime>
  <Words>1394</Words>
  <Application>Microsoft Macintosh PowerPoint</Application>
  <PresentationFormat>Widescreen</PresentationFormat>
  <Paragraphs>177</Paragraphs>
  <Slides>31</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Garamond</vt:lpstr>
      <vt:lpstr>Wingdings</vt:lpstr>
      <vt:lpstr>diamondgrid theme</vt:lpstr>
      <vt:lpstr>PowerPoint Presentation</vt:lpstr>
      <vt:lpstr>Chapter Overview</vt:lpstr>
      <vt:lpstr>Defining Services</vt:lpstr>
      <vt:lpstr>PowerPoint Presentation</vt:lpstr>
      <vt:lpstr>What are services?</vt:lpstr>
      <vt:lpstr>Why study services marketing?</vt:lpstr>
      <vt:lpstr>Service marketing is different</vt:lpstr>
      <vt:lpstr>Technology is causing a service revolution</vt:lpstr>
      <vt:lpstr>Can you think of other examples where technology has transformed a service process?</vt:lpstr>
      <vt:lpstr>Technology is causing a service revolution</vt:lpstr>
      <vt:lpstr>Technology is causing a service revolution</vt:lpstr>
      <vt:lpstr>What are your thoughts on Generative AI affecting services/ tasks in an industry you might want to work in?</vt:lpstr>
      <vt:lpstr>Differentiating services from goods</vt:lpstr>
      <vt:lpstr>Differentiating services from goods</vt:lpstr>
      <vt:lpstr>Tangibility Spectrum</vt:lpstr>
      <vt:lpstr>Differentiating services from goods</vt:lpstr>
      <vt:lpstr>Heterogeneity</vt:lpstr>
      <vt:lpstr>Differentiating services from goods</vt:lpstr>
      <vt:lpstr>Simultaneous Production and Consumption</vt:lpstr>
      <vt:lpstr>Differentiating services from goods</vt:lpstr>
      <vt:lpstr>Perishability</vt:lpstr>
      <vt:lpstr>Expanded Marketing Mix (the 7Ps)</vt:lpstr>
      <vt:lpstr>The 4Ps</vt:lpstr>
      <vt:lpstr>The 4Ps</vt:lpstr>
      <vt:lpstr>The 4Ps</vt:lpstr>
      <vt:lpstr>The 4Ps</vt:lpstr>
      <vt:lpstr>People  All human actors who play a part in service delivery and thus influences the buyers’ perceptions.</vt:lpstr>
      <vt:lpstr>Physical Evidence  The physical and virtual environment in which the service is delivered and where the customer and firm interact. </vt:lpstr>
      <vt:lpstr>Process  The service delivery and operating systems. </vt:lpstr>
      <vt:lpstr>Summary</vt:lpstr>
      <vt:lpstr>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 Anh Nu Ton</dc:creator>
  <cp:lastModifiedBy>Sakshi Sanjay Babar</cp:lastModifiedBy>
  <cp:revision>180</cp:revision>
  <dcterms:created xsi:type="dcterms:W3CDTF">2021-01-01T23:10:31Z</dcterms:created>
  <dcterms:modified xsi:type="dcterms:W3CDTF">2025-01-13T17:17:56Z</dcterms:modified>
</cp:coreProperties>
</file>