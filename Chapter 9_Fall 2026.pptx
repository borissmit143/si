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344" r:id="rId2"/>
    <p:sldId id="416" r:id="rId3"/>
    <p:sldId id="427" r:id="rId4"/>
    <p:sldId id="428" r:id="rId5"/>
    <p:sldId id="429" r:id="rId6"/>
    <p:sldId id="430" r:id="rId7"/>
    <p:sldId id="431" r:id="rId8"/>
    <p:sldId id="277" r:id="rId9"/>
    <p:sldId id="432" r:id="rId10"/>
    <p:sldId id="468" r:id="rId11"/>
    <p:sldId id="433" r:id="rId12"/>
    <p:sldId id="434" r:id="rId13"/>
    <p:sldId id="467" r:id="rId14"/>
    <p:sldId id="258" r:id="rId15"/>
    <p:sldId id="46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B539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4439A5-7E15-4A70-B072-994BAC7B37F0}" v="1" dt="2026-08-14T01:33:50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28"/>
    <p:restoredTop sz="78273" autoAdjust="0"/>
  </p:normalViewPr>
  <p:slideViewPr>
    <p:cSldViewPr snapToGrid="0" snapToObjects="1">
      <p:cViewPr varScale="1">
        <p:scale>
          <a:sx n="61" d="100"/>
          <a:sy n="61" d="100"/>
        </p:scale>
        <p:origin x="13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r Mohan" userId="88f4b4da-8dca-46b3-95ca-729f40a86975" providerId="ADAL" clId="{51B8FFEB-B4AF-4B4E-AAE0-8796815F75F1}"/>
    <pc:docChg chg="modSld">
      <pc:chgData name="Madhur Mohan" userId="88f4b4da-8dca-46b3-95ca-729f40a86975" providerId="ADAL" clId="{51B8FFEB-B4AF-4B4E-AAE0-8796815F75F1}" dt="2026-08-14T01:34:27.441" v="229" actId="20577"/>
      <pc:docMkLst>
        <pc:docMk/>
      </pc:docMkLst>
      <pc:sldChg chg="addSp delSp modSp mod">
        <pc:chgData name="Madhur Mohan" userId="88f4b4da-8dca-46b3-95ca-729f40a86975" providerId="ADAL" clId="{51B8FFEB-B4AF-4B4E-AAE0-8796815F75F1}" dt="2026-08-14T01:34:27.441" v="229" actId="20577"/>
        <pc:sldMkLst>
          <pc:docMk/>
          <pc:sldMk cId="1995353185" sldId="427"/>
        </pc:sldMkLst>
        <pc:spChg chg="mod">
          <ac:chgData name="Madhur Mohan" userId="88f4b4da-8dca-46b3-95ca-729f40a86975" providerId="ADAL" clId="{51B8FFEB-B4AF-4B4E-AAE0-8796815F75F1}" dt="2026-08-14T01:34:27.441" v="229" actId="20577"/>
          <ac:spMkLst>
            <pc:docMk/>
            <pc:sldMk cId="1995353185" sldId="427"/>
            <ac:spMk id="2" creationId="{100BD9E0-E9BB-77EF-84B3-0AF0680374E6}"/>
          </ac:spMkLst>
        </pc:spChg>
        <pc:spChg chg="add del mod">
          <ac:chgData name="Madhur Mohan" userId="88f4b4da-8dca-46b3-95ca-729f40a86975" providerId="ADAL" clId="{51B8FFEB-B4AF-4B4E-AAE0-8796815F75F1}" dt="2026-08-14T01:33:51.725" v="170"/>
          <ac:spMkLst>
            <pc:docMk/>
            <pc:sldMk cId="1995353185" sldId="427"/>
            <ac:spMk id="3" creationId="{7F347F73-39D0-1E49-3DF8-788081FEBCC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8478D-2017-6B42-82DF-31F349C5E37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6EEE4-7788-8D4C-B106-DDC1CC62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71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955AC-BBE9-A144-BEA0-0A44958C1A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58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23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52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reduce customer wait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42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94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7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Hertz’s express checkout allowing reduction in long customer wait times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13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87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1: List the sequential steps and activities that customer experiences in receiving the service (top line of service blueprint) – first and last encounters are really important.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2: Abstract customer requirements should be translated into concrete, specific behaviors and actions associated with each service encounter – satisfaction to deliver within 48 hours.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3: Determine if hard or soft standards should be used – should not be done hastily.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4: Develop feedback measures to adequately capture the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290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8801-F62D-25AB-8447-875D6017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C40A0-2799-7EDB-AACF-3DBF12DB9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E5C4B-DB6C-B958-2FAF-58CADAEF9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AC3A9-3A2D-3F21-F5A2-F7527E0F0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5491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61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79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5381C-5CA7-4AF5-ABE9-FFAB9099D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CC55F4-081C-B904-977C-390A79FA7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934254-736B-2043-A67F-821CC5D6A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E0A42-C6A4-3487-5143-FC87C7810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615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33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0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2627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4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8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2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5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17AD40-AE84-3240-90CD-64AD6EF5A10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5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184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4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67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7AD40-AE84-3240-90CD-64AD6EF5A10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0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4EE006-398F-E147-9CF2-66454FD34446}"/>
              </a:ext>
            </a:extLst>
          </p:cNvPr>
          <p:cNvSpPr txBox="1"/>
          <p:nvPr/>
        </p:nvSpPr>
        <p:spPr>
          <a:xfrm>
            <a:off x="0" y="2129587"/>
            <a:ext cx="1219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B5395"/>
                </a:solidFill>
                <a:latin typeface="Garamond" panose="02020404030301010803" pitchFamily="18" charset="0"/>
              </a:rPr>
              <a:t>CHAPTER 9</a:t>
            </a:r>
            <a:endParaRPr lang="en-US" sz="4000" dirty="0">
              <a:solidFill>
                <a:srgbClr val="820002"/>
              </a:solidFill>
              <a:latin typeface="Garamond" panose="02020404030301010803" pitchFamily="18" charset="0"/>
            </a:endParaRPr>
          </a:p>
          <a:p>
            <a:pPr algn="ctr"/>
            <a:endParaRPr lang="en-US" sz="3800" dirty="0">
              <a:latin typeface="Garamond" panose="02020404030301010803" pitchFamily="18" charset="0"/>
            </a:endParaRPr>
          </a:p>
          <a:p>
            <a:pPr algn="ctr"/>
            <a:r>
              <a:rPr lang="en-US" sz="3800" dirty="0">
                <a:latin typeface="Garamond" panose="02020404030301010803" pitchFamily="18" charset="0"/>
              </a:rPr>
              <a:t>Customer-Defined Service Standards</a:t>
            </a:r>
          </a:p>
        </p:txBody>
      </p:sp>
    </p:spTree>
    <p:extLst>
      <p:ext uri="{BB962C8B-B14F-4D97-AF65-F5344CB8AC3E}">
        <p14:creationId xmlns:p14="http://schemas.microsoft.com/office/powerpoint/2010/main" val="35884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Chapter Objectives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914400" y="1860964"/>
            <a:ext cx="10876547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Distinguish between company-defined and customer-defined service standards.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Differentiate between “hard” and “soft” customer-defined standards and one-time fixes.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Illustrate how to translate customer expectations into behaviors and actions.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Explain the process of developing customer-defined service standards. </a:t>
            </a:r>
          </a:p>
        </p:txBody>
      </p:sp>
    </p:spTree>
    <p:extLst>
      <p:ext uri="{BB962C8B-B14F-4D97-AF65-F5344CB8AC3E}">
        <p14:creationId xmlns:p14="http://schemas.microsoft.com/office/powerpoint/2010/main" val="183350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Company-Defined Standards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814138" y="1878807"/>
            <a:ext cx="10563726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Standards that are established to reach internal company goals for productivity, efficiency, cost, or technical quality.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Ex: using an automated voice system even though customers complain about them. They save companies money.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Company-defined standards are not successful in closing gap 2, that is why we need customer-defined standards.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>
                <a:latin typeface="Garamond" panose="02020404030301010803" pitchFamily="18" charset="0"/>
              </a:rPr>
              <a:t>Example: Firm may incorporate AI in customer support to reduce cost and improve efficiency. However, AI may not solve nuanced issues, </a:t>
            </a:r>
            <a:r>
              <a:rPr lang="en-US" sz="2600">
                <a:latin typeface="Garamond" panose="02020404030301010803" pitchFamily="18" charset="0"/>
              </a:rPr>
              <a:t>thereby failing to close Gap 2.</a:t>
            </a:r>
            <a:endParaRPr lang="en-US" sz="26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35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Customer-Defined Standards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814138" y="1878807"/>
            <a:ext cx="10563726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Operational standards based on pivotal customer requirements identified by customers.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These are deliberately chosen to match customer expectations and to be calibrated the way the customer views and expresses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Anchoring service standards on customers can also save a firm money! </a:t>
            </a:r>
          </a:p>
        </p:txBody>
      </p:sp>
    </p:spTree>
    <p:extLst>
      <p:ext uri="{BB962C8B-B14F-4D97-AF65-F5344CB8AC3E}">
        <p14:creationId xmlns:p14="http://schemas.microsoft.com/office/powerpoint/2010/main" val="282678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Types of Customer-Defined Service Standards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814138" y="1878807"/>
            <a:ext cx="5803230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800" b="1" u="sng" dirty="0">
                <a:latin typeface="Garamond" panose="02020404030301010803" pitchFamily="18" charset="0"/>
              </a:rPr>
              <a:t>Hard customer-defined standards:</a:t>
            </a:r>
            <a:r>
              <a:rPr lang="en-US" sz="2800" dirty="0">
                <a:latin typeface="Garamond" panose="02020404030301010803" pitchFamily="18" charset="0"/>
              </a:rPr>
              <a:t> things that can be counted, timed, or observed.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>
                <a:latin typeface="Garamond" panose="02020404030301010803" pitchFamily="18" charset="0"/>
              </a:rPr>
              <a:t>Ex: FedEx – on-time delivery, delivery to wrong addresses, failed delivery, customer contact with employee, and customer satisfaction.</a:t>
            </a:r>
          </a:p>
        </p:txBody>
      </p:sp>
      <p:pic>
        <p:nvPicPr>
          <p:cNvPr id="3" name="Picture 2" descr="RELIABLE TRANSPORTATION — BellaPort Transportation, Inc.">
            <a:extLst>
              <a:ext uri="{FF2B5EF4-FFF2-40B4-BE49-F238E27FC236}">
                <a16:creationId xmlns:a16="http://schemas.microsoft.com/office/drawing/2014/main" id="{DFCD51B9-F7F8-CE41-9C89-654381E96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368" y="1506955"/>
            <a:ext cx="4528886" cy="4528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07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Types of Customer-Defined Service Standards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814138" y="1878807"/>
            <a:ext cx="5281862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800" b="1" u="sng" dirty="0">
                <a:latin typeface="Garamond" panose="02020404030301010803" pitchFamily="18" charset="0"/>
              </a:rPr>
              <a:t>Soft customer-defined standards:</a:t>
            </a:r>
            <a:r>
              <a:rPr lang="en-US" sz="2800" dirty="0">
                <a:latin typeface="Garamond" panose="02020404030301010803" pitchFamily="18" charset="0"/>
              </a:rPr>
              <a:t> opinion-based measures and cannot be directly observed – “understanding the customer”.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>
                <a:latin typeface="Garamond" panose="02020404030301010803" pitchFamily="18" charset="0"/>
              </a:rPr>
              <a:t>Ex: Restaurant – providing enough attention and respect to guests by having employees display a polite demeanor, greetings, and during interactions.</a:t>
            </a:r>
          </a:p>
        </p:txBody>
      </p:sp>
      <p:pic>
        <p:nvPicPr>
          <p:cNvPr id="1032" name="Picture 8" descr="100% Satisfaction Guarantee | Advertising Magnets">
            <a:extLst>
              <a:ext uri="{FF2B5EF4-FFF2-40B4-BE49-F238E27FC236}">
                <a16:creationId xmlns:a16="http://schemas.microsoft.com/office/drawing/2014/main" id="{9A44D2E0-EAA8-46C8-51C6-81FE032B2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14503"/>
            <a:ext cx="4960335" cy="3645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707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One-Time Fixes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814138" y="1878807"/>
            <a:ext cx="5281862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Technology, policy, or procedure changes that, when instituted, address customer requirements.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Company standards that can be met by a business making a one-time change that does not involve employees and therefore does not require motivation and monitoring.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794428-EE43-6E20-5042-CF9310967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492" y="1658892"/>
            <a:ext cx="5358063" cy="401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23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EB96157-BF1A-A7CF-27E7-60EFAEAEC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Gill Sans MT" panose="020B0502020104020203" pitchFamily="34" charset="0"/>
              </a:rPr>
              <a:t>Turning customer requirements into specific behaviors and actions</a:t>
            </a:r>
          </a:p>
        </p:txBody>
      </p:sp>
      <p:pic>
        <p:nvPicPr>
          <p:cNvPr id="4" name="Picture 3" descr="A diagram of a work flow&#10;&#10;Description automatically generated">
            <a:extLst>
              <a:ext uri="{FF2B5EF4-FFF2-40B4-BE49-F238E27FC236}">
                <a16:creationId xmlns:a16="http://schemas.microsoft.com/office/drawing/2014/main" id="{7046CBDC-B5C4-AAD6-8F91-AAEA7DF3D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80" y="12126"/>
            <a:ext cx="6522720" cy="6759296"/>
          </a:xfrm>
          <a:prstGeom prst="rect">
            <a:avLst/>
          </a:prstGeom>
          <a:noFill/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F5F30B4-2BDE-7940-9C5D-B02951E10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13152" y="3271520"/>
            <a:ext cx="3657600" cy="2009442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>
                <a:latin typeface="Gill Sans MT" panose="020B0502020104020203" pitchFamily="34" charset="0"/>
              </a:rPr>
              <a:t>Using this framework, let’s apply this to a business and walk through the steps together.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B92CC7-3FFE-140F-1CFE-B0AAC7BED2A8}"/>
              </a:ext>
            </a:extLst>
          </p:cNvPr>
          <p:cNvSpPr/>
          <p:nvPr/>
        </p:nvSpPr>
        <p:spPr>
          <a:xfrm>
            <a:off x="111760" y="1076960"/>
            <a:ext cx="1503680" cy="711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ill Sans MT" panose="020B0502020104020203" pitchFamily="34" charset="0"/>
              </a:rPr>
              <a:t>Top of service blueprint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393C34-EB18-07C7-51AA-C1A98A6196CF}"/>
              </a:ext>
            </a:extLst>
          </p:cNvPr>
          <p:cNvCxnSpPr/>
          <p:nvPr/>
        </p:nvCxnSpPr>
        <p:spPr>
          <a:xfrm flipV="1">
            <a:off x="426720" y="571500"/>
            <a:ext cx="436880" cy="383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64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Development of Customer-Defined Service Standards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814137" y="1878807"/>
            <a:ext cx="10563725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Garamond" panose="02020404030301010803" pitchFamily="18" charset="0"/>
              </a:rPr>
              <a:t>Identify existing or desired service encounter sequence – top line of service blueprint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Garamond" panose="02020404030301010803" pitchFamily="18" charset="0"/>
              </a:rPr>
              <a:t>Translate customer expectations into specific behaviors and actions – abstract to concrete</a:t>
            </a:r>
          </a:p>
        </p:txBody>
      </p:sp>
    </p:spTree>
    <p:extLst>
      <p:ext uri="{BB962C8B-B14F-4D97-AF65-F5344CB8AC3E}">
        <p14:creationId xmlns:p14="http://schemas.microsoft.com/office/powerpoint/2010/main" val="3041494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00D5A-B2C3-3B19-BFF0-1C546DA4A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64C69C-257C-1A8F-FCDB-0E359921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Translate customer expectations into specific behaviors and actions – abstract to concrete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C070E-6367-2359-019F-625F0F8D7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730" y="1540041"/>
            <a:ext cx="9758539" cy="503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32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Development of Customer-Defined Service Standards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814137" y="1878807"/>
            <a:ext cx="10563725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en-US" sz="2800" dirty="0">
                <a:latin typeface="Garamond" panose="02020404030301010803" pitchFamily="18" charset="0"/>
              </a:rPr>
              <a:t>Determine appropriate standards – hard/ soft/ both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sz="2800" dirty="0">
                <a:latin typeface="Garamond" panose="02020404030301010803" pitchFamily="18" charset="0"/>
              </a:rPr>
              <a:t>Develop measurements for standards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>
                <a:latin typeface="Garamond" panose="02020404030301010803" pitchFamily="18" charset="0"/>
              </a:rPr>
              <a:t>Hard measurements: mechanical counts/ technology enabled measurements of time or errors (e.g., missing packages).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600" dirty="0">
                <a:latin typeface="Garamond" panose="02020404030301010803" pitchFamily="18" charset="0"/>
              </a:rPr>
              <a:t>Soft measurements: based on customer perceptions that cannot be often directly observed (use surveys to measure).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sz="2800" dirty="0">
                <a:latin typeface="Garamond" panose="02020404030301010803" pitchFamily="18" charset="0"/>
              </a:rPr>
              <a:t>Establish target levels for the standards.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sz="2800" dirty="0">
                <a:latin typeface="Garamond" panose="02020404030301010803" pitchFamily="18" charset="0"/>
              </a:rPr>
              <a:t>Track measures against standards –whether standards are being met.</a:t>
            </a:r>
          </a:p>
          <a:p>
            <a:pPr marL="514350" indent="-514350">
              <a:buFont typeface="+mj-lt"/>
              <a:buAutoNum type="arabicPeriod" startAt="5"/>
            </a:pPr>
            <a:endParaRPr lang="en-US" sz="28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503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Development of Customer-Defined Service Standards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0BD9E0-E9BB-77EF-84B3-0AF0680374E6}"/>
              </a:ext>
            </a:extLst>
          </p:cNvPr>
          <p:cNvSpPr txBox="1">
            <a:spLocks/>
          </p:cNvSpPr>
          <p:nvPr/>
        </p:nvSpPr>
        <p:spPr>
          <a:xfrm>
            <a:off x="814137" y="1878807"/>
            <a:ext cx="5863389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7"/>
            </a:pPr>
            <a:r>
              <a:rPr lang="en-US" sz="2800" dirty="0">
                <a:latin typeface="Garamond" panose="02020404030301010803" pitchFamily="18" charset="0"/>
              </a:rPr>
              <a:t>Provide feedback about performance to employees (e.g., through employee monitoring and listening).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 sz="2800" dirty="0">
                <a:latin typeface="Garamond" panose="02020404030301010803" pitchFamily="18" charset="0"/>
              </a:rPr>
              <a:t>Periodically update target levels and measures – revise target levels, measures, and customer requirements regularly to keep up with customer expectations.</a:t>
            </a:r>
          </a:p>
        </p:txBody>
      </p:sp>
      <p:pic>
        <p:nvPicPr>
          <p:cNvPr id="3074" name="Picture 2" descr="How to Use Facebook Messenger for Social Customer Service : Social Media  Examiner">
            <a:extLst>
              <a:ext uri="{FF2B5EF4-FFF2-40B4-BE49-F238E27FC236}">
                <a16:creationId xmlns:a16="http://schemas.microsoft.com/office/drawing/2014/main" id="{4CD19DE6-A427-3F54-595F-8767E5A74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0612" y="2011235"/>
            <a:ext cx="4286250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742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F0D67-A061-E262-5B7C-A852C4DFA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6033E4-6FE3-7E8B-85EC-1399BC0BB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Garamond" panose="02020404030301010803" pitchFamily="18" charset="0"/>
              </a:rPr>
              <a:t>Let’s apply this framework to airline services!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7AB84-248D-2FA5-4639-E4156252C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2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Garamond" panose="02020404030301010803" pitchFamily="18" charset="0"/>
              </a:rPr>
              <a:t>Step 2: Translate Customer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Online booking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Check-in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Security &amp; boarding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In-flight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Baggage claim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Customer support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C3A77-B6A2-7505-1512-A8F5E5F01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7D825-CE7B-EDF4-6BC6-56903CF61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>
                <a:latin typeface="Garamond" panose="02020404030301010803" pitchFamily="18" charset="0"/>
              </a:rPr>
              <a:t>Step 1: Identify Service Encounter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B779F-8B59-7CF3-A807-95912FEB9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Garamond" panose="02020404030301010803" pitchFamily="18" charset="0"/>
              </a:rPr>
              <a:t>Fast and easy online booking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Garamond" panose="02020404030301010803" pitchFamily="18" charset="0"/>
              </a:rPr>
              <a:t>Smooth check-in with minimal wait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Garamond" panose="02020404030301010803" pitchFamily="18" charset="0"/>
              </a:rPr>
              <a:t>Clear and timely boarding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Garamond" panose="02020404030301010803" pitchFamily="18" charset="0"/>
              </a:rPr>
              <a:t>Friendly and responsive flight attendants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Garamond" panose="02020404030301010803" pitchFamily="18" charset="0"/>
              </a:rPr>
              <a:t>Reliable baggage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Garamond" panose="02020404030301010803" pitchFamily="18" charset="0"/>
              </a:rPr>
              <a:t>Quick and effective customer service</a:t>
            </a:r>
          </a:p>
        </p:txBody>
      </p:sp>
    </p:spTree>
    <p:extLst>
      <p:ext uri="{BB962C8B-B14F-4D97-AF65-F5344CB8AC3E}">
        <p14:creationId xmlns:p14="http://schemas.microsoft.com/office/powerpoint/2010/main" val="282421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>
                <a:latin typeface="Garamond" panose="02020404030301010803" pitchFamily="18" charset="0"/>
              </a:rPr>
              <a:t>Step 3: Determine Appropriate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Online booking &lt; 3 min, no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Check-in &lt; 5 min per customer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Boarding announcements timely &amp; clear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Flight attendants respond within 3 min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Baggage delivery &lt; 15 min after landing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Customer complaints acknowledged within 24 hours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Garamond" panose="02020404030301010803" pitchFamily="18" charset="0"/>
              </a:rPr>
              <a:t>Step 4: Develop Measurements for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Garamond" panose="02020404030301010803" pitchFamily="18" charset="0"/>
              </a:rPr>
              <a:t>Hard Standards: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% of customers completing booking in 3 min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Check-in wait time metrics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Baggage delivery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Garamond" panose="02020404030301010803" pitchFamily="18" charset="0"/>
              </a:rPr>
              <a:t>Soft Standards: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Customer surveys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Passenger feedback on service quality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Net Promoter Score (NPS)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>
                <a:latin typeface="Garamond" panose="02020404030301010803" pitchFamily="18" charset="0"/>
              </a:rPr>
              <a:t>Step 5: Establish Target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95% of bookings completed in 3 min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90% of check-ins under 5 min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85% of passengers rate service 'Excellent'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99% baggage delivered in 15 min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90% customer complaints resolved within 24 hours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>
                <a:latin typeface="Garamond" panose="02020404030301010803" pitchFamily="18" charset="0"/>
              </a:rPr>
              <a:t>Step 6: Track Measures Against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Online analytics for booking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Automated wait-time monitoring at check-in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RFID tracking for baggage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Post-flight surveys &amp; complaint tracking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>
                <a:latin typeface="Garamond" panose="02020404030301010803" pitchFamily="18" charset="0"/>
              </a:rPr>
              <a:t>Step 7: Provide Feedback to Employees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Share performance data with teams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Train flight attendants for faster response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Conduct monthly performance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Improve check-in and baggage handling process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Garamond" panose="02020404030301010803" pitchFamily="18" charset="0"/>
              </a:rPr>
              <a:t>Step 8: Update Target Levels and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Introduce AI chatbots for customer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Use biometric check-in to reduce wait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Improve baggage tracking with real-time notifications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Garamond" panose="02020404030301010803" pitchFamily="18" charset="0"/>
              </a:rPr>
              <a:t>Adjust targets based on customer feedback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grid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amondgrid theme" id="{ED93937A-9EDD-431C-AF40-A6218FC4DE09}" vid="{8CDF1396-6A4F-4529-B9C5-69BA7F395D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diamondgrid theme</Template>
  <TotalTime>3991</TotalTime>
  <Words>915</Words>
  <Application>Microsoft Office PowerPoint</Application>
  <PresentationFormat>Widescreen</PresentationFormat>
  <Paragraphs>114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Garamond</vt:lpstr>
      <vt:lpstr>Gill Sans MT</vt:lpstr>
      <vt:lpstr>diamondgrid theme</vt:lpstr>
      <vt:lpstr>PowerPoint Presentation</vt:lpstr>
      <vt:lpstr>Chapter Objectives</vt:lpstr>
      <vt:lpstr>Company-Defined Standards</vt:lpstr>
      <vt:lpstr>Customer-Defined Standards</vt:lpstr>
      <vt:lpstr>Types of Customer-Defined Service Standards</vt:lpstr>
      <vt:lpstr>Types of Customer-Defined Service Standards</vt:lpstr>
      <vt:lpstr>One-Time Fixes</vt:lpstr>
      <vt:lpstr>Turning customer requirements into specific behaviors and actions</vt:lpstr>
      <vt:lpstr>Development of Customer-Defined Service Standards</vt:lpstr>
      <vt:lpstr>Translate customer expectations into specific behaviors and actions – abstract to concrete</vt:lpstr>
      <vt:lpstr>Development of Customer-Defined Service Standards</vt:lpstr>
      <vt:lpstr>Development of Customer-Defined Service Standards</vt:lpstr>
      <vt:lpstr>Let’s apply this framework to airline services!</vt:lpstr>
      <vt:lpstr>Step 2: Translate Customer Expectations</vt:lpstr>
      <vt:lpstr>Step 1: Identify Service Encounter Sequence</vt:lpstr>
      <vt:lpstr>Step 3: Determine Appropriate Standards</vt:lpstr>
      <vt:lpstr>Step 4: Develop Measurements for Standards</vt:lpstr>
      <vt:lpstr>Step 5: Establish Target Levels</vt:lpstr>
      <vt:lpstr>Step 6: Track Measures Against Standards</vt:lpstr>
      <vt:lpstr>Step 7: Provide Feedback to Employees</vt:lpstr>
      <vt:lpstr>Step 8: Update Target Levels and Measures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Lan Anh Nu Ton</dc:creator>
  <cp:lastModifiedBy>Madhur Mohan</cp:lastModifiedBy>
  <cp:revision>258</cp:revision>
  <dcterms:created xsi:type="dcterms:W3CDTF">2021-01-26T21:27:35Z</dcterms:created>
  <dcterms:modified xsi:type="dcterms:W3CDTF">2026-08-14T01:34:27Z</dcterms:modified>
</cp:coreProperties>
</file>