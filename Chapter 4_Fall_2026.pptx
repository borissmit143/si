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344" r:id="rId2"/>
    <p:sldId id="345" r:id="rId3"/>
    <p:sldId id="347" r:id="rId4"/>
    <p:sldId id="372" r:id="rId5"/>
    <p:sldId id="348" r:id="rId6"/>
    <p:sldId id="293" r:id="rId7"/>
    <p:sldId id="371" r:id="rId8"/>
    <p:sldId id="378" r:id="rId9"/>
    <p:sldId id="380" r:id="rId10"/>
    <p:sldId id="383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404" r:id="rId19"/>
    <p:sldId id="398" r:id="rId20"/>
    <p:sldId id="402" r:id="rId21"/>
    <p:sldId id="399" r:id="rId22"/>
    <p:sldId id="40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0B539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28"/>
    <p:restoredTop sz="87303" autoAdjust="0"/>
  </p:normalViewPr>
  <p:slideViewPr>
    <p:cSldViewPr snapToGrid="0" snapToObjects="1">
      <p:cViewPr varScale="1">
        <p:scale>
          <a:sx n="68" d="100"/>
          <a:sy n="68" d="100"/>
        </p:scale>
        <p:origin x="106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 Mohan" userId="88f4b4da-8dca-46b3-95ca-729f40a86975" providerId="ADAL" clId="{51B8FFEB-B4AF-4B4E-AAE0-8796815F75F1}"/>
    <pc:docChg chg="undo custSel addSld delSld modSld sldOrd">
      <pc:chgData name="Madhur Mohan" userId="88f4b4da-8dca-46b3-95ca-729f40a86975" providerId="ADAL" clId="{51B8FFEB-B4AF-4B4E-AAE0-8796815F75F1}" dt="2026-10-08T04:09:35.645" v="588" actId="47"/>
      <pc:docMkLst>
        <pc:docMk/>
      </pc:docMkLst>
      <pc:sldChg chg="del">
        <pc:chgData name="Madhur Mohan" userId="88f4b4da-8dca-46b3-95ca-729f40a86975" providerId="ADAL" clId="{51B8FFEB-B4AF-4B4E-AAE0-8796815F75F1}" dt="2026-10-08T04:09:34.741" v="586" actId="47"/>
        <pc:sldMkLst>
          <pc:docMk/>
          <pc:sldMk cId="2111199439" sldId="294"/>
        </pc:sldMkLst>
      </pc:sldChg>
      <pc:sldChg chg="del">
        <pc:chgData name="Madhur Mohan" userId="88f4b4da-8dca-46b3-95ca-729f40a86975" providerId="ADAL" clId="{51B8FFEB-B4AF-4B4E-AAE0-8796815F75F1}" dt="2026-10-08T04:09:23.495" v="580" actId="47"/>
        <pc:sldMkLst>
          <pc:docMk/>
          <pc:sldMk cId="619280410" sldId="377"/>
        </pc:sldMkLst>
      </pc:sldChg>
      <pc:sldChg chg="del">
        <pc:chgData name="Madhur Mohan" userId="88f4b4da-8dca-46b3-95ca-729f40a86975" providerId="ADAL" clId="{51B8FFEB-B4AF-4B4E-AAE0-8796815F75F1}" dt="2026-10-08T04:09:30.678" v="584" actId="47"/>
        <pc:sldMkLst>
          <pc:docMk/>
          <pc:sldMk cId="1100506718" sldId="379"/>
        </pc:sldMkLst>
      </pc:sldChg>
      <pc:sldChg chg="del">
        <pc:chgData name="Madhur Mohan" userId="88f4b4da-8dca-46b3-95ca-729f40a86975" providerId="ADAL" clId="{51B8FFEB-B4AF-4B4E-AAE0-8796815F75F1}" dt="2026-10-08T04:09:32.809" v="585" actId="47"/>
        <pc:sldMkLst>
          <pc:docMk/>
          <pc:sldMk cId="2436049812" sldId="382"/>
        </pc:sldMkLst>
      </pc:sldChg>
      <pc:sldChg chg="del">
        <pc:chgData name="Madhur Mohan" userId="88f4b4da-8dca-46b3-95ca-729f40a86975" providerId="ADAL" clId="{51B8FFEB-B4AF-4B4E-AAE0-8796815F75F1}" dt="2026-10-08T04:09:35.261" v="587" actId="47"/>
        <pc:sldMkLst>
          <pc:docMk/>
          <pc:sldMk cId="1217764678" sldId="385"/>
        </pc:sldMkLst>
      </pc:sldChg>
      <pc:sldChg chg="del">
        <pc:chgData name="Madhur Mohan" userId="88f4b4da-8dca-46b3-95ca-729f40a86975" providerId="ADAL" clId="{51B8FFEB-B4AF-4B4E-AAE0-8796815F75F1}" dt="2026-10-08T04:09:35.645" v="588" actId="47"/>
        <pc:sldMkLst>
          <pc:docMk/>
          <pc:sldMk cId="695746906" sldId="386"/>
        </pc:sldMkLst>
      </pc:sldChg>
      <pc:sldChg chg="del">
        <pc:chgData name="Madhur Mohan" userId="88f4b4da-8dca-46b3-95ca-729f40a86975" providerId="ADAL" clId="{51B8FFEB-B4AF-4B4E-AAE0-8796815F75F1}" dt="2026-10-08T04:09:30.077" v="583" actId="47"/>
        <pc:sldMkLst>
          <pc:docMk/>
          <pc:sldMk cId="4258433498" sldId="387"/>
        </pc:sldMkLst>
      </pc:sldChg>
      <pc:sldChg chg="del">
        <pc:chgData name="Madhur Mohan" userId="88f4b4da-8dca-46b3-95ca-729f40a86975" providerId="ADAL" clId="{51B8FFEB-B4AF-4B4E-AAE0-8796815F75F1}" dt="2026-10-08T04:09:25.843" v="581" actId="47"/>
        <pc:sldMkLst>
          <pc:docMk/>
          <pc:sldMk cId="1732391840" sldId="401"/>
        </pc:sldMkLst>
      </pc:sldChg>
      <pc:sldChg chg="del">
        <pc:chgData name="Madhur Mohan" userId="88f4b4da-8dca-46b3-95ca-729f40a86975" providerId="ADAL" clId="{51B8FFEB-B4AF-4B4E-AAE0-8796815F75F1}" dt="2026-10-08T04:09:28.388" v="582" actId="47"/>
        <pc:sldMkLst>
          <pc:docMk/>
          <pc:sldMk cId="3171161733" sldId="4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8478D-2017-6B42-82DF-31F349C5E37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6EEE4-7788-8D4C-B106-DDC1CC62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7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955AC-BBE9-A144-BEA0-0A44958C1A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64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45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54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9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quality is a focused evaluation that reflects the customer’s perception of reliability, assurance, responsiveness, empathy, and tangibles. </a:t>
            </a:r>
          </a:p>
          <a:p>
            <a:r>
              <a:rPr lang="en-US" dirty="0"/>
              <a:t>Customer satisfaction is more inclusive – it is influenced by perceptions of service quality, product quality, and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25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70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customers may also be partially responsible for how things turn out due to coproduction attribute of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20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51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02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33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95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83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7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82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54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257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90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33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262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4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4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4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0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4EE006-398F-E147-9CF2-66454FD34446}"/>
              </a:ext>
            </a:extLst>
          </p:cNvPr>
          <p:cNvSpPr txBox="1"/>
          <p:nvPr/>
        </p:nvSpPr>
        <p:spPr>
          <a:xfrm>
            <a:off x="0" y="2129587"/>
            <a:ext cx="121920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4</a:t>
            </a:r>
          </a:p>
          <a:p>
            <a:pPr algn="ctr"/>
            <a:endParaRPr lang="en-US" sz="4000" dirty="0">
              <a:solidFill>
                <a:srgbClr val="820002"/>
              </a:solidFill>
              <a:latin typeface="Garamond" panose="02020404030301010803" pitchFamily="18" charset="0"/>
            </a:endParaRPr>
          </a:p>
          <a:p>
            <a:pPr algn="ctr"/>
            <a:r>
              <a:rPr lang="en-US" sz="3800" dirty="0">
                <a:latin typeface="Garamond" panose="02020404030301010803" pitchFamily="18" charset="0"/>
              </a:rPr>
              <a:t>Customer Perceptions of Service</a:t>
            </a:r>
          </a:p>
        </p:txBody>
      </p:sp>
    </p:spTree>
    <p:extLst>
      <p:ext uri="{BB962C8B-B14F-4D97-AF65-F5344CB8AC3E}">
        <p14:creationId xmlns:p14="http://schemas.microsoft.com/office/powerpoint/2010/main" val="35884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7970"/>
            <a:ext cx="8229600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Objectives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724647-207F-1346-BC45-932603259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445" y="1744579"/>
            <a:ext cx="10145110" cy="415235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1800"/>
              </a:spcBef>
              <a:buClrTx/>
              <a:buFont typeface="+mj-lt"/>
              <a:buAutoNum type="arabicPeriod"/>
            </a:pPr>
            <a:r>
              <a:rPr lang="en-US" altLang="en-US" sz="2500" dirty="0">
                <a:latin typeface="Garamond" panose="02020404030301010803" pitchFamily="18" charset="0"/>
              </a:rPr>
              <a:t>Identify what influences customer perceptions of service and the relationships among customer satisfaction, service quality, and individual service encounters.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ClrTx/>
              <a:buFont typeface="+mj-lt"/>
              <a:buAutoNum type="arabicPeriod"/>
            </a:pPr>
            <a:r>
              <a:rPr lang="en-US" altLang="en-US" sz="2500" dirty="0">
                <a:latin typeface="Garamond" panose="02020404030301010803" pitchFamily="18" charset="0"/>
              </a:rPr>
              <a:t>Demonstrate the importance of customer satisfaction, factors influencing it, and its outcomes.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ClrTx/>
              <a:buFont typeface="+mj-lt"/>
              <a:buAutoNum type="arabicPeriod"/>
            </a:pPr>
            <a:r>
              <a:rPr lang="en-US" altLang="en-US" sz="2500" dirty="0">
                <a:latin typeface="Garamond" panose="02020404030301010803" pitchFamily="18" charset="0"/>
              </a:rPr>
              <a:t>Develop critical knowledge of service quality and its key dimensions – online and offline.</a:t>
            </a: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ClrTx/>
              <a:buFont typeface="+mj-lt"/>
              <a:buAutoNum type="arabicPeriod"/>
            </a:pPr>
            <a:r>
              <a:rPr lang="en-US" altLang="en-US" sz="2500" dirty="0">
                <a:latin typeface="Garamond" panose="02020404030301010803" pitchFamily="18" charset="0"/>
              </a:rPr>
              <a:t>Discover ‘moments of truth’.</a:t>
            </a:r>
          </a:p>
        </p:txBody>
      </p:sp>
    </p:spTree>
    <p:extLst>
      <p:ext uri="{BB962C8B-B14F-4D97-AF65-F5344CB8AC3E}">
        <p14:creationId xmlns:p14="http://schemas.microsoft.com/office/powerpoint/2010/main" val="72505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Customer Perceptions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C041-1AAA-B225-6A57-2EADAD1A52AF}"/>
              </a:ext>
            </a:extLst>
          </p:cNvPr>
          <p:cNvSpPr txBox="1">
            <a:spLocks/>
          </p:cNvSpPr>
          <p:nvPr/>
        </p:nvSpPr>
        <p:spPr>
          <a:xfrm>
            <a:off x="814137" y="1879599"/>
            <a:ext cx="4580823" cy="356979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>
                <a:latin typeface="Garamond" panose="02020404030301010803" pitchFamily="18" charset="0"/>
              </a:rPr>
              <a:t>How do customers finally perceive the service they have received (the outcome)?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E7940-D344-1FA0-DC9C-CE79A696BD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647"/>
          <a:stretch/>
        </p:blipFill>
        <p:spPr>
          <a:xfrm>
            <a:off x="5394960" y="1879599"/>
            <a:ext cx="6676944" cy="356978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2515704-03E0-FEF0-8ADB-665E933F65B3}"/>
              </a:ext>
            </a:extLst>
          </p:cNvPr>
          <p:cNvSpPr/>
          <p:nvPr/>
        </p:nvSpPr>
        <p:spPr>
          <a:xfrm>
            <a:off x="4765040" y="4287520"/>
            <a:ext cx="1493520" cy="36576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1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To 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C041-1AAA-B225-6A57-2EADAD1A52AF}"/>
              </a:ext>
            </a:extLst>
          </p:cNvPr>
          <p:cNvSpPr txBox="1">
            <a:spLocks/>
          </p:cNvSpPr>
          <p:nvPr/>
        </p:nvSpPr>
        <p:spPr>
          <a:xfrm>
            <a:off x="814137" y="1874277"/>
            <a:ext cx="10727623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Perceptions are subjective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Expectations are dynamic (i.e., always changing or context dependent)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Things that satisfy customers today may be different tomorrow</a:t>
            </a:r>
          </a:p>
        </p:txBody>
      </p:sp>
    </p:spTree>
    <p:extLst>
      <p:ext uri="{BB962C8B-B14F-4D97-AF65-F5344CB8AC3E}">
        <p14:creationId xmlns:p14="http://schemas.microsoft.com/office/powerpoint/2010/main" val="206444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Transaction-specific vs. Cumulative Customer Perceptions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32702F-F57A-9EBD-732E-A390D4D9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520" y="1612232"/>
            <a:ext cx="9855200" cy="41523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Customers will have perceptions of single, </a:t>
            </a:r>
            <a:r>
              <a:rPr lang="en-US" altLang="en-US" sz="2800" b="1" dirty="0">
                <a:latin typeface="Garamond" panose="02020404030301010803" pitchFamily="18" charset="0"/>
              </a:rPr>
              <a:t>transaction-specific encounters</a:t>
            </a:r>
            <a:r>
              <a:rPr lang="en-US" altLang="en-US" sz="2800" dirty="0">
                <a:latin typeface="Garamond" panose="02020404030301010803" pitchFamily="18" charset="0"/>
              </a:rPr>
              <a:t> as well as </a:t>
            </a:r>
            <a:r>
              <a:rPr lang="en-US" altLang="en-US" sz="2800" b="1" dirty="0">
                <a:latin typeface="Garamond" panose="02020404030301010803" pitchFamily="18" charset="0"/>
              </a:rPr>
              <a:t>overall perceptions</a:t>
            </a:r>
            <a:r>
              <a:rPr lang="en-US" altLang="en-US" sz="2800" dirty="0">
                <a:latin typeface="Garamond" panose="02020404030301010803" pitchFamily="18" charset="0"/>
              </a:rPr>
              <a:t> of the company based on all the experiences.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Garamond" panose="02020404030301010803" pitchFamily="18" charset="0"/>
              </a:rPr>
              <a:t>Isolated encounters </a:t>
            </a:r>
            <a:r>
              <a:rPr lang="en-US" altLang="en-US" sz="2800" dirty="0">
                <a:latin typeface="Garamond" panose="02020404030301010803" pitchFamily="18" charset="0"/>
              </a:rPr>
              <a:t>are building blocks for overall, cumulative perceptions.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Garamond" panose="02020404030301010803" pitchFamily="18" charset="0"/>
              </a:rPr>
              <a:t>Cumulative perceptions </a:t>
            </a:r>
            <a:r>
              <a:rPr lang="en-US" altLang="en-US" sz="2800" dirty="0">
                <a:latin typeface="Garamond" panose="02020404030301010803" pitchFamily="18" charset="0"/>
              </a:rPr>
              <a:t>are likely to be better predictors of overall loyalty to a company.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26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1B9C-8868-84B5-4F95-5DE149D6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Garamond" panose="02020404030301010803" pitchFamily="18" charset="0"/>
              </a:rPr>
              <a:t>Customer satisfaction is the customer’s evaluation of a product or service in terms of whether that product or service has met customer’s expectations.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5BA38-BDF2-9021-4B0B-810475FAC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Garamond" panose="02020404030301010803" pitchFamily="18" charset="0"/>
              </a:rPr>
              <a:t>Failure to meet expectations results in </a:t>
            </a:r>
            <a:r>
              <a:rPr lang="en-US" sz="2400" b="1" dirty="0">
                <a:latin typeface="Garamond" panose="02020404030301010803" pitchFamily="18" charset="0"/>
              </a:rPr>
              <a:t>customer dissatisfaction</a:t>
            </a:r>
            <a:r>
              <a:rPr lang="en-US" sz="2400" dirty="0">
                <a:latin typeface="Garamond" panose="020204040303010108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4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Customer Satisfaction vs. Service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C041-1AAA-B225-6A57-2EADAD1A52AF}"/>
              </a:ext>
            </a:extLst>
          </p:cNvPr>
          <p:cNvSpPr txBox="1">
            <a:spLocks/>
          </p:cNvSpPr>
          <p:nvPr/>
        </p:nvSpPr>
        <p:spPr>
          <a:xfrm flipH="1">
            <a:off x="7083552" y="1874277"/>
            <a:ext cx="4864608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These two concepts are fundamentally different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Service quality: focuses on a dimension of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Satisfaction: broader 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Garamond" panose="02020404030301010803" pitchFamily="18" charset="0"/>
              </a:rPr>
              <a:t>Perceived service quality is one component the contributes to customer satisfaction </a:t>
            </a:r>
            <a:r>
              <a:rPr lang="en-US" sz="2800" dirty="0">
                <a:latin typeface="Garamond" panose="02020404030301010803" pitchFamily="18" charset="0"/>
              </a:rPr>
              <a:t>(or dissatisfaction)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BB0E5-D277-AC62-409B-6E8A49AB28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33" b="20901"/>
          <a:stretch/>
        </p:blipFill>
        <p:spPr>
          <a:xfrm>
            <a:off x="608416" y="1540691"/>
            <a:ext cx="6228480" cy="357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35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Product and Service Features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32702F-F57A-9EBD-732E-A390D4D9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7" y="1612232"/>
            <a:ext cx="10788583" cy="41523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Firms need to determine which attributes or features are most important to their customers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Tools to help with this include – </a:t>
            </a:r>
            <a:r>
              <a:rPr lang="en-US" altLang="en-US" sz="2600" dirty="0">
                <a:latin typeface="Garamond" panose="02020404030301010803" pitchFamily="18" charset="0"/>
              </a:rPr>
              <a:t>Surveys, Focus groups, Marketing research / empirical testing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Firms also need to determine which attributes customers will be willing to trade-off: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Higher quality for higher price?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Conjoint design is a great tool to help with this</a:t>
            </a:r>
          </a:p>
        </p:txBody>
      </p:sp>
    </p:spTree>
    <p:extLst>
      <p:ext uri="{BB962C8B-B14F-4D97-AF65-F5344CB8AC3E}">
        <p14:creationId xmlns:p14="http://schemas.microsoft.com/office/powerpoint/2010/main" val="155345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Attributions to Service Success or Failure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32702F-F57A-9EBD-732E-A390D4D9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7" y="1459832"/>
            <a:ext cx="10788583" cy="41523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Customers tend to look for reasons as to why they are satisfied or dissatisfied with a service.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Customers may attribute service success or failure to –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Employees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Price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Interactions / other customers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Depending on what a specific customer attributes their feelings to, can also determine customer satisfaction.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53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Other Customers, Family Members, and Coworkers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32702F-F57A-9EBD-732E-A390D4D9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37" y="1612232"/>
            <a:ext cx="10788583" cy="41523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Customer satisfaction may be influenced by other people.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Garamond" panose="02020404030301010803" pitchFamily="18" charset="0"/>
              </a:rPr>
              <a:t>Group dynamics, stories of other people, experiences of others may affect customer satisfaction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Ex: not all members of a family will have the exact same customer satisfaction experience on a family vacation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28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1B9C-8868-84B5-4F95-5DE149D6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Garamond" panose="02020404030301010803" pitchFamily="18" charset="0"/>
              </a:rPr>
              <a:t>Customers do not perceive service quality in a unidimensional context but rather judge it based on multiple context-relevant factors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5BA38-BDF2-9021-4B0B-810475FAC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Garamond" panose="02020404030301010803" pitchFamily="18" charset="0"/>
              </a:rPr>
              <a:t>What do you think are some determinants of service quality?</a:t>
            </a:r>
          </a:p>
        </p:txBody>
      </p:sp>
    </p:spTree>
    <p:extLst>
      <p:ext uri="{BB962C8B-B14F-4D97-AF65-F5344CB8AC3E}">
        <p14:creationId xmlns:p14="http://schemas.microsoft.com/office/powerpoint/2010/main" val="426848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Quality Dimensions</a:t>
            </a:r>
          </a:p>
        </p:txBody>
      </p:sp>
      <p:pic>
        <p:nvPicPr>
          <p:cNvPr id="3" name="Picture 2" descr="Alphabet A icon PNG and SVG Vector Free Download">
            <a:extLst>
              <a:ext uri="{FF2B5EF4-FFF2-40B4-BE49-F238E27FC236}">
                <a16:creationId xmlns:a16="http://schemas.microsoft.com/office/drawing/2014/main" id="{6CC8B860-CCC2-7970-0727-82ACD1F10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69" y="230782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phabet R icon PNG and SVG Vector Free Download">
            <a:extLst>
              <a:ext uri="{FF2B5EF4-FFF2-40B4-BE49-F238E27FC236}">
                <a16:creationId xmlns:a16="http://schemas.microsoft.com/office/drawing/2014/main" id="{70631104-67EB-1EC9-1797-D54243604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38" y="230782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lphabet T icon PNG and SVG Vector Free Download">
            <a:extLst>
              <a:ext uri="{FF2B5EF4-FFF2-40B4-BE49-F238E27FC236}">
                <a16:creationId xmlns:a16="http://schemas.microsoft.com/office/drawing/2014/main" id="{2E53C7CD-EB6A-4B15-5153-CCBCD0C04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30782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lphabet E icon PNG and SVG Vector Free Download">
            <a:extLst>
              <a:ext uri="{FF2B5EF4-FFF2-40B4-BE49-F238E27FC236}">
                <a16:creationId xmlns:a16="http://schemas.microsoft.com/office/drawing/2014/main" id="{B2C0F1CE-EF2E-1F71-A2BC-5A042C24E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31" y="230782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lphabet R icon PNG and SVG Vector Free Download">
            <a:extLst>
              <a:ext uri="{FF2B5EF4-FFF2-40B4-BE49-F238E27FC236}">
                <a16:creationId xmlns:a16="http://schemas.microsoft.com/office/drawing/2014/main" id="{71787898-33E9-84BF-55AF-00A4B92D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5862" y="230782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42E3A4-7F95-02BF-381D-6CF7CC05B96A}"/>
              </a:ext>
            </a:extLst>
          </p:cNvPr>
          <p:cNvSpPr txBox="1"/>
          <p:nvPr/>
        </p:nvSpPr>
        <p:spPr>
          <a:xfrm>
            <a:off x="761091" y="4260069"/>
            <a:ext cx="1481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Reliability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F28FC-EC4C-E131-33E9-F41CC5F6C1BD}"/>
              </a:ext>
            </a:extLst>
          </p:cNvPr>
          <p:cNvSpPr txBox="1"/>
          <p:nvPr/>
        </p:nvSpPr>
        <p:spPr>
          <a:xfrm>
            <a:off x="3058222" y="4260069"/>
            <a:ext cx="1481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Assurance</a:t>
            </a:r>
            <a:endParaRPr 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1DE82-FC46-4F54-A066-06FBF5848BDE}"/>
              </a:ext>
            </a:extLst>
          </p:cNvPr>
          <p:cNvSpPr txBox="1"/>
          <p:nvPr/>
        </p:nvSpPr>
        <p:spPr>
          <a:xfrm>
            <a:off x="5355353" y="4260069"/>
            <a:ext cx="1481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Tangibles</a:t>
            </a:r>
            <a:endParaRPr 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1B99A-0002-FD0F-6D1E-EDAE7D8EBAAB}"/>
              </a:ext>
            </a:extLst>
          </p:cNvPr>
          <p:cNvSpPr txBox="1"/>
          <p:nvPr/>
        </p:nvSpPr>
        <p:spPr>
          <a:xfrm>
            <a:off x="7652484" y="4260069"/>
            <a:ext cx="1481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Empathy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61BD2-840B-B31C-6D6E-7E677942B7EF}"/>
              </a:ext>
            </a:extLst>
          </p:cNvPr>
          <p:cNvSpPr txBox="1"/>
          <p:nvPr/>
        </p:nvSpPr>
        <p:spPr>
          <a:xfrm>
            <a:off x="9725712" y="4260069"/>
            <a:ext cx="1929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Responsiveness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3067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Reliability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5B790DD-535E-241C-DC8B-9F44B03D8FCF}"/>
              </a:ext>
            </a:extLst>
          </p:cNvPr>
          <p:cNvSpPr txBox="1">
            <a:spLocks/>
          </p:cNvSpPr>
          <p:nvPr/>
        </p:nvSpPr>
        <p:spPr>
          <a:xfrm>
            <a:off x="814137" y="1874277"/>
            <a:ext cx="5564085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The ability to perform the promised service dependably and accurately.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Most important dimension in increasing customer perception of service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Which companies do this well?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29409-FF08-F8D3-1786-D0872665E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931" y="2209925"/>
            <a:ext cx="5332179" cy="279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6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Assurance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5B790DD-535E-241C-DC8B-9F44B03D8FCF}"/>
              </a:ext>
            </a:extLst>
          </p:cNvPr>
          <p:cNvSpPr txBox="1">
            <a:spLocks/>
          </p:cNvSpPr>
          <p:nvPr/>
        </p:nvSpPr>
        <p:spPr>
          <a:xfrm>
            <a:off x="814137" y="1874277"/>
            <a:ext cx="6659107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Employees’ knowledge and courtesy and the ability of the firm and its employees to inspire customer trust and confidence.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This is especially important in services that are high-risk or </a:t>
            </a:r>
            <a:r>
              <a:rPr lang="en-US" sz="3200" b="1" dirty="0">
                <a:latin typeface="Garamond" panose="02020404030301010803" pitchFamily="18" charset="0"/>
              </a:rPr>
              <a:t>CREDENCE</a:t>
            </a:r>
            <a:r>
              <a:rPr lang="en-US" sz="3200" dirty="0">
                <a:latin typeface="Garamond" panose="020204040303010108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What is an example of a high-risk service?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BF431-0341-1FE2-B7E5-5B088D3E8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300" y="1860391"/>
            <a:ext cx="3999135" cy="31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5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Tangibles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5B790DD-535E-241C-DC8B-9F44B03D8FCF}"/>
              </a:ext>
            </a:extLst>
          </p:cNvPr>
          <p:cNvSpPr txBox="1">
            <a:spLocks/>
          </p:cNvSpPr>
          <p:nvPr/>
        </p:nvSpPr>
        <p:spPr>
          <a:xfrm>
            <a:off x="814137" y="1874277"/>
            <a:ext cx="443519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Representing the service physically through the appearance of physical facilities, equipment, personnel, and communication materials.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Used to enhance the company image, provide continuity, and signal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Most companies combine this with another dimension to create a service quality strategy.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3F38B-3868-02DD-2222-FF0C2874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333" y="1916610"/>
            <a:ext cx="6882066" cy="34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3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Empathy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5B790DD-535E-241C-DC8B-9F44B03D8FCF}"/>
              </a:ext>
            </a:extLst>
          </p:cNvPr>
          <p:cNvSpPr txBox="1">
            <a:spLocks/>
          </p:cNvSpPr>
          <p:nvPr/>
        </p:nvSpPr>
        <p:spPr>
          <a:xfrm>
            <a:off x="814137" y="1874277"/>
            <a:ext cx="1066902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The caring, individualized attention that the firm provides its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This can be reflected in behaviors like knowing customers names, knowing customers preferences,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Why do you think this would be important?</a:t>
            </a:r>
          </a:p>
        </p:txBody>
      </p:sp>
    </p:spTree>
    <p:extLst>
      <p:ext uri="{BB962C8B-B14F-4D97-AF65-F5344CB8AC3E}">
        <p14:creationId xmlns:p14="http://schemas.microsoft.com/office/powerpoint/2010/main" val="218016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Responsiveness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5B790DD-535E-241C-DC8B-9F44B03D8FCF}"/>
              </a:ext>
            </a:extLst>
          </p:cNvPr>
          <p:cNvSpPr txBox="1">
            <a:spLocks/>
          </p:cNvSpPr>
          <p:nvPr/>
        </p:nvSpPr>
        <p:spPr>
          <a:xfrm>
            <a:off x="814137" y="1874277"/>
            <a:ext cx="1066902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The willingness to help customers and provide prompt service.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Thanks to technology, customers have high expectations and a ‘need for speed’ in company response.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To be successful in this dimension, a company needs to handle responsiveness from the customer’s point of view and not the company’s point of view.</a:t>
            </a:r>
          </a:p>
        </p:txBody>
      </p:sp>
    </p:spTree>
    <p:extLst>
      <p:ext uri="{BB962C8B-B14F-4D97-AF65-F5344CB8AC3E}">
        <p14:creationId xmlns:p14="http://schemas.microsoft.com/office/powerpoint/2010/main" val="266839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59D4-252B-C4F3-1A58-AA1C21C3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F6626-EBF7-B249-AA16-0BD3DCA7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C742D-2B2D-47F1-2B92-E1A51A5B3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59" y="2227041"/>
            <a:ext cx="9433082" cy="2403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F39745-D7AE-0D4B-4143-C739C16DB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11711"/>
            <a:ext cx="9045724" cy="11430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7C4D46-F1EE-1E01-5517-DF93CD9D0395}"/>
              </a:ext>
            </a:extLst>
          </p:cNvPr>
          <p:cNvSpPr txBox="1"/>
          <p:nvPr/>
        </p:nvSpPr>
        <p:spPr>
          <a:xfrm>
            <a:off x="5311422" y="5389277"/>
            <a:ext cx="6107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https://www.forbes.com/sites/tmobile/2019/11/14/how-t-mobiles-team-of-experts-reinvented-customer-support/</a:t>
            </a:r>
          </a:p>
        </p:txBody>
      </p:sp>
    </p:spTree>
    <p:extLst>
      <p:ext uri="{BB962C8B-B14F-4D97-AF65-F5344CB8AC3E}">
        <p14:creationId xmlns:p14="http://schemas.microsoft.com/office/powerpoint/2010/main" val="264800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Encounters or “Moments of Truth”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C041-1AAA-B225-6A57-2EADAD1A52AF}"/>
              </a:ext>
            </a:extLst>
          </p:cNvPr>
          <p:cNvSpPr txBox="1">
            <a:spLocks/>
          </p:cNvSpPr>
          <p:nvPr/>
        </p:nvSpPr>
        <p:spPr>
          <a:xfrm>
            <a:off x="814138" y="1640361"/>
            <a:ext cx="5281862" cy="40325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A service encounter occurs every time a customer interacts with the organization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Customers use these encounters (the customer journey) to assess the organization’s service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Each encounter is an opportunity to prove the companies’ potential.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Garamond" panose="020204040303010108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3C4A9F-CB5C-C436-ECD8-17B8657C90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558"/>
          <a:stretch/>
        </p:blipFill>
        <p:spPr>
          <a:xfrm>
            <a:off x="6138018" y="1481407"/>
            <a:ext cx="6378533" cy="435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7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653E-006A-18E2-5245-0DB90554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Netflix case - encounters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445CB-55A5-BE1D-B21C-C99883CC0185}"/>
              </a:ext>
            </a:extLst>
          </p:cNvPr>
          <p:cNvSpPr txBox="1"/>
          <p:nvPr/>
        </p:nvSpPr>
        <p:spPr>
          <a:xfrm>
            <a:off x="1653822" y="1646238"/>
            <a:ext cx="96011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Help </a:t>
            </a:r>
            <a:r>
              <a:rPr lang="en-IN" sz="1400" dirty="0" err="1"/>
              <a:t>Center</a:t>
            </a:r>
            <a:r>
              <a:rPr lang="en-IN" sz="1400" dirty="0"/>
              <a:t> — customer researches plans, features, or common questions.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Plan-selection screen — customer chooses a subscription plan.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Email or phone verification — customer verifies their identity or contact details.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Login screen — customer signs into Netflix.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Password-reset process — used if the customer cannot log in.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Kids profiles — customer creates a child-friendly profile.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Parental controls — customer sets maturity restrictions and viewing limits.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Personalized rows — Netflix presents content based on the customer’s preferences.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Search function — customer looks for a particular movie or series.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Video player — customer begins watching content.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Video-quality controls — customer adjusts streaming quality or data usage.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Skip Intro — customer skips a program’s opening sequence.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Buffering support — customer encounters and troubleshoots playback interruptions.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Recommendations — Netflix suggests content during and after viewing.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Notifications — customer receives updates about releases, recommendations, or account activity.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Live chat — customer contacts support when self-service options are insufficient.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Complaint handling — Netflix addresses an unresolved service or account problem.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Billing support — customer gets help with charges or payment issues.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Refund — an eligible disputed charge is reversed.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1400" dirty="0"/>
              <a:t>Billing or cancellation — customer manages payments, changes the plan, or ends the subscription.</a:t>
            </a:r>
          </a:p>
        </p:txBody>
      </p:sp>
    </p:spTree>
    <p:extLst>
      <p:ext uri="{BB962C8B-B14F-4D97-AF65-F5344CB8AC3E}">
        <p14:creationId xmlns:p14="http://schemas.microsoft.com/office/powerpoint/2010/main" val="356083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Types of Service Encounters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71D31D-60E4-1E42-887D-0FADF27FC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459327"/>
              </p:ext>
            </p:extLst>
          </p:nvPr>
        </p:nvGraphicFramePr>
        <p:xfrm>
          <a:off x="833571" y="1656418"/>
          <a:ext cx="10818368" cy="409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9184">
                  <a:extLst>
                    <a:ext uri="{9D8B030D-6E8A-4147-A177-3AD203B41FA5}">
                      <a16:colId xmlns:a16="http://schemas.microsoft.com/office/drawing/2014/main" val="3394667482"/>
                    </a:ext>
                  </a:extLst>
                </a:gridCol>
                <a:gridCol w="5409184">
                  <a:extLst>
                    <a:ext uri="{9D8B030D-6E8A-4147-A177-3AD203B41FA5}">
                      <a16:colId xmlns:a16="http://schemas.microsoft.com/office/drawing/2014/main" val="2144571520"/>
                    </a:ext>
                  </a:extLst>
                </a:gridCol>
              </a:tblGrid>
              <a:tr h="435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 types of service encounters exist: </a:t>
                      </a:r>
                    </a:p>
                  </a:txBody>
                  <a:tcPr marL="121706" marR="121706" marT="50292" marB="50292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are important criterion to judge quality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706" marR="121706" marT="50292" marB="50292"/>
                </a:tc>
                <a:extLst>
                  <a:ext uri="{0D108BD9-81ED-4DB2-BD59-A6C34878D82A}">
                    <a16:rowId xmlns:a16="http://schemas.microsoft.com/office/drawing/2014/main" val="288997273"/>
                  </a:ext>
                </a:extLst>
              </a:tr>
              <a:tr h="1106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encounters: no direct human contact (e.g., ATM).</a:t>
                      </a:r>
                    </a:p>
                    <a:p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706" marR="121706" marT="50292" marB="50292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Tangible components; </a:t>
                      </a: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specifications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706" marR="121706" marT="50292" marB="50292"/>
                </a:tc>
                <a:extLst>
                  <a:ext uri="{0D108BD9-81ED-4DB2-BD59-A6C34878D82A}">
                    <a16:rowId xmlns:a16="http://schemas.microsoft.com/office/drawing/2014/main" val="534659644"/>
                  </a:ext>
                </a:extLst>
              </a:tr>
              <a:tr h="1106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Technology-mediated encounters: interaction through technology (e.g., text, online chat).</a:t>
                      </a:r>
                    </a:p>
                    <a:p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706" marR="121706" marT="50292" marB="50292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Tone of voice, Employee language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706" marR="121706" marT="50292" marB="50292"/>
                </a:tc>
                <a:extLst>
                  <a:ext uri="{0D108BD9-81ED-4DB2-BD59-A6C34878D82A}">
                    <a16:rowId xmlns:a16="http://schemas.microsoft.com/office/drawing/2014/main" val="768648378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Face-to-face encounters: direct personal contact.</a:t>
                      </a:r>
                    </a:p>
                    <a:p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706" marR="121706" marT="50292" marB="50292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complex; both verbal and non-verbal behaviors. Tangible cues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706" marR="121706" marT="50292" marB="50292"/>
                </a:tc>
                <a:extLst>
                  <a:ext uri="{0D108BD9-81ED-4DB2-BD59-A6C34878D82A}">
                    <a16:rowId xmlns:a16="http://schemas.microsoft.com/office/drawing/2014/main" val="177678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66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Sources of Customer Dis/satisfaction in Service Encounters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32702F-F57A-9EBD-732E-A390D4D9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51" y="1612232"/>
            <a:ext cx="11132289" cy="41523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 b="1" u="sng" dirty="0">
                <a:latin typeface="Garamond" panose="02020404030301010803" pitchFamily="18" charset="0"/>
              </a:rPr>
              <a:t>Recovery</a:t>
            </a:r>
            <a:r>
              <a:rPr lang="en-US" altLang="en-US" sz="2800" dirty="0">
                <a:latin typeface="Garamond" panose="02020404030301010803" pitchFamily="18" charset="0"/>
              </a:rPr>
              <a:t> – employee response to service delivery system failures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Ex: A complaint from a client about an issue with software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 b="1" u="sng" dirty="0">
                <a:latin typeface="Garamond" panose="02020404030301010803" pitchFamily="18" charset="0"/>
              </a:rPr>
              <a:t>Adaptability</a:t>
            </a:r>
            <a:r>
              <a:rPr lang="en-US" altLang="en-US" sz="2800" dirty="0">
                <a:latin typeface="Garamond" panose="02020404030301010803" pitchFamily="18" charset="0"/>
              </a:rPr>
              <a:t> – employee response to customer needs and requests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Ex: Requests made for software/ service customization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 b="1" u="sng" dirty="0">
                <a:latin typeface="Garamond" panose="02020404030301010803" pitchFamily="18" charset="0"/>
              </a:rPr>
              <a:t>Spontaneity</a:t>
            </a:r>
            <a:r>
              <a:rPr lang="en-US" altLang="en-US" sz="2800" dirty="0">
                <a:latin typeface="Garamond" panose="02020404030301010803" pitchFamily="18" charset="0"/>
              </a:rPr>
              <a:t> – unprompted and unsolicited employee actions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Ex: Providing a service flow demo unprompted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 b="1" u="sng" dirty="0">
                <a:latin typeface="Garamond" panose="02020404030301010803" pitchFamily="18" charset="0"/>
              </a:rPr>
              <a:t>Coping</a:t>
            </a:r>
            <a:r>
              <a:rPr lang="en-US" altLang="en-US" sz="2800" dirty="0">
                <a:latin typeface="Garamond" panose="02020404030301010803" pitchFamily="18" charset="0"/>
              </a:rPr>
              <a:t> – employee response to problem customers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Garamond" panose="02020404030301010803" pitchFamily="18" charset="0"/>
              </a:rPr>
              <a:t>Ex: a client not providing proper specifications and then creating issues</a:t>
            </a:r>
          </a:p>
        </p:txBody>
      </p:sp>
    </p:spTree>
    <p:extLst>
      <p:ext uri="{BB962C8B-B14F-4D97-AF65-F5344CB8AC3E}">
        <p14:creationId xmlns:p14="http://schemas.microsoft.com/office/powerpoint/2010/main" val="326410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iamondgrid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amondgrid theme" id="{ED93937A-9EDD-431C-AF40-A6218FC4DE09}" vid="{8CDF1396-6A4F-4529-B9C5-69BA7F395D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diamondgrid theme</Template>
  <TotalTime>4801</TotalTime>
  <Words>1198</Words>
  <Application>Microsoft Office PowerPoint</Application>
  <PresentationFormat>Widescreen</PresentationFormat>
  <Paragraphs>135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Garamond</vt:lpstr>
      <vt:lpstr>Times New Roman</vt:lpstr>
      <vt:lpstr>Wingdings</vt:lpstr>
      <vt:lpstr>diamondgrid theme</vt:lpstr>
      <vt:lpstr>PowerPoint Presentation</vt:lpstr>
      <vt:lpstr>Chapter Objectives</vt:lpstr>
      <vt:lpstr>Customer Perceptions</vt:lpstr>
      <vt:lpstr>To Keep in Mind</vt:lpstr>
      <vt:lpstr>Transaction-specific vs. Cumulative Customer Perceptions</vt:lpstr>
      <vt:lpstr>Customer satisfaction is the customer’s evaluation of a product or service in terms of whether that product or service has met customer’s expectations.</vt:lpstr>
      <vt:lpstr>Customer Satisfaction vs. Service Quality</vt:lpstr>
      <vt:lpstr>Product and Service Features</vt:lpstr>
      <vt:lpstr>Attributions to Service Success or Failure</vt:lpstr>
      <vt:lpstr>Other Customers, Family Members, and Coworkers</vt:lpstr>
      <vt:lpstr>Customers do not perceive service quality in a unidimensional context but rather judge it based on multiple context-relevant factors</vt:lpstr>
      <vt:lpstr>Service Quality Dimensions</vt:lpstr>
      <vt:lpstr>Reliability</vt:lpstr>
      <vt:lpstr>Assurance</vt:lpstr>
      <vt:lpstr>Tangibles</vt:lpstr>
      <vt:lpstr>Empathy</vt:lpstr>
      <vt:lpstr>Responsiveness</vt:lpstr>
      <vt:lpstr>PowerPoint Presentation</vt:lpstr>
      <vt:lpstr>Service Encounters or “Moments of Truth”</vt:lpstr>
      <vt:lpstr>Netflix case - encounters</vt:lpstr>
      <vt:lpstr>Types of Service Encounters</vt:lpstr>
      <vt:lpstr>Sources of Customer Dis/satisfaction in Service Encounters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 Anh Nu Ton</dc:creator>
  <cp:lastModifiedBy>Madhur Mohan</cp:lastModifiedBy>
  <cp:revision>202</cp:revision>
  <dcterms:created xsi:type="dcterms:W3CDTF">2021-01-26T21:27:35Z</dcterms:created>
  <dcterms:modified xsi:type="dcterms:W3CDTF">2026-10-08T04:09:41Z</dcterms:modified>
</cp:coreProperties>
</file>