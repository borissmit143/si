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4"/>
  </p:notesMasterIdLst>
  <p:sldIdLst>
    <p:sldId id="344" r:id="rId2"/>
    <p:sldId id="345" r:id="rId3"/>
    <p:sldId id="347" r:id="rId4"/>
    <p:sldId id="391" r:id="rId5"/>
    <p:sldId id="392" r:id="rId6"/>
    <p:sldId id="393" r:id="rId7"/>
    <p:sldId id="394" r:id="rId8"/>
    <p:sldId id="266" r:id="rId9"/>
    <p:sldId id="396" r:id="rId10"/>
    <p:sldId id="397" r:id="rId11"/>
    <p:sldId id="398" r:id="rId12"/>
    <p:sldId id="405" r:id="rId13"/>
    <p:sldId id="406" r:id="rId14"/>
    <p:sldId id="407" r:id="rId15"/>
    <p:sldId id="399" r:id="rId16"/>
    <p:sldId id="400" r:id="rId17"/>
    <p:sldId id="401" r:id="rId18"/>
    <p:sldId id="402" r:id="rId19"/>
    <p:sldId id="395" r:id="rId20"/>
    <p:sldId id="403" r:id="rId21"/>
    <p:sldId id="408" r:id="rId22"/>
    <p:sldId id="38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B539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28"/>
    <p:restoredTop sz="90374" autoAdjust="0"/>
  </p:normalViewPr>
  <p:slideViewPr>
    <p:cSldViewPr snapToGrid="0" snapToObjects="1">
      <p:cViewPr varScale="1">
        <p:scale>
          <a:sx n="89" d="100"/>
          <a:sy n="89" d="100"/>
        </p:scale>
        <p:origin x="200"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C17CAC-3D8E-4D32-837E-7ACA8AB174B0}" type="doc">
      <dgm:prSet loTypeId="urn:microsoft.com/office/officeart/2005/8/layout/chevron1" loCatId="process" qsTypeId="urn:microsoft.com/office/officeart/2005/8/quickstyle/simple1" qsCatId="simple" csTypeId="urn:microsoft.com/office/officeart/2005/8/colors/accent1_3" csCatId="accent1" phldr="1"/>
      <dgm:spPr/>
    </dgm:pt>
    <dgm:pt modelId="{9F80C79D-E273-4AE8-8D8C-EE233BF4CDE0}">
      <dgm:prSet phldrT="[Text]" custT="1"/>
      <dgm:spPr/>
      <dgm:t>
        <a:bodyPr/>
        <a:lstStyle/>
        <a:p>
          <a:r>
            <a:rPr lang="en-US" sz="2200" dirty="0">
              <a:latin typeface="Gill Sans MT" panose="020B0502020104020203" pitchFamily="34" charset="0"/>
            </a:rPr>
            <a:t>Strangers</a:t>
          </a:r>
        </a:p>
      </dgm:t>
    </dgm:pt>
    <dgm:pt modelId="{DF4EF1D8-FBA0-44EE-84A1-5C06010B0E0F}" type="parTrans" cxnId="{C8C318A5-0951-4221-AC80-06E398875210}">
      <dgm:prSet/>
      <dgm:spPr/>
      <dgm:t>
        <a:bodyPr/>
        <a:lstStyle/>
        <a:p>
          <a:endParaRPr lang="en-US" sz="2200">
            <a:latin typeface="Gill Sans MT" panose="020B0502020104020203" pitchFamily="34" charset="0"/>
          </a:endParaRPr>
        </a:p>
      </dgm:t>
    </dgm:pt>
    <dgm:pt modelId="{7BA97294-0BB6-4DBB-B7B5-8B2381D829E1}" type="sibTrans" cxnId="{C8C318A5-0951-4221-AC80-06E398875210}">
      <dgm:prSet/>
      <dgm:spPr/>
      <dgm:t>
        <a:bodyPr/>
        <a:lstStyle/>
        <a:p>
          <a:endParaRPr lang="en-US" sz="2200">
            <a:latin typeface="Gill Sans MT" panose="020B0502020104020203" pitchFamily="34" charset="0"/>
          </a:endParaRPr>
        </a:p>
      </dgm:t>
    </dgm:pt>
    <dgm:pt modelId="{2B95F35A-041E-4E02-85DE-83DB0BBC1CC6}">
      <dgm:prSet phldrT="[Text]" custT="1"/>
      <dgm:spPr/>
      <dgm:t>
        <a:bodyPr/>
        <a:lstStyle/>
        <a:p>
          <a:r>
            <a:rPr lang="en-US" sz="2200" dirty="0">
              <a:latin typeface="Gill Sans MT" panose="020B0502020104020203" pitchFamily="34" charset="0"/>
            </a:rPr>
            <a:t>Acquaintances</a:t>
          </a:r>
        </a:p>
      </dgm:t>
    </dgm:pt>
    <dgm:pt modelId="{111869FA-5145-4DEB-BD41-5C7A3EC05EFB}" type="parTrans" cxnId="{ADB384DA-C829-4330-8D24-DE9EAD60B1E5}">
      <dgm:prSet/>
      <dgm:spPr/>
      <dgm:t>
        <a:bodyPr/>
        <a:lstStyle/>
        <a:p>
          <a:endParaRPr lang="en-US" sz="2200">
            <a:latin typeface="Gill Sans MT" panose="020B0502020104020203" pitchFamily="34" charset="0"/>
          </a:endParaRPr>
        </a:p>
      </dgm:t>
    </dgm:pt>
    <dgm:pt modelId="{1AB9B21A-05F7-42A8-987F-6662D8C0EEF2}" type="sibTrans" cxnId="{ADB384DA-C829-4330-8D24-DE9EAD60B1E5}">
      <dgm:prSet/>
      <dgm:spPr/>
      <dgm:t>
        <a:bodyPr/>
        <a:lstStyle/>
        <a:p>
          <a:endParaRPr lang="en-US" sz="2200">
            <a:latin typeface="Gill Sans MT" panose="020B0502020104020203" pitchFamily="34" charset="0"/>
          </a:endParaRPr>
        </a:p>
      </dgm:t>
    </dgm:pt>
    <dgm:pt modelId="{1F1139DC-C941-4FEE-BB79-79345F843BF7}">
      <dgm:prSet phldrT="[Text]" custT="1"/>
      <dgm:spPr/>
      <dgm:t>
        <a:bodyPr/>
        <a:lstStyle/>
        <a:p>
          <a:r>
            <a:rPr lang="en-US" sz="2200" dirty="0">
              <a:latin typeface="Gill Sans MT" panose="020B0502020104020203" pitchFamily="34" charset="0"/>
            </a:rPr>
            <a:t>Friends</a:t>
          </a:r>
        </a:p>
      </dgm:t>
    </dgm:pt>
    <dgm:pt modelId="{8098A445-6000-4656-BB05-11D6BBB064FB}" type="parTrans" cxnId="{CB7180F2-6165-4BA4-90B8-411E7F65106C}">
      <dgm:prSet/>
      <dgm:spPr/>
      <dgm:t>
        <a:bodyPr/>
        <a:lstStyle/>
        <a:p>
          <a:endParaRPr lang="en-US" sz="2200">
            <a:latin typeface="Gill Sans MT" panose="020B0502020104020203" pitchFamily="34" charset="0"/>
          </a:endParaRPr>
        </a:p>
      </dgm:t>
    </dgm:pt>
    <dgm:pt modelId="{9B4FAB7A-11E9-4209-8A9A-66E710B25C71}" type="sibTrans" cxnId="{CB7180F2-6165-4BA4-90B8-411E7F65106C}">
      <dgm:prSet/>
      <dgm:spPr/>
      <dgm:t>
        <a:bodyPr/>
        <a:lstStyle/>
        <a:p>
          <a:endParaRPr lang="en-US" sz="2200">
            <a:latin typeface="Gill Sans MT" panose="020B0502020104020203" pitchFamily="34" charset="0"/>
          </a:endParaRPr>
        </a:p>
      </dgm:t>
    </dgm:pt>
    <dgm:pt modelId="{E77C4147-566B-4EFC-A75D-DD27F6731C13}">
      <dgm:prSet custT="1"/>
      <dgm:spPr/>
      <dgm:t>
        <a:bodyPr/>
        <a:lstStyle/>
        <a:p>
          <a:r>
            <a:rPr lang="en-US" sz="2200" dirty="0">
              <a:latin typeface="Gill Sans MT" panose="020B0502020104020203" pitchFamily="34" charset="0"/>
            </a:rPr>
            <a:t>Partners</a:t>
          </a:r>
        </a:p>
      </dgm:t>
    </dgm:pt>
    <dgm:pt modelId="{4066BD40-FFF9-4A1C-A289-36548985B141}" type="parTrans" cxnId="{380FC0EC-B624-4263-A33B-1F99EA6EED61}">
      <dgm:prSet/>
      <dgm:spPr/>
      <dgm:t>
        <a:bodyPr/>
        <a:lstStyle/>
        <a:p>
          <a:endParaRPr lang="en-US" sz="2200">
            <a:latin typeface="Gill Sans MT" panose="020B0502020104020203" pitchFamily="34" charset="0"/>
          </a:endParaRPr>
        </a:p>
      </dgm:t>
    </dgm:pt>
    <dgm:pt modelId="{E0258535-AC39-4C3A-8654-FC5D7587FB6F}" type="sibTrans" cxnId="{380FC0EC-B624-4263-A33B-1F99EA6EED61}">
      <dgm:prSet/>
      <dgm:spPr/>
      <dgm:t>
        <a:bodyPr/>
        <a:lstStyle/>
        <a:p>
          <a:endParaRPr lang="en-US" sz="2200">
            <a:latin typeface="Gill Sans MT" panose="020B0502020104020203" pitchFamily="34" charset="0"/>
          </a:endParaRPr>
        </a:p>
      </dgm:t>
    </dgm:pt>
    <dgm:pt modelId="{0106775B-D0A2-44C9-8EF7-F83CD543CD7D}" type="pres">
      <dgm:prSet presAssocID="{1DC17CAC-3D8E-4D32-837E-7ACA8AB174B0}" presName="Name0" presStyleCnt="0">
        <dgm:presLayoutVars>
          <dgm:dir/>
          <dgm:animLvl val="lvl"/>
          <dgm:resizeHandles val="exact"/>
        </dgm:presLayoutVars>
      </dgm:prSet>
      <dgm:spPr/>
    </dgm:pt>
    <dgm:pt modelId="{20ECE250-E88E-448D-A16E-54A6FDF18DE2}" type="pres">
      <dgm:prSet presAssocID="{9F80C79D-E273-4AE8-8D8C-EE233BF4CDE0}" presName="parTxOnly" presStyleLbl="node1" presStyleIdx="0" presStyleCnt="4">
        <dgm:presLayoutVars>
          <dgm:chMax val="0"/>
          <dgm:chPref val="0"/>
          <dgm:bulletEnabled val="1"/>
        </dgm:presLayoutVars>
      </dgm:prSet>
      <dgm:spPr/>
    </dgm:pt>
    <dgm:pt modelId="{9EBED124-D043-45EF-8632-E21A7192D5C7}" type="pres">
      <dgm:prSet presAssocID="{7BA97294-0BB6-4DBB-B7B5-8B2381D829E1}" presName="parTxOnlySpace" presStyleCnt="0"/>
      <dgm:spPr/>
    </dgm:pt>
    <dgm:pt modelId="{C759DCEB-E38A-43B8-BF4A-05B8B86762A3}" type="pres">
      <dgm:prSet presAssocID="{2B95F35A-041E-4E02-85DE-83DB0BBC1CC6}" presName="parTxOnly" presStyleLbl="node1" presStyleIdx="1" presStyleCnt="4">
        <dgm:presLayoutVars>
          <dgm:chMax val="0"/>
          <dgm:chPref val="0"/>
          <dgm:bulletEnabled val="1"/>
        </dgm:presLayoutVars>
      </dgm:prSet>
      <dgm:spPr/>
    </dgm:pt>
    <dgm:pt modelId="{E0B10518-7F9D-43C2-8EE4-1736E1181A23}" type="pres">
      <dgm:prSet presAssocID="{1AB9B21A-05F7-42A8-987F-6662D8C0EEF2}" presName="parTxOnlySpace" presStyleCnt="0"/>
      <dgm:spPr/>
    </dgm:pt>
    <dgm:pt modelId="{FD644B18-E193-4FA4-ABF5-BCEA6A3FD470}" type="pres">
      <dgm:prSet presAssocID="{1F1139DC-C941-4FEE-BB79-79345F843BF7}" presName="parTxOnly" presStyleLbl="node1" presStyleIdx="2" presStyleCnt="4">
        <dgm:presLayoutVars>
          <dgm:chMax val="0"/>
          <dgm:chPref val="0"/>
          <dgm:bulletEnabled val="1"/>
        </dgm:presLayoutVars>
      </dgm:prSet>
      <dgm:spPr/>
    </dgm:pt>
    <dgm:pt modelId="{9A33530C-63A6-4073-84C1-EF87835701C6}" type="pres">
      <dgm:prSet presAssocID="{9B4FAB7A-11E9-4209-8A9A-66E710B25C71}" presName="parTxOnlySpace" presStyleCnt="0"/>
      <dgm:spPr/>
    </dgm:pt>
    <dgm:pt modelId="{F9FDCF4E-3B2F-41EA-B3E5-4F7440FD47E2}" type="pres">
      <dgm:prSet presAssocID="{E77C4147-566B-4EFC-A75D-DD27F6731C13}" presName="parTxOnly" presStyleLbl="node1" presStyleIdx="3" presStyleCnt="4">
        <dgm:presLayoutVars>
          <dgm:chMax val="0"/>
          <dgm:chPref val="0"/>
          <dgm:bulletEnabled val="1"/>
        </dgm:presLayoutVars>
      </dgm:prSet>
      <dgm:spPr/>
    </dgm:pt>
  </dgm:ptLst>
  <dgm:cxnLst>
    <dgm:cxn modelId="{8ABDDB78-0385-40BA-B95F-384B1DA833F7}" type="presOf" srcId="{E77C4147-566B-4EFC-A75D-DD27F6731C13}" destId="{F9FDCF4E-3B2F-41EA-B3E5-4F7440FD47E2}" srcOrd="0" destOrd="0" presId="urn:microsoft.com/office/officeart/2005/8/layout/chevron1"/>
    <dgm:cxn modelId="{499A1889-4DC5-476B-844F-A7908B1D0D2D}" type="presOf" srcId="{1DC17CAC-3D8E-4D32-837E-7ACA8AB174B0}" destId="{0106775B-D0A2-44C9-8EF7-F83CD543CD7D}" srcOrd="0" destOrd="0" presId="urn:microsoft.com/office/officeart/2005/8/layout/chevron1"/>
    <dgm:cxn modelId="{6E7BB58A-D011-425E-9EE0-6A26E56A73D6}" type="presOf" srcId="{9F80C79D-E273-4AE8-8D8C-EE233BF4CDE0}" destId="{20ECE250-E88E-448D-A16E-54A6FDF18DE2}" srcOrd="0" destOrd="0" presId="urn:microsoft.com/office/officeart/2005/8/layout/chevron1"/>
    <dgm:cxn modelId="{C8C318A5-0951-4221-AC80-06E398875210}" srcId="{1DC17CAC-3D8E-4D32-837E-7ACA8AB174B0}" destId="{9F80C79D-E273-4AE8-8D8C-EE233BF4CDE0}" srcOrd="0" destOrd="0" parTransId="{DF4EF1D8-FBA0-44EE-84A1-5C06010B0E0F}" sibTransId="{7BA97294-0BB6-4DBB-B7B5-8B2381D829E1}"/>
    <dgm:cxn modelId="{FCB1C5C7-F411-4503-BD0B-C586CF2400FD}" type="presOf" srcId="{1F1139DC-C941-4FEE-BB79-79345F843BF7}" destId="{FD644B18-E193-4FA4-ABF5-BCEA6A3FD470}" srcOrd="0" destOrd="0" presId="urn:microsoft.com/office/officeart/2005/8/layout/chevron1"/>
    <dgm:cxn modelId="{ADB384DA-C829-4330-8D24-DE9EAD60B1E5}" srcId="{1DC17CAC-3D8E-4D32-837E-7ACA8AB174B0}" destId="{2B95F35A-041E-4E02-85DE-83DB0BBC1CC6}" srcOrd="1" destOrd="0" parTransId="{111869FA-5145-4DEB-BD41-5C7A3EC05EFB}" sibTransId="{1AB9B21A-05F7-42A8-987F-6662D8C0EEF2}"/>
    <dgm:cxn modelId="{380FC0EC-B624-4263-A33B-1F99EA6EED61}" srcId="{1DC17CAC-3D8E-4D32-837E-7ACA8AB174B0}" destId="{E77C4147-566B-4EFC-A75D-DD27F6731C13}" srcOrd="3" destOrd="0" parTransId="{4066BD40-FFF9-4A1C-A289-36548985B141}" sibTransId="{E0258535-AC39-4C3A-8654-FC5D7587FB6F}"/>
    <dgm:cxn modelId="{CB7180F2-6165-4BA4-90B8-411E7F65106C}" srcId="{1DC17CAC-3D8E-4D32-837E-7ACA8AB174B0}" destId="{1F1139DC-C941-4FEE-BB79-79345F843BF7}" srcOrd="2" destOrd="0" parTransId="{8098A445-6000-4656-BB05-11D6BBB064FB}" sibTransId="{9B4FAB7A-11E9-4209-8A9A-66E710B25C71}"/>
    <dgm:cxn modelId="{2673DBF5-D12A-415C-9748-27B03ED6B204}" type="presOf" srcId="{2B95F35A-041E-4E02-85DE-83DB0BBC1CC6}" destId="{C759DCEB-E38A-43B8-BF4A-05B8B86762A3}" srcOrd="0" destOrd="0" presId="urn:microsoft.com/office/officeart/2005/8/layout/chevron1"/>
    <dgm:cxn modelId="{8CB86F4A-49BF-4E74-9AD3-DC7FBECBEB50}" type="presParOf" srcId="{0106775B-D0A2-44C9-8EF7-F83CD543CD7D}" destId="{20ECE250-E88E-448D-A16E-54A6FDF18DE2}" srcOrd="0" destOrd="0" presId="urn:microsoft.com/office/officeart/2005/8/layout/chevron1"/>
    <dgm:cxn modelId="{945F4222-EB00-4E9E-AC88-3A900BFF7AB5}" type="presParOf" srcId="{0106775B-D0A2-44C9-8EF7-F83CD543CD7D}" destId="{9EBED124-D043-45EF-8632-E21A7192D5C7}" srcOrd="1" destOrd="0" presId="urn:microsoft.com/office/officeart/2005/8/layout/chevron1"/>
    <dgm:cxn modelId="{D55B1E0A-E49A-4BA6-9C1F-68A8A60BB0BB}" type="presParOf" srcId="{0106775B-D0A2-44C9-8EF7-F83CD543CD7D}" destId="{C759DCEB-E38A-43B8-BF4A-05B8B86762A3}" srcOrd="2" destOrd="0" presId="urn:microsoft.com/office/officeart/2005/8/layout/chevron1"/>
    <dgm:cxn modelId="{2E96077C-A6D4-4A2E-85A8-8D12D4979E6E}" type="presParOf" srcId="{0106775B-D0A2-44C9-8EF7-F83CD543CD7D}" destId="{E0B10518-7F9D-43C2-8EE4-1736E1181A23}" srcOrd="3" destOrd="0" presId="urn:microsoft.com/office/officeart/2005/8/layout/chevron1"/>
    <dgm:cxn modelId="{929634E9-0DFF-4CD3-9A1C-8390B1EB9C6E}" type="presParOf" srcId="{0106775B-D0A2-44C9-8EF7-F83CD543CD7D}" destId="{FD644B18-E193-4FA4-ABF5-BCEA6A3FD470}" srcOrd="4" destOrd="0" presId="urn:microsoft.com/office/officeart/2005/8/layout/chevron1"/>
    <dgm:cxn modelId="{786846DF-5EEF-4E77-B894-86C38E4BF9BF}" type="presParOf" srcId="{0106775B-D0A2-44C9-8EF7-F83CD543CD7D}" destId="{9A33530C-63A6-4073-84C1-EF87835701C6}" srcOrd="5" destOrd="0" presId="urn:microsoft.com/office/officeart/2005/8/layout/chevron1"/>
    <dgm:cxn modelId="{3640CEE4-0377-47EB-A81F-14D546462F5C}" type="presParOf" srcId="{0106775B-D0A2-44C9-8EF7-F83CD543CD7D}" destId="{F9FDCF4E-3B2F-41EA-B3E5-4F7440FD47E2}"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ECE250-E88E-448D-A16E-54A6FDF18DE2}">
      <dsp:nvSpPr>
        <dsp:cNvPr id="0" name=""/>
        <dsp:cNvSpPr/>
      </dsp:nvSpPr>
      <dsp:spPr>
        <a:xfrm>
          <a:off x="5017" y="811997"/>
          <a:ext cx="2920915" cy="1168366"/>
        </a:xfrm>
        <a:prstGeom prst="chevron">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Gill Sans MT" panose="020B0502020104020203" pitchFamily="34" charset="0"/>
            </a:rPr>
            <a:t>Strangers</a:t>
          </a:r>
        </a:p>
      </dsp:txBody>
      <dsp:txXfrm>
        <a:off x="589200" y="811997"/>
        <a:ext cx="1752549" cy="1168366"/>
      </dsp:txXfrm>
    </dsp:sp>
    <dsp:sp modelId="{C759DCEB-E38A-43B8-BF4A-05B8B86762A3}">
      <dsp:nvSpPr>
        <dsp:cNvPr id="0" name=""/>
        <dsp:cNvSpPr/>
      </dsp:nvSpPr>
      <dsp:spPr>
        <a:xfrm>
          <a:off x="2633841" y="811997"/>
          <a:ext cx="2920915" cy="1168366"/>
        </a:xfrm>
        <a:prstGeom prst="chevron">
          <a:avLst/>
        </a:prstGeom>
        <a:solidFill>
          <a:schemeClr val="accent1">
            <a:shade val="80000"/>
            <a:hueOff val="236519"/>
            <a:satOff val="-13281"/>
            <a:lumOff val="114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Gill Sans MT" panose="020B0502020104020203" pitchFamily="34" charset="0"/>
            </a:rPr>
            <a:t>Acquaintances</a:t>
          </a:r>
        </a:p>
      </dsp:txBody>
      <dsp:txXfrm>
        <a:off x="3218024" y="811997"/>
        <a:ext cx="1752549" cy="1168366"/>
      </dsp:txXfrm>
    </dsp:sp>
    <dsp:sp modelId="{FD644B18-E193-4FA4-ABF5-BCEA6A3FD470}">
      <dsp:nvSpPr>
        <dsp:cNvPr id="0" name=""/>
        <dsp:cNvSpPr/>
      </dsp:nvSpPr>
      <dsp:spPr>
        <a:xfrm>
          <a:off x="5262665" y="811997"/>
          <a:ext cx="2920915" cy="1168366"/>
        </a:xfrm>
        <a:prstGeom prst="chevron">
          <a:avLst/>
        </a:prstGeom>
        <a:solidFill>
          <a:schemeClr val="accent1">
            <a:shade val="80000"/>
            <a:hueOff val="473038"/>
            <a:satOff val="-26563"/>
            <a:lumOff val="229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Gill Sans MT" panose="020B0502020104020203" pitchFamily="34" charset="0"/>
            </a:rPr>
            <a:t>Friends</a:t>
          </a:r>
        </a:p>
      </dsp:txBody>
      <dsp:txXfrm>
        <a:off x="5846848" y="811997"/>
        <a:ext cx="1752549" cy="1168366"/>
      </dsp:txXfrm>
    </dsp:sp>
    <dsp:sp modelId="{F9FDCF4E-3B2F-41EA-B3E5-4F7440FD47E2}">
      <dsp:nvSpPr>
        <dsp:cNvPr id="0" name=""/>
        <dsp:cNvSpPr/>
      </dsp:nvSpPr>
      <dsp:spPr>
        <a:xfrm>
          <a:off x="7891489" y="811997"/>
          <a:ext cx="2920915" cy="1168366"/>
        </a:xfrm>
        <a:prstGeom prst="chevron">
          <a:avLst/>
        </a:prstGeom>
        <a:solidFill>
          <a:schemeClr val="accent1">
            <a:shade val="80000"/>
            <a:hueOff val="709557"/>
            <a:satOff val="-39844"/>
            <a:lumOff val="343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Gill Sans MT" panose="020B0502020104020203" pitchFamily="34" charset="0"/>
            </a:rPr>
            <a:t>Partners</a:t>
          </a:r>
        </a:p>
      </dsp:txBody>
      <dsp:txXfrm>
        <a:off x="8475672" y="811997"/>
        <a:ext cx="1752549" cy="116836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98478D-2017-6B42-82DF-31F349C5E379}" type="datetimeFigureOut">
              <a:rPr lang="en-US" smtClean="0"/>
              <a:t>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66EEE4-7788-8D4C-B106-DDC1CC623CC9}" type="slidenum">
              <a:rPr lang="en-US" smtClean="0"/>
              <a:t>‹#›</a:t>
            </a:fld>
            <a:endParaRPr lang="en-US"/>
          </a:p>
        </p:txBody>
      </p:sp>
    </p:spTree>
    <p:extLst>
      <p:ext uri="{BB962C8B-B14F-4D97-AF65-F5344CB8AC3E}">
        <p14:creationId xmlns:p14="http://schemas.microsoft.com/office/powerpoint/2010/main" val="226687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1</a:t>
            </a:fld>
            <a:endParaRPr lang="en-US"/>
          </a:p>
        </p:txBody>
      </p:sp>
    </p:spTree>
    <p:extLst>
      <p:ext uri="{BB962C8B-B14F-4D97-AF65-F5344CB8AC3E}">
        <p14:creationId xmlns:p14="http://schemas.microsoft.com/office/powerpoint/2010/main" val="3799158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a:t>
            </a:fld>
            <a:endParaRPr lang="en-US"/>
          </a:p>
        </p:txBody>
      </p:sp>
    </p:spTree>
    <p:extLst>
      <p:ext uri="{BB962C8B-B14F-4D97-AF65-F5344CB8AC3E}">
        <p14:creationId xmlns:p14="http://schemas.microsoft.com/office/powerpoint/2010/main" val="2150464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3</a:t>
            </a:fld>
            <a:endParaRPr lang="en-US"/>
          </a:p>
        </p:txBody>
      </p:sp>
    </p:spTree>
    <p:extLst>
      <p:ext uri="{BB962C8B-B14F-4D97-AF65-F5344CB8AC3E}">
        <p14:creationId xmlns:p14="http://schemas.microsoft.com/office/powerpoint/2010/main" val="3146045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4</a:t>
            </a:fld>
            <a:endParaRPr lang="en-US"/>
          </a:p>
        </p:txBody>
      </p:sp>
    </p:spTree>
    <p:extLst>
      <p:ext uri="{BB962C8B-B14F-4D97-AF65-F5344CB8AC3E}">
        <p14:creationId xmlns:p14="http://schemas.microsoft.com/office/powerpoint/2010/main" val="384569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5</a:t>
            </a:fld>
            <a:endParaRPr lang="en-US"/>
          </a:p>
        </p:txBody>
      </p:sp>
    </p:spTree>
    <p:extLst>
      <p:ext uri="{BB962C8B-B14F-4D97-AF65-F5344CB8AC3E}">
        <p14:creationId xmlns:p14="http://schemas.microsoft.com/office/powerpoint/2010/main" val="3156119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acquaintances, repetitive interactions improve firms’ knowledge of customers – facilitates transactions through reduction of customer’s perceived risk and the provider’s costs.</a:t>
            </a:r>
          </a:p>
        </p:txBody>
      </p:sp>
      <p:sp>
        <p:nvSpPr>
          <p:cNvPr id="4" name="Slide Number Placeholder 3"/>
          <p:cNvSpPr>
            <a:spLocks noGrp="1"/>
          </p:cNvSpPr>
          <p:nvPr>
            <p:ph type="sldNum" sz="quarter" idx="5"/>
          </p:nvPr>
        </p:nvSpPr>
        <p:spPr/>
        <p:txBody>
          <a:bodyPr/>
          <a:lstStyle/>
          <a:p>
            <a:fld id="{0766EEE4-7788-8D4C-B106-DDC1CC623CC9}" type="slidenum">
              <a:rPr lang="en-US" smtClean="0"/>
              <a:t>6</a:t>
            </a:fld>
            <a:endParaRPr lang="en-US"/>
          </a:p>
        </p:txBody>
      </p:sp>
    </p:spTree>
    <p:extLst>
      <p:ext uri="{BB962C8B-B14F-4D97-AF65-F5344CB8AC3E}">
        <p14:creationId xmlns:p14="http://schemas.microsoft.com/office/powerpoint/2010/main" val="1591122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 bank checking account customer becomes a better customer as she sets up a savings account, takes out a loan, and/ or uses the financial advising services of the bank.</a:t>
            </a:r>
          </a:p>
        </p:txBody>
      </p:sp>
      <p:sp>
        <p:nvSpPr>
          <p:cNvPr id="4" name="Slide Number Placeholder 3"/>
          <p:cNvSpPr>
            <a:spLocks noGrp="1"/>
          </p:cNvSpPr>
          <p:nvPr>
            <p:ph type="sldNum" sz="quarter" idx="5"/>
          </p:nvPr>
        </p:nvSpPr>
        <p:spPr/>
        <p:txBody>
          <a:bodyPr/>
          <a:lstStyle/>
          <a:p>
            <a:fld id="{0766EEE4-7788-8D4C-B106-DDC1CC623CC9}" type="slidenum">
              <a:rPr lang="en-US" smtClean="0"/>
              <a:t>7</a:t>
            </a:fld>
            <a:endParaRPr lang="en-US"/>
          </a:p>
        </p:txBody>
      </p:sp>
    </p:spTree>
    <p:extLst>
      <p:ext uri="{BB962C8B-B14F-4D97-AF65-F5344CB8AC3E}">
        <p14:creationId xmlns:p14="http://schemas.microsoft.com/office/powerpoint/2010/main" val="2482357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and maintain a base of committed customers who are profitable for the firm.</a:t>
            </a:r>
          </a:p>
          <a:p>
            <a:r>
              <a:rPr lang="en-US" dirty="0"/>
              <a:t>Share of wallet: percentage of a person’s total amount spent dedicated to a particular company rather than competing companies.</a:t>
            </a:r>
          </a:p>
          <a:p>
            <a:r>
              <a:rPr lang="en-US" dirty="0"/>
              <a:t>Share of heart: strength of the emotional bond that customers form with the company.</a:t>
            </a:r>
          </a:p>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8</a:t>
            </a:fld>
            <a:endParaRPr lang="en-US"/>
          </a:p>
        </p:txBody>
      </p:sp>
    </p:spTree>
    <p:extLst>
      <p:ext uri="{BB962C8B-B14F-4D97-AF65-F5344CB8AC3E}">
        <p14:creationId xmlns:p14="http://schemas.microsoft.com/office/powerpoint/2010/main" val="2840167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9</a:t>
            </a:fld>
            <a:endParaRPr lang="en-US"/>
          </a:p>
        </p:txBody>
      </p:sp>
    </p:spTree>
    <p:extLst>
      <p:ext uri="{BB962C8B-B14F-4D97-AF65-F5344CB8AC3E}">
        <p14:creationId xmlns:p14="http://schemas.microsoft.com/office/powerpoint/2010/main" val="41722572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10</a:t>
            </a:fld>
            <a:endParaRPr lang="en-US"/>
          </a:p>
        </p:txBody>
      </p:sp>
    </p:spTree>
    <p:extLst>
      <p:ext uri="{BB962C8B-B14F-4D97-AF65-F5344CB8AC3E}">
        <p14:creationId xmlns:p14="http://schemas.microsoft.com/office/powerpoint/2010/main" val="1128336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11</a:t>
            </a:fld>
            <a:endParaRPr lang="en-US"/>
          </a:p>
        </p:txBody>
      </p:sp>
    </p:spTree>
    <p:extLst>
      <p:ext uri="{BB962C8B-B14F-4D97-AF65-F5344CB8AC3E}">
        <p14:creationId xmlns:p14="http://schemas.microsoft.com/office/powerpoint/2010/main" val="580971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6EC14-6AEA-4A93-5F05-D55F7511E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88B76-1152-335F-572F-931F48D06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C82CD1-EF04-6AEF-EC8C-56D8565457EA}"/>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51BF2B2-F7DE-D54F-CD8E-4823FFE04D2A}"/>
              </a:ext>
            </a:extLst>
          </p:cNvPr>
          <p:cNvSpPr>
            <a:spLocks noGrp="1"/>
          </p:cNvSpPr>
          <p:nvPr>
            <p:ph type="sldNum" sz="quarter" idx="5"/>
          </p:nvPr>
        </p:nvSpPr>
        <p:spPr/>
        <p:txBody>
          <a:bodyPr/>
          <a:lstStyle/>
          <a:p>
            <a:fld id="{0766EEE4-7788-8D4C-B106-DDC1CC623CC9}" type="slidenum">
              <a:rPr lang="en-US" smtClean="0"/>
              <a:t>12</a:t>
            </a:fld>
            <a:endParaRPr lang="en-US"/>
          </a:p>
        </p:txBody>
      </p:sp>
    </p:spTree>
    <p:extLst>
      <p:ext uri="{BB962C8B-B14F-4D97-AF65-F5344CB8AC3E}">
        <p14:creationId xmlns:p14="http://schemas.microsoft.com/office/powerpoint/2010/main" val="1602872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161B8-B5D9-A479-2535-9775E3DF0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86A20-3E60-F5BB-C628-A92D764DA4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469A0-9DAF-C594-FAD4-222A93D9F4B6}"/>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98B685A-18E2-750B-CDBF-982F549F0570}"/>
              </a:ext>
            </a:extLst>
          </p:cNvPr>
          <p:cNvSpPr>
            <a:spLocks noGrp="1"/>
          </p:cNvSpPr>
          <p:nvPr>
            <p:ph type="sldNum" sz="quarter" idx="5"/>
          </p:nvPr>
        </p:nvSpPr>
        <p:spPr/>
        <p:txBody>
          <a:bodyPr/>
          <a:lstStyle/>
          <a:p>
            <a:fld id="{0766EEE4-7788-8D4C-B106-DDC1CC623CC9}" type="slidenum">
              <a:rPr lang="en-US" smtClean="0"/>
              <a:t>13</a:t>
            </a:fld>
            <a:endParaRPr lang="en-US"/>
          </a:p>
        </p:txBody>
      </p:sp>
    </p:spTree>
    <p:extLst>
      <p:ext uri="{BB962C8B-B14F-4D97-AF65-F5344CB8AC3E}">
        <p14:creationId xmlns:p14="http://schemas.microsoft.com/office/powerpoint/2010/main" val="1218520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C7B64-B4B4-2D99-3F9F-38B5FB4B8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C71C4-2C23-0B5E-F9FE-E027B6641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ECFEC3-4DED-E036-6C8F-55D84E1F161B}"/>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7A83671-5301-D727-4B70-774EB5C59A2B}"/>
              </a:ext>
            </a:extLst>
          </p:cNvPr>
          <p:cNvSpPr>
            <a:spLocks noGrp="1"/>
          </p:cNvSpPr>
          <p:nvPr>
            <p:ph type="sldNum" sz="quarter" idx="5"/>
          </p:nvPr>
        </p:nvSpPr>
        <p:spPr/>
        <p:txBody>
          <a:bodyPr/>
          <a:lstStyle/>
          <a:p>
            <a:fld id="{0766EEE4-7788-8D4C-B106-DDC1CC623CC9}" type="slidenum">
              <a:rPr lang="en-US" smtClean="0"/>
              <a:t>14</a:t>
            </a:fld>
            <a:endParaRPr lang="en-US"/>
          </a:p>
        </p:txBody>
      </p:sp>
    </p:spTree>
    <p:extLst>
      <p:ext uri="{BB962C8B-B14F-4D97-AF65-F5344CB8AC3E}">
        <p14:creationId xmlns:p14="http://schemas.microsoft.com/office/powerpoint/2010/main" val="77219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Platinum: most profitable customers, willing to invest and try new offerings, and are committed to the firm.</a:t>
            </a:r>
          </a:p>
          <a:p>
            <a:r>
              <a:rPr lang="en-US" dirty="0"/>
              <a:t>Gold: Not as loyal, might ask for discounts, but also might be heavy users.</a:t>
            </a:r>
          </a:p>
          <a:p>
            <a:r>
              <a:rPr lang="en-US" dirty="0"/>
              <a:t>Iron: essential customers who provide the volume needed to sustain the business but lower spending levels so not enough for special treatment.</a:t>
            </a:r>
          </a:p>
          <a:p>
            <a:r>
              <a:rPr lang="en-US" dirty="0"/>
              <a:t>Lead: costing the business money. They demand more attention than they are due based on how much they spend.</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15</a:t>
            </a:fld>
            <a:endParaRPr lang="en-US"/>
          </a:p>
        </p:txBody>
      </p:sp>
    </p:spTree>
    <p:extLst>
      <p:ext uri="{BB962C8B-B14F-4D97-AF65-F5344CB8AC3E}">
        <p14:creationId xmlns:p14="http://schemas.microsoft.com/office/powerpoint/2010/main" val="1980860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Platinum: buys specialty, expensive drinks</a:t>
            </a:r>
          </a:p>
          <a:p>
            <a:r>
              <a:rPr lang="en-US" dirty="0"/>
              <a:t>Gold: App users, buy a lot but also retain a lot discounts/ offers</a:t>
            </a:r>
          </a:p>
          <a:p>
            <a:r>
              <a:rPr lang="en-US" dirty="0"/>
              <a:t>Iron: drink only regular coffee, no handcrafted/ specialty beverages</a:t>
            </a:r>
          </a:p>
          <a:p>
            <a:r>
              <a:rPr lang="en-US" dirty="0"/>
              <a:t>Lead: only buy if there is an offer available</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16</a:t>
            </a:fld>
            <a:endParaRPr lang="en-US"/>
          </a:p>
        </p:txBody>
      </p:sp>
    </p:spTree>
    <p:extLst>
      <p:ext uri="{BB962C8B-B14F-4D97-AF65-F5344CB8AC3E}">
        <p14:creationId xmlns:p14="http://schemas.microsoft.com/office/powerpoint/2010/main" val="3716597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17</a:t>
            </a:fld>
            <a:endParaRPr lang="en-US"/>
          </a:p>
        </p:txBody>
      </p:sp>
    </p:spTree>
    <p:extLst>
      <p:ext uri="{BB962C8B-B14F-4D97-AF65-F5344CB8AC3E}">
        <p14:creationId xmlns:p14="http://schemas.microsoft.com/office/powerpoint/2010/main" val="28487765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18</a:t>
            </a:fld>
            <a:endParaRPr lang="en-US"/>
          </a:p>
        </p:txBody>
      </p:sp>
    </p:spTree>
    <p:extLst>
      <p:ext uri="{BB962C8B-B14F-4D97-AF65-F5344CB8AC3E}">
        <p14:creationId xmlns:p14="http://schemas.microsoft.com/office/powerpoint/2010/main" val="10589905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Confidence: feelings of trust or confidence in the provider along with a sense of reduced anxiety – frees up time for other concerns and priorities of the customers.</a:t>
            </a:r>
          </a:p>
          <a:p>
            <a:pPr marL="171450" indent="-171450">
              <a:buFont typeface="Arial" panose="020B0604020202020204" pitchFamily="34" charset="0"/>
              <a:buChar char="•"/>
            </a:pPr>
            <a:r>
              <a:rPr lang="en-US" dirty="0"/>
              <a:t>Social: customers develop a sense of familiarity and even social relationship with their service providers – flip side is the risk of losing customers when an employee leaves.</a:t>
            </a:r>
          </a:p>
          <a:p>
            <a:pPr marL="171450" indent="-171450">
              <a:buFont typeface="Arial" panose="020B0604020202020204" pitchFamily="34" charset="0"/>
              <a:buChar char="•"/>
            </a:pPr>
            <a:r>
              <a:rPr lang="en-US" dirty="0"/>
              <a:t>Special Treatment: being given a special deal or price, getting preferential treatment, or perhaps receiving the “benefit of the doubt” from the service provider.</a:t>
            </a:r>
          </a:p>
          <a:p>
            <a:pPr marL="171450" indent="-171450">
              <a:buFont typeface="Arial" panose="020B0604020202020204" pitchFamily="34" charset="0"/>
              <a:buChar char="•"/>
            </a:pPr>
            <a:r>
              <a:rPr lang="en-US" dirty="0"/>
              <a:t>Economic: increased purchases over time – highly satisfied customers are willing to pay more for a provider’s services, lower costs.</a:t>
            </a:r>
          </a:p>
          <a:p>
            <a:pPr marL="171450" indent="-171450">
              <a:buFont typeface="Arial" panose="020B0604020202020204" pitchFamily="34" charset="0"/>
              <a:buChar char="•"/>
            </a:pPr>
            <a:r>
              <a:rPr lang="en-US" dirty="0"/>
              <a:t>Customer Behavior: free advertising through word-of-mouth communication.</a:t>
            </a:r>
          </a:p>
          <a:p>
            <a:pPr marL="171450" indent="-171450">
              <a:buFont typeface="Arial" panose="020B0604020202020204" pitchFamily="34" charset="0"/>
              <a:buChar char="•"/>
            </a:pPr>
            <a:r>
              <a:rPr lang="en-US" dirty="0"/>
              <a:t>Human Resource Management: customers may help coproduction by assisting in service delivery.</a:t>
            </a:r>
          </a:p>
        </p:txBody>
      </p:sp>
      <p:sp>
        <p:nvSpPr>
          <p:cNvPr id="4" name="Slide Number Placeholder 3"/>
          <p:cNvSpPr>
            <a:spLocks noGrp="1"/>
          </p:cNvSpPr>
          <p:nvPr>
            <p:ph type="sldNum" sz="quarter" idx="5"/>
          </p:nvPr>
        </p:nvSpPr>
        <p:spPr/>
        <p:txBody>
          <a:bodyPr/>
          <a:lstStyle/>
          <a:p>
            <a:fld id="{0766EEE4-7788-8D4C-B106-DDC1CC623CC9}" type="slidenum">
              <a:rPr lang="en-US" smtClean="0"/>
              <a:t>19</a:t>
            </a:fld>
            <a:endParaRPr lang="en-US"/>
          </a:p>
        </p:txBody>
      </p:sp>
    </p:spTree>
    <p:extLst>
      <p:ext uri="{BB962C8B-B14F-4D97-AF65-F5344CB8AC3E}">
        <p14:creationId xmlns:p14="http://schemas.microsoft.com/office/powerpoint/2010/main" val="10574883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20</a:t>
            </a:fld>
            <a:endParaRPr lang="en-US"/>
          </a:p>
        </p:txBody>
      </p:sp>
    </p:spTree>
    <p:extLst>
      <p:ext uri="{BB962C8B-B14F-4D97-AF65-F5344CB8AC3E}">
        <p14:creationId xmlns:p14="http://schemas.microsoft.com/office/powerpoint/2010/main" val="1450387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Spain banning tourism</a:t>
            </a:r>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22</a:t>
            </a:fld>
            <a:endParaRPr lang="en-US"/>
          </a:p>
        </p:txBody>
      </p:sp>
    </p:spTree>
    <p:extLst>
      <p:ext uri="{BB962C8B-B14F-4D97-AF65-F5344CB8AC3E}">
        <p14:creationId xmlns:p14="http://schemas.microsoft.com/office/powerpoint/2010/main" val="2284522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335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517AD40-AE84-3240-90CD-64AD6EF5A104}" type="datetimeFigureOut">
              <a:rPr lang="en-US" smtClean="0"/>
              <a:t>1/29/25</a:t>
            </a:fld>
            <a:endParaRPr lang="en-US"/>
          </a:p>
        </p:txBody>
      </p:sp>
      <p:sp>
        <p:nvSpPr>
          <p:cNvPr id="6" name="Slide Number Placeholder 5"/>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120010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92627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B517AD40-AE84-3240-90CD-64AD6EF5A104}" type="datetimeFigureOut">
              <a:rPr lang="en-US" smtClean="0"/>
              <a:t>1/29/25</a:t>
            </a:fld>
            <a:endParaRPr lang="en-US"/>
          </a:p>
        </p:txBody>
      </p:sp>
      <p:sp>
        <p:nvSpPr>
          <p:cNvPr id="7" name="Slide Number Placeholder 6"/>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10234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B517AD40-AE84-3240-90CD-64AD6EF5A104}" type="datetimeFigureOut">
              <a:rPr lang="en-US" smtClean="0"/>
              <a:t>1/29/25</a:t>
            </a:fld>
            <a:endParaRPr lang="en-US"/>
          </a:p>
        </p:txBody>
      </p:sp>
      <p:sp>
        <p:nvSpPr>
          <p:cNvPr id="9" name="Slide Number Placeholder 8"/>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05268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B517AD40-AE84-3240-90CD-64AD6EF5A104}" type="datetimeFigureOut">
              <a:rPr lang="en-US" smtClean="0"/>
              <a:t>1/29/25</a:t>
            </a:fld>
            <a:endParaRPr lang="en-US"/>
          </a:p>
        </p:txBody>
      </p:sp>
      <p:sp>
        <p:nvSpPr>
          <p:cNvPr id="5" name="Slide Number Placeholder 4"/>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770929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endParaRPr lang="en-US"/>
          </a:p>
        </p:txBody>
      </p:sp>
      <p:sp>
        <p:nvSpPr>
          <p:cNvPr id="212" name="Date Placeholder 211"/>
          <p:cNvSpPr>
            <a:spLocks noGrp="1"/>
          </p:cNvSpPr>
          <p:nvPr>
            <p:ph type="dt" sz="half" idx="10"/>
          </p:nvPr>
        </p:nvSpPr>
        <p:spPr/>
        <p:txBody>
          <a:bodyPr/>
          <a:lstStyle/>
          <a:p>
            <a:fld id="{B517AD40-AE84-3240-90CD-64AD6EF5A104}" type="datetimeFigureOut">
              <a:rPr lang="en-US" smtClean="0"/>
              <a:t>1/29/25</a:t>
            </a:fld>
            <a:endParaRPr lang="en-US"/>
          </a:p>
        </p:txBody>
      </p:sp>
      <p:sp>
        <p:nvSpPr>
          <p:cNvPr id="214" name="Slide Number Placeholder 213"/>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783556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lvl1pPr>
              <a:defRPr>
                <a:solidFill>
                  <a:schemeClr val="bg1"/>
                </a:solidFill>
              </a:defRPr>
            </a:lvl1pPr>
          </a:lstStyle>
          <a:p>
            <a:fld id="{B517AD40-AE84-3240-90CD-64AD6EF5A104}" type="datetimeFigureOut">
              <a:rPr lang="en-US" smtClean="0"/>
              <a:t>1/29/25</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77404C2A-5491-9B47-9644-70165B624947}" type="slidenum">
              <a:rPr lang="en-US" smtClean="0"/>
              <a:t>‹#›</a:t>
            </a:fld>
            <a:endParaRPr lang="en-US"/>
          </a:p>
        </p:txBody>
      </p:sp>
    </p:spTree>
    <p:extLst>
      <p:ext uri="{BB962C8B-B14F-4D97-AF65-F5344CB8AC3E}">
        <p14:creationId xmlns:p14="http://schemas.microsoft.com/office/powerpoint/2010/main" val="3407152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56184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517AD40-AE84-3240-90CD-64AD6EF5A104}" type="datetimeFigureOut">
              <a:rPr lang="en-US" smtClean="0"/>
              <a:t>1/29/25</a:t>
            </a:fld>
            <a:endParaRPr lang="en-US"/>
          </a:p>
        </p:txBody>
      </p:sp>
      <p:sp>
        <p:nvSpPr>
          <p:cNvPr id="6" name="Slide Number Placeholder 5"/>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67074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517AD40-AE84-3240-90CD-64AD6EF5A104}" type="datetimeFigureOut">
              <a:rPr lang="en-US" smtClean="0"/>
              <a:t>1/29/25</a:t>
            </a:fld>
            <a:endParaRPr lang="en-US"/>
          </a:p>
        </p:txBody>
      </p:sp>
      <p:sp>
        <p:nvSpPr>
          <p:cNvPr id="6" name="Slide Number Placeholder 5"/>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032367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endParaRPr lang="en-US"/>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7AD40-AE84-3240-90CD-64AD6EF5A104}" type="datetimeFigureOut">
              <a:rPr lang="en-US" smtClean="0"/>
              <a:t>1/29/25</a:t>
            </a:fld>
            <a:endParaRPr lang="en-US"/>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77404C2A-5491-9B47-9644-70165B624947}" type="slidenum">
              <a:rPr lang="en-US" smtClean="0"/>
              <a:t>‹#›</a:t>
            </a:fld>
            <a:endParaRPr lang="en-US"/>
          </a:p>
        </p:txBody>
      </p:sp>
    </p:spTree>
    <p:extLst>
      <p:ext uri="{BB962C8B-B14F-4D97-AF65-F5344CB8AC3E}">
        <p14:creationId xmlns:p14="http://schemas.microsoft.com/office/powerpoint/2010/main" val="6693069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4EE006-398F-E147-9CF2-66454FD34446}"/>
              </a:ext>
            </a:extLst>
          </p:cNvPr>
          <p:cNvSpPr txBox="1"/>
          <p:nvPr/>
        </p:nvSpPr>
        <p:spPr>
          <a:xfrm>
            <a:off x="0" y="2129587"/>
            <a:ext cx="12192000" cy="1938992"/>
          </a:xfrm>
          <a:prstGeom prst="rect">
            <a:avLst/>
          </a:prstGeom>
          <a:noFill/>
        </p:spPr>
        <p:txBody>
          <a:bodyPr wrap="square" rtlCol="0">
            <a:spAutoFit/>
          </a:bodyPr>
          <a:lstStyle/>
          <a:p>
            <a:pPr algn="ctr"/>
            <a:r>
              <a:rPr lang="en-US" sz="4400" b="1" dirty="0">
                <a:solidFill>
                  <a:srgbClr val="0B5395"/>
                </a:solidFill>
                <a:latin typeface="Garamond" panose="02020404030301010803" pitchFamily="18" charset="0"/>
              </a:rPr>
              <a:t>CHAPTER 6</a:t>
            </a:r>
            <a:endParaRPr lang="en-US" sz="4000" dirty="0">
              <a:solidFill>
                <a:srgbClr val="820002"/>
              </a:solidFill>
              <a:latin typeface="Garamond" panose="02020404030301010803" pitchFamily="18" charset="0"/>
            </a:endParaRPr>
          </a:p>
          <a:p>
            <a:pPr algn="ctr"/>
            <a:endParaRPr lang="en-US" sz="3800">
              <a:latin typeface="Garamond" panose="02020404030301010803" pitchFamily="18" charset="0"/>
            </a:endParaRPr>
          </a:p>
          <a:p>
            <a:pPr algn="ctr"/>
            <a:r>
              <a:rPr lang="en-US" sz="3800">
                <a:latin typeface="Garamond" panose="02020404030301010803" pitchFamily="18" charset="0"/>
              </a:rPr>
              <a:t>Managing </a:t>
            </a:r>
            <a:r>
              <a:rPr lang="en-US" sz="3800" dirty="0">
                <a:latin typeface="Garamond" panose="02020404030301010803" pitchFamily="18" charset="0"/>
              </a:rPr>
              <a:t>Customer Relationships</a:t>
            </a:r>
          </a:p>
        </p:txBody>
      </p:sp>
    </p:spTree>
    <p:extLst>
      <p:ext uri="{BB962C8B-B14F-4D97-AF65-F5344CB8AC3E}">
        <p14:creationId xmlns:p14="http://schemas.microsoft.com/office/powerpoint/2010/main" val="3588460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lstStyle/>
          <a:p>
            <a:pPr algn="ctr"/>
            <a:r>
              <a:rPr lang="en-US" altLang="en-US" b="1" dirty="0">
                <a:solidFill>
                  <a:srgbClr val="0B5395"/>
                </a:solidFill>
                <a:latin typeface="Garamond" panose="02020404030301010803" pitchFamily="18" charset="0"/>
              </a:rPr>
              <a:t>Chapter Objectives</a:t>
            </a:r>
          </a:p>
        </p:txBody>
      </p:sp>
      <p:sp>
        <p:nvSpPr>
          <p:cNvPr id="5" name="Content Placeholder 2">
            <a:extLst>
              <a:ext uri="{FF2B5EF4-FFF2-40B4-BE49-F238E27FC236}">
                <a16:creationId xmlns:a16="http://schemas.microsoft.com/office/drawing/2014/main" id="{D1724647-207F-1346-BC45-932603259DBD}"/>
              </a:ext>
            </a:extLst>
          </p:cNvPr>
          <p:cNvSpPr>
            <a:spLocks noGrp="1"/>
          </p:cNvSpPr>
          <p:nvPr>
            <p:ph idx="1"/>
          </p:nvPr>
        </p:nvSpPr>
        <p:spPr>
          <a:xfrm>
            <a:off x="1023445" y="1744579"/>
            <a:ext cx="10145110" cy="4152354"/>
          </a:xfrm>
        </p:spPr>
        <p:txBody>
          <a:bodyPr>
            <a:noAutofit/>
          </a:bodyPr>
          <a:lstStyle/>
          <a:p>
            <a:pPr marL="457200" indent="-457200">
              <a:lnSpc>
                <a:spcPct val="100000"/>
              </a:lnSpc>
              <a:spcBef>
                <a:spcPts val="1800"/>
              </a:spcBef>
              <a:buFont typeface="+mj-lt"/>
              <a:buAutoNum type="arabicPeriod"/>
            </a:pPr>
            <a:r>
              <a:rPr lang="en-US" altLang="en-US" sz="2500" dirty="0">
                <a:latin typeface="Garamond" panose="02020404030301010803" pitchFamily="18" charset="0"/>
              </a:rPr>
              <a:t>Explain relationship marketing, its goals, and the benefits of long-term relationships for firms and customers.</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Explain why and how to estimate customer relationship value.</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Introduce the concept of customer profitability segments as a strategy for focusing relationship marketing efforts.</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Present relationship development strategies.</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Identify challenges in relationship management, including the idea that “the customer is </a:t>
            </a:r>
            <a:r>
              <a:rPr lang="en-US" altLang="en-US" sz="2500" b="1" dirty="0">
                <a:latin typeface="Garamond" panose="02020404030301010803" pitchFamily="18" charset="0"/>
              </a:rPr>
              <a:t>NOT</a:t>
            </a:r>
            <a:r>
              <a:rPr lang="en-US" altLang="en-US" sz="2500" dirty="0">
                <a:latin typeface="Garamond" panose="02020404030301010803" pitchFamily="18" charset="0"/>
              </a:rPr>
              <a:t> always right”.</a:t>
            </a:r>
          </a:p>
        </p:txBody>
      </p:sp>
    </p:spTree>
    <p:extLst>
      <p:ext uri="{BB962C8B-B14F-4D97-AF65-F5344CB8AC3E}">
        <p14:creationId xmlns:p14="http://schemas.microsoft.com/office/powerpoint/2010/main" val="725057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Relationship Marketing</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814137" y="1746458"/>
            <a:ext cx="6633410"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2600" dirty="0">
                <a:latin typeface="Garamond" panose="02020404030301010803" pitchFamily="18" charset="0"/>
              </a:rPr>
              <a:t>Shifting focus from transaction to relationship.</a:t>
            </a:r>
          </a:p>
          <a:p>
            <a:pPr>
              <a:buFont typeface="Arial" panose="020B0604020202020204" pitchFamily="34" charset="0"/>
              <a:buChar char="•"/>
            </a:pPr>
            <a:r>
              <a:rPr lang="en-US" sz="2600" dirty="0">
                <a:latin typeface="Garamond" panose="02020404030301010803" pitchFamily="18" charset="0"/>
              </a:rPr>
              <a:t>The philosophy of doing business that focuses on initiating, keeping, and improving relationships with current customers rather than acquiring new customers.</a:t>
            </a:r>
          </a:p>
          <a:p>
            <a:pPr>
              <a:buFont typeface="Arial" panose="020B0604020202020204" pitchFamily="34" charset="0"/>
              <a:buChar char="•"/>
            </a:pPr>
            <a:r>
              <a:rPr lang="en-US" sz="2600" dirty="0">
                <a:latin typeface="Garamond" panose="02020404030301010803" pitchFamily="18" charset="0"/>
              </a:rPr>
              <a:t>Important factors:</a:t>
            </a:r>
          </a:p>
          <a:p>
            <a:pPr lvl="1">
              <a:spcBef>
                <a:spcPts val="600"/>
              </a:spcBef>
              <a:buFont typeface="Arial" panose="020B0604020202020204" pitchFamily="34" charset="0"/>
              <a:buChar char="•"/>
            </a:pPr>
            <a:r>
              <a:rPr lang="en-US" sz="2600" dirty="0">
                <a:latin typeface="Garamond" panose="02020404030301010803" pitchFamily="18" charset="0"/>
              </a:rPr>
              <a:t>Brand loyalty</a:t>
            </a:r>
          </a:p>
          <a:p>
            <a:pPr lvl="1">
              <a:spcBef>
                <a:spcPts val="600"/>
              </a:spcBef>
              <a:buFont typeface="Arial" panose="020B0604020202020204" pitchFamily="34" charset="0"/>
              <a:buChar char="•"/>
            </a:pPr>
            <a:r>
              <a:rPr lang="en-US" sz="2600" dirty="0">
                <a:latin typeface="Garamond" panose="02020404030301010803" pitchFamily="18" charset="0"/>
              </a:rPr>
              <a:t>Location /Accessibility </a:t>
            </a:r>
          </a:p>
          <a:p>
            <a:pPr lvl="1">
              <a:spcBef>
                <a:spcPts val="600"/>
              </a:spcBef>
              <a:buFont typeface="Arial" panose="020B0604020202020204" pitchFamily="34" charset="0"/>
              <a:buChar char="•"/>
            </a:pPr>
            <a:r>
              <a:rPr lang="en-US" sz="2600" dirty="0">
                <a:latin typeface="Garamond" panose="02020404030301010803" pitchFamily="18" charset="0"/>
              </a:rPr>
              <a:t>Consistency </a:t>
            </a:r>
          </a:p>
        </p:txBody>
      </p:sp>
      <p:pic>
        <p:nvPicPr>
          <p:cNvPr id="1026" name="Picture 2" descr="Top Relationship Marketing Strategies_blog">
            <a:extLst>
              <a:ext uri="{FF2B5EF4-FFF2-40B4-BE49-F238E27FC236}">
                <a16:creationId xmlns:a16="http://schemas.microsoft.com/office/drawing/2014/main" id="{3BD9A736-FD0F-E32F-540B-2D2DD0B224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549"/>
          <a:stretch/>
        </p:blipFill>
        <p:spPr bwMode="auto">
          <a:xfrm>
            <a:off x="7537348" y="1746458"/>
            <a:ext cx="5256236" cy="4170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1191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Bucket Theory of Marketing</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4932947" y="1874277"/>
            <a:ext cx="6608813"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2600" dirty="0">
                <a:latin typeface="Garamond" panose="02020404030301010803" pitchFamily="18" charset="0"/>
              </a:rPr>
              <a:t>You focus on always filling the bucket – pushing customers into your bucket.</a:t>
            </a:r>
          </a:p>
          <a:p>
            <a:pPr>
              <a:buFont typeface="Arial" panose="020B0604020202020204" pitchFamily="34" charset="0"/>
              <a:buChar char="•"/>
            </a:pPr>
            <a:r>
              <a:rPr lang="en-US" sz="2600" dirty="0">
                <a:latin typeface="Garamond" panose="02020404030301010803" pitchFamily="18" charset="0"/>
              </a:rPr>
              <a:t>But if you have holes, then customers leak out.</a:t>
            </a:r>
          </a:p>
          <a:p>
            <a:pPr>
              <a:buFont typeface="Arial" panose="020B0604020202020204" pitchFamily="34" charset="0"/>
              <a:buChar char="•"/>
            </a:pPr>
            <a:r>
              <a:rPr lang="en-US" sz="2600" dirty="0">
                <a:latin typeface="Garamond" panose="02020404030301010803" pitchFamily="18" charset="0"/>
              </a:rPr>
              <a:t>Depending on how big the weaknesses in your business are, determines how small/big these holes are.</a:t>
            </a:r>
          </a:p>
          <a:p>
            <a:pPr>
              <a:buFont typeface="Arial" panose="020B0604020202020204" pitchFamily="34" charset="0"/>
              <a:buChar char="•"/>
            </a:pPr>
            <a:r>
              <a:rPr lang="en-US" sz="2600" dirty="0">
                <a:latin typeface="Garamond" panose="02020404030301010803" pitchFamily="18" charset="0"/>
              </a:rPr>
              <a:t>If you focus on relationship, then you can keep customers from leaking out – even if there are holes (customer loyalty). </a:t>
            </a:r>
          </a:p>
        </p:txBody>
      </p:sp>
      <p:pic>
        <p:nvPicPr>
          <p:cNvPr id="7" name="Picture 6">
            <a:extLst>
              <a:ext uri="{FF2B5EF4-FFF2-40B4-BE49-F238E27FC236}">
                <a16:creationId xmlns:a16="http://schemas.microsoft.com/office/drawing/2014/main" id="{2D172210-89EA-1C28-A98C-ADC09366CFE9}"/>
              </a:ext>
            </a:extLst>
          </p:cNvPr>
          <p:cNvPicPr>
            <a:picLocks noChangeAspect="1"/>
          </p:cNvPicPr>
          <p:nvPr/>
        </p:nvPicPr>
        <p:blipFill>
          <a:blip r:embed="rId3"/>
          <a:stretch>
            <a:fillRect/>
          </a:stretch>
        </p:blipFill>
        <p:spPr>
          <a:xfrm>
            <a:off x="842020" y="2368039"/>
            <a:ext cx="3869667" cy="3658831"/>
          </a:xfrm>
          <a:prstGeom prst="rect">
            <a:avLst/>
          </a:prstGeom>
        </p:spPr>
      </p:pic>
      <p:sp>
        <p:nvSpPr>
          <p:cNvPr id="9" name="TextBox 8">
            <a:extLst>
              <a:ext uri="{FF2B5EF4-FFF2-40B4-BE49-F238E27FC236}">
                <a16:creationId xmlns:a16="http://schemas.microsoft.com/office/drawing/2014/main" id="{694FEEFE-F7FE-0AC1-9A23-E3E144718867}"/>
              </a:ext>
            </a:extLst>
          </p:cNvPr>
          <p:cNvSpPr txBox="1"/>
          <p:nvPr/>
        </p:nvSpPr>
        <p:spPr>
          <a:xfrm>
            <a:off x="429402" y="1623387"/>
            <a:ext cx="4694904" cy="646331"/>
          </a:xfrm>
          <a:prstGeom prst="rect">
            <a:avLst/>
          </a:prstGeom>
          <a:noFill/>
        </p:spPr>
        <p:txBody>
          <a:bodyPr wrap="square">
            <a:spAutoFit/>
          </a:bodyPr>
          <a:lstStyle/>
          <a:p>
            <a:pPr algn="ctr"/>
            <a:r>
              <a:rPr lang="en-US" sz="1800" b="1" dirty="0">
                <a:latin typeface="Garamond" panose="02020404030301010803" pitchFamily="18" charset="0"/>
              </a:rPr>
              <a:t>Holes in the Bucket: Why Relationship Development Makes Sense</a:t>
            </a:r>
            <a:endParaRPr lang="en-US" b="1" dirty="0"/>
          </a:p>
        </p:txBody>
      </p:sp>
    </p:spTree>
    <p:extLst>
      <p:ext uri="{BB962C8B-B14F-4D97-AF65-F5344CB8AC3E}">
        <p14:creationId xmlns:p14="http://schemas.microsoft.com/office/powerpoint/2010/main" val="14443207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The Evolution of Customer Relationships</a:t>
            </a:r>
          </a:p>
        </p:txBody>
      </p:sp>
      <p:graphicFrame>
        <p:nvGraphicFramePr>
          <p:cNvPr id="3" name="Diagram 2">
            <a:extLst>
              <a:ext uri="{FF2B5EF4-FFF2-40B4-BE49-F238E27FC236}">
                <a16:creationId xmlns:a16="http://schemas.microsoft.com/office/drawing/2014/main" id="{46724864-6C15-7CBF-5B3D-0CE043689C66}"/>
              </a:ext>
            </a:extLst>
          </p:cNvPr>
          <p:cNvGraphicFramePr/>
          <p:nvPr>
            <p:extLst>
              <p:ext uri="{D42A27DB-BD31-4B8C-83A1-F6EECF244321}">
                <p14:modId xmlns:p14="http://schemas.microsoft.com/office/powerpoint/2010/main" val="3605437001"/>
              </p:ext>
            </p:extLst>
          </p:nvPr>
        </p:nvGraphicFramePr>
        <p:xfrm>
          <a:off x="560439" y="1612491"/>
          <a:ext cx="10817423" cy="27923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00811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The Evolution of Customer Relationships</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814137" y="1746458"/>
            <a:ext cx="1056372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2800" b="1" u="sng" dirty="0">
                <a:latin typeface="Garamond" panose="02020404030301010803" pitchFamily="18" charset="0"/>
              </a:rPr>
              <a:t>Strangers:</a:t>
            </a:r>
            <a:r>
              <a:rPr lang="en-US" sz="2800" dirty="0">
                <a:latin typeface="Garamond" panose="02020404030301010803" pitchFamily="18" charset="0"/>
              </a:rPr>
              <a:t> potential customers who have not yet had any transactions (interactions) with a firm and may not even be aware of the firm. The goal here is to</a:t>
            </a:r>
            <a:r>
              <a:rPr lang="en-US" sz="2800" b="1" dirty="0">
                <a:latin typeface="Garamond" panose="02020404030301010803" pitchFamily="18" charset="0"/>
              </a:rPr>
              <a:t> attract and acquire. </a:t>
            </a:r>
          </a:p>
          <a:p>
            <a:pPr>
              <a:buFont typeface="Arial" panose="020B0604020202020204" pitchFamily="34" charset="0"/>
              <a:buChar char="•"/>
            </a:pPr>
            <a:r>
              <a:rPr lang="en-US" sz="2800" b="1" u="sng" dirty="0">
                <a:latin typeface="Garamond" panose="02020404030301010803" pitchFamily="18" charset="0"/>
              </a:rPr>
              <a:t>Acquaintances:</a:t>
            </a:r>
            <a:r>
              <a:rPr lang="en-US" sz="2800" dirty="0">
                <a:latin typeface="Garamond" panose="02020404030301010803" pitchFamily="18" charset="0"/>
              </a:rPr>
              <a:t> Once customers are aware, familiarity is established, and the customer is now an acquaintance. Primary goal at this stage is </a:t>
            </a:r>
            <a:r>
              <a:rPr lang="en-US" sz="2800" b="1" dirty="0">
                <a:latin typeface="Garamond" panose="02020404030301010803" pitchFamily="18" charset="0"/>
              </a:rPr>
              <a:t>satisfying the customer</a:t>
            </a:r>
            <a:r>
              <a:rPr lang="en-US" sz="2800" dirty="0">
                <a:latin typeface="Garamond" panose="02020404030301010803" pitchFamily="18" charset="0"/>
              </a:rPr>
              <a:t> (or potential customer). </a:t>
            </a:r>
          </a:p>
        </p:txBody>
      </p:sp>
    </p:spTree>
    <p:extLst>
      <p:ext uri="{BB962C8B-B14F-4D97-AF65-F5344CB8AC3E}">
        <p14:creationId xmlns:p14="http://schemas.microsoft.com/office/powerpoint/2010/main" val="37076355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The Evolution of Customer Relationships</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814137" y="1746458"/>
            <a:ext cx="1056372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2800" b="1" u="sng" dirty="0">
                <a:latin typeface="Garamond" panose="02020404030301010803" pitchFamily="18" charset="0"/>
              </a:rPr>
              <a:t>Friends:</a:t>
            </a:r>
            <a:r>
              <a:rPr lang="en-US" sz="2800" dirty="0">
                <a:latin typeface="Garamond" panose="02020404030301010803" pitchFamily="18" charset="0"/>
              </a:rPr>
              <a:t> Customers now makes purchases, and the firm starts to receive value in exchange – collecting knowledge of the customer needs. The focus in this stage is </a:t>
            </a:r>
            <a:r>
              <a:rPr lang="en-US" sz="2800" b="1" dirty="0">
                <a:latin typeface="Garamond" panose="02020404030301010803" pitchFamily="18" charset="0"/>
              </a:rPr>
              <a:t>building trust</a:t>
            </a:r>
            <a:r>
              <a:rPr lang="en-US" sz="2800" dirty="0">
                <a:latin typeface="Garamond" panose="02020404030301010803" pitchFamily="18" charset="0"/>
              </a:rPr>
              <a:t> with the customer, and </a:t>
            </a:r>
            <a:r>
              <a:rPr lang="en-US" sz="2800" b="1" dirty="0">
                <a:latin typeface="Garamond" panose="02020404030301010803" pitchFamily="18" charset="0"/>
              </a:rPr>
              <a:t>customer retention</a:t>
            </a:r>
            <a:r>
              <a:rPr lang="en-US" sz="2800" dirty="0">
                <a:latin typeface="Garamond" panose="02020404030301010803" pitchFamily="18" charset="0"/>
              </a:rPr>
              <a:t>.</a:t>
            </a:r>
          </a:p>
          <a:p>
            <a:pPr>
              <a:buFont typeface="Arial" panose="020B0604020202020204" pitchFamily="34" charset="0"/>
              <a:buChar char="•"/>
            </a:pPr>
            <a:r>
              <a:rPr lang="en-US" sz="2800" b="1" u="sng" dirty="0">
                <a:latin typeface="Garamond" panose="02020404030301010803" pitchFamily="18" charset="0"/>
              </a:rPr>
              <a:t>Partners:</a:t>
            </a:r>
            <a:r>
              <a:rPr lang="en-US" sz="2800" dirty="0">
                <a:latin typeface="Garamond" panose="02020404030301010803" pitchFamily="18" charset="0"/>
              </a:rPr>
              <a:t> a loyal customer, who trusts the firm, likely to recommend the business to friends and family, and is committed. The focus in this stage (so the customer does not look for alternatives) is </a:t>
            </a:r>
            <a:r>
              <a:rPr lang="en-US" sz="2800" b="1" dirty="0">
                <a:latin typeface="Garamond" panose="02020404030301010803" pitchFamily="18" charset="0"/>
              </a:rPr>
              <a:t>enhancing the relationship</a:t>
            </a:r>
            <a:r>
              <a:rPr lang="en-US" sz="2800" dirty="0">
                <a:latin typeface="Garamond" panose="02020404030301010803" pitchFamily="18" charset="0"/>
              </a:rPr>
              <a:t>.</a:t>
            </a:r>
          </a:p>
        </p:txBody>
      </p:sp>
    </p:spTree>
    <p:extLst>
      <p:ext uri="{BB962C8B-B14F-4D97-AF65-F5344CB8AC3E}">
        <p14:creationId xmlns:p14="http://schemas.microsoft.com/office/powerpoint/2010/main" val="36005561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E75FED2-5642-C94A-D64F-360D093478A7}"/>
              </a:ext>
            </a:extLst>
          </p:cNvPr>
          <p:cNvSpPr>
            <a:spLocks noGrp="1"/>
          </p:cNvSpPr>
          <p:nvPr>
            <p:ph type="title"/>
          </p:nvPr>
        </p:nvSpPr>
        <p:spPr>
          <a:xfrm>
            <a:off x="7913152" y="571500"/>
            <a:ext cx="3657600" cy="2197100"/>
          </a:xfrm>
        </p:spPr>
        <p:txBody>
          <a:bodyPr>
            <a:normAutofit/>
          </a:bodyPr>
          <a:lstStyle/>
          <a:p>
            <a:r>
              <a:rPr lang="en-US" sz="3600" dirty="0">
                <a:latin typeface="Gill Sans MT" panose="020B0502020104020203" pitchFamily="34" charset="0"/>
              </a:rPr>
              <a:t>The Goal of Relationship Marketing</a:t>
            </a:r>
          </a:p>
        </p:txBody>
      </p:sp>
      <p:sp>
        <p:nvSpPr>
          <p:cNvPr id="11" name="Text Placeholder 3">
            <a:extLst>
              <a:ext uri="{FF2B5EF4-FFF2-40B4-BE49-F238E27FC236}">
                <a16:creationId xmlns:a16="http://schemas.microsoft.com/office/drawing/2014/main" id="{915AB845-4332-203C-2AB4-AFA3BCDE90F5}"/>
              </a:ext>
            </a:extLst>
          </p:cNvPr>
          <p:cNvSpPr>
            <a:spLocks noGrp="1"/>
          </p:cNvSpPr>
          <p:nvPr>
            <p:ph type="body" sz="half" idx="2"/>
          </p:nvPr>
        </p:nvSpPr>
        <p:spPr>
          <a:xfrm>
            <a:off x="7913152" y="2995012"/>
            <a:ext cx="3657600" cy="2285950"/>
          </a:xfrm>
        </p:spPr>
        <p:txBody>
          <a:bodyPr>
            <a:normAutofit/>
          </a:bodyPr>
          <a:lstStyle/>
          <a:p>
            <a:r>
              <a:rPr lang="en-US" sz="2800" dirty="0">
                <a:latin typeface="Gill Sans MT" panose="020B0502020104020203" pitchFamily="34" charset="0"/>
              </a:rPr>
              <a:t>Share of Wallet vs. Share of Heart</a:t>
            </a:r>
          </a:p>
        </p:txBody>
      </p:sp>
      <p:pic>
        <p:nvPicPr>
          <p:cNvPr id="2" name="Picture 1">
            <a:extLst>
              <a:ext uri="{FF2B5EF4-FFF2-40B4-BE49-F238E27FC236}">
                <a16:creationId xmlns:a16="http://schemas.microsoft.com/office/drawing/2014/main" id="{656C7E36-6095-257A-1261-C956BC99E702}"/>
              </a:ext>
            </a:extLst>
          </p:cNvPr>
          <p:cNvPicPr>
            <a:picLocks noChangeAspect="1"/>
          </p:cNvPicPr>
          <p:nvPr/>
        </p:nvPicPr>
        <p:blipFill>
          <a:blip r:embed="rId3"/>
          <a:stretch>
            <a:fillRect/>
          </a:stretch>
        </p:blipFill>
        <p:spPr>
          <a:xfrm>
            <a:off x="240461" y="1299411"/>
            <a:ext cx="6920285" cy="4397541"/>
          </a:xfrm>
          <a:prstGeom prst="rect">
            <a:avLst/>
          </a:prstGeom>
        </p:spPr>
      </p:pic>
    </p:spTree>
    <p:extLst>
      <p:ext uri="{BB962C8B-B14F-4D97-AF65-F5344CB8AC3E}">
        <p14:creationId xmlns:p14="http://schemas.microsoft.com/office/powerpoint/2010/main" val="20241304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Customer Lifetime Value/ Profitability</a:t>
            </a:r>
          </a:p>
        </p:txBody>
      </p:sp>
      <p:sp>
        <p:nvSpPr>
          <p:cNvPr id="3" name="Content Placeholder 2">
            <a:extLst>
              <a:ext uri="{FF2B5EF4-FFF2-40B4-BE49-F238E27FC236}">
                <a16:creationId xmlns:a16="http://schemas.microsoft.com/office/drawing/2014/main" id="{1CC1E2FD-262D-B400-6D30-3F7D284EF247}"/>
              </a:ext>
            </a:extLst>
          </p:cNvPr>
          <p:cNvSpPr txBox="1">
            <a:spLocks/>
          </p:cNvSpPr>
          <p:nvPr/>
        </p:nvSpPr>
        <p:spPr>
          <a:xfrm>
            <a:off x="814137" y="1746458"/>
            <a:ext cx="1056372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2800" dirty="0">
                <a:latin typeface="Garamond" panose="02020404030301010803" pitchFamily="18" charset="0"/>
              </a:rPr>
              <a:t>Customers are more valuable the longer they are loyal</a:t>
            </a:r>
          </a:p>
          <a:p>
            <a:pPr lvl="1">
              <a:buFont typeface="Arial" panose="020B0604020202020204" pitchFamily="34" charset="0"/>
              <a:buChar char="•"/>
            </a:pPr>
            <a:r>
              <a:rPr lang="en-US" sz="2600" dirty="0">
                <a:latin typeface="Garamond" panose="02020404030301010803" pitchFamily="18" charset="0"/>
              </a:rPr>
              <a:t>Less costs/ no costs to acquire them</a:t>
            </a:r>
          </a:p>
          <a:p>
            <a:pPr lvl="1">
              <a:buFont typeface="Arial" panose="020B0604020202020204" pitchFamily="34" charset="0"/>
              <a:buChar char="•"/>
            </a:pPr>
            <a:r>
              <a:rPr lang="en-US" sz="2600" dirty="0">
                <a:latin typeface="Garamond" panose="02020404030301010803" pitchFamily="18" charset="0"/>
              </a:rPr>
              <a:t>Less costs/ no costs to sell to them</a:t>
            </a:r>
          </a:p>
          <a:p>
            <a:pPr lvl="1">
              <a:buFont typeface="Arial" panose="020B0604020202020204" pitchFamily="34" charset="0"/>
              <a:buChar char="•"/>
            </a:pPr>
            <a:r>
              <a:rPr lang="en-US" sz="2600" dirty="0">
                <a:latin typeface="Garamond" panose="02020404030301010803" pitchFamily="18" charset="0"/>
              </a:rPr>
              <a:t>They promote your business through WOM</a:t>
            </a:r>
          </a:p>
          <a:p>
            <a:pPr>
              <a:buFont typeface="Arial" panose="020B0604020202020204" pitchFamily="34" charset="0"/>
              <a:buChar char="•"/>
            </a:pPr>
            <a:endParaRPr lang="en-US" sz="1600" dirty="0">
              <a:latin typeface="Garamond" panose="02020404030301010803" pitchFamily="18" charset="0"/>
            </a:endParaRPr>
          </a:p>
          <a:p>
            <a:pPr>
              <a:buFont typeface="Arial" panose="020B0604020202020204" pitchFamily="34" charset="0"/>
              <a:buChar char="•"/>
            </a:pPr>
            <a:r>
              <a:rPr lang="en-US" sz="2800" dirty="0">
                <a:latin typeface="Garamond" panose="02020404030301010803" pitchFamily="18" charset="0"/>
              </a:rPr>
              <a:t>Using this model – you can calculate how much valuable a customer will be over a period of time:</a:t>
            </a:r>
          </a:p>
          <a:p>
            <a:pPr>
              <a:buFont typeface="Arial" panose="020B0604020202020204" pitchFamily="34" charset="0"/>
              <a:buChar char="•"/>
            </a:pPr>
            <a:r>
              <a:rPr lang="en-US" sz="2800" dirty="0">
                <a:latin typeface="Garamond" panose="02020404030301010803" pitchFamily="18" charset="0"/>
              </a:rPr>
              <a:t>CLV = customer value x average customer lifespan</a:t>
            </a:r>
          </a:p>
        </p:txBody>
      </p:sp>
    </p:spTree>
    <p:extLst>
      <p:ext uri="{BB962C8B-B14F-4D97-AF65-F5344CB8AC3E}">
        <p14:creationId xmlns:p14="http://schemas.microsoft.com/office/powerpoint/2010/main" val="15572435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Example: Travel Agency</a:t>
            </a:r>
          </a:p>
        </p:txBody>
      </p:sp>
      <p:sp>
        <p:nvSpPr>
          <p:cNvPr id="3" name="Content Placeholder 2">
            <a:extLst>
              <a:ext uri="{FF2B5EF4-FFF2-40B4-BE49-F238E27FC236}">
                <a16:creationId xmlns:a16="http://schemas.microsoft.com/office/drawing/2014/main" id="{1CC1E2FD-262D-B400-6D30-3F7D284EF247}"/>
              </a:ext>
            </a:extLst>
          </p:cNvPr>
          <p:cNvSpPr txBox="1">
            <a:spLocks/>
          </p:cNvSpPr>
          <p:nvPr/>
        </p:nvSpPr>
        <p:spPr>
          <a:xfrm>
            <a:off x="814137" y="1746458"/>
            <a:ext cx="1056372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sz="3200" dirty="0">
                <a:latin typeface="Garamond" panose="02020404030301010803" pitchFamily="18" charset="0"/>
              </a:rPr>
              <a:t>A travel agency has an average sale of $2000. the typical customer uses the service two times a year, over an average of seven years.</a:t>
            </a:r>
          </a:p>
          <a:p>
            <a:pPr marL="0" indent="0">
              <a:buNone/>
            </a:pPr>
            <a:endParaRPr lang="en-US" sz="2800" dirty="0">
              <a:latin typeface="Garamond" panose="02020404030301010803" pitchFamily="18" charset="0"/>
            </a:endParaRPr>
          </a:p>
          <a:p>
            <a:pPr marL="0" indent="0">
              <a:buNone/>
            </a:pPr>
            <a:endParaRPr lang="en-US" sz="2800" dirty="0">
              <a:latin typeface="Garamond" panose="02020404030301010803" pitchFamily="18" charset="0"/>
            </a:endParaRPr>
          </a:p>
        </p:txBody>
      </p:sp>
      <p:sp>
        <p:nvSpPr>
          <p:cNvPr id="6" name="TextBox 5">
            <a:extLst>
              <a:ext uri="{FF2B5EF4-FFF2-40B4-BE49-F238E27FC236}">
                <a16:creationId xmlns:a16="http://schemas.microsoft.com/office/drawing/2014/main" id="{AD5C6D9A-9823-34AE-BDED-18CD6FCC0CBF}"/>
              </a:ext>
            </a:extLst>
          </p:cNvPr>
          <p:cNvSpPr txBox="1"/>
          <p:nvPr/>
        </p:nvSpPr>
        <p:spPr>
          <a:xfrm>
            <a:off x="814136" y="3871320"/>
            <a:ext cx="10563727" cy="1815882"/>
          </a:xfrm>
          <a:prstGeom prst="rect">
            <a:avLst/>
          </a:prstGeom>
          <a:solidFill>
            <a:srgbClr val="F2F2F2"/>
          </a:solidFill>
        </p:spPr>
        <p:txBody>
          <a:bodyPr wrap="square">
            <a:spAutoFit/>
          </a:bodyPr>
          <a:lstStyle/>
          <a:p>
            <a:pPr marL="0" indent="0" algn="ctr">
              <a:buNone/>
            </a:pPr>
            <a:endParaRPr lang="en-US" sz="2800" b="1" dirty="0">
              <a:latin typeface="Garamond" panose="02020404030301010803" pitchFamily="18" charset="0"/>
            </a:endParaRPr>
          </a:p>
          <a:p>
            <a:pPr marL="0" indent="0" algn="ctr">
              <a:buNone/>
            </a:pPr>
            <a:r>
              <a:rPr lang="en-US" sz="2800" b="1" dirty="0">
                <a:solidFill>
                  <a:schemeClr val="accent1"/>
                </a:solidFill>
                <a:latin typeface="Garamond" panose="02020404030301010803" pitchFamily="18" charset="0"/>
              </a:rPr>
              <a:t>Revenue</a:t>
            </a:r>
            <a:r>
              <a:rPr lang="en-US" sz="2800" b="1" dirty="0">
                <a:latin typeface="Garamond" panose="02020404030301010803" pitchFamily="18" charset="0"/>
              </a:rPr>
              <a:t> = $2000 (average sale) X 2 (annual visits) X 7 (years) </a:t>
            </a:r>
            <a:r>
              <a:rPr lang="en-US" sz="2800" b="1" dirty="0">
                <a:solidFill>
                  <a:schemeClr val="accent1"/>
                </a:solidFill>
                <a:latin typeface="Garamond" panose="02020404030301010803" pitchFamily="18" charset="0"/>
              </a:rPr>
              <a:t>= $28,000</a:t>
            </a:r>
          </a:p>
          <a:p>
            <a:pPr marL="0" indent="0" algn="ctr">
              <a:buNone/>
            </a:pPr>
            <a:endParaRPr lang="en-US" sz="2800" b="1" dirty="0">
              <a:latin typeface="Garamond" panose="02020404030301010803" pitchFamily="18" charset="0"/>
            </a:endParaRPr>
          </a:p>
        </p:txBody>
      </p:sp>
    </p:spTree>
    <p:extLst>
      <p:ext uri="{BB962C8B-B14F-4D97-AF65-F5344CB8AC3E}">
        <p14:creationId xmlns:p14="http://schemas.microsoft.com/office/powerpoint/2010/main" val="10155376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Example: Travel Agency</a:t>
            </a:r>
          </a:p>
        </p:txBody>
      </p:sp>
      <p:graphicFrame>
        <p:nvGraphicFramePr>
          <p:cNvPr id="18" name="Table 17">
            <a:extLst>
              <a:ext uri="{FF2B5EF4-FFF2-40B4-BE49-F238E27FC236}">
                <a16:creationId xmlns:a16="http://schemas.microsoft.com/office/drawing/2014/main" id="{35A7C6BA-4404-C205-D0B3-724E41E030C8}"/>
              </a:ext>
            </a:extLst>
          </p:cNvPr>
          <p:cNvGraphicFramePr>
            <a:graphicFrameLocks noGrp="1"/>
          </p:cNvGraphicFramePr>
          <p:nvPr>
            <p:extLst>
              <p:ext uri="{D42A27DB-BD31-4B8C-83A1-F6EECF244321}">
                <p14:modId xmlns:p14="http://schemas.microsoft.com/office/powerpoint/2010/main" val="673812746"/>
              </p:ext>
            </p:extLst>
          </p:nvPr>
        </p:nvGraphicFramePr>
        <p:xfrm>
          <a:off x="339801" y="1679598"/>
          <a:ext cx="11521440" cy="4856644"/>
        </p:xfrm>
        <a:graphic>
          <a:graphicData uri="http://schemas.openxmlformats.org/drawingml/2006/table">
            <a:tbl>
              <a:tblPr firstRow="1" lastRow="1">
                <a:tableStyleId>{5C22544A-7EE6-4342-B048-85BDC9FD1C3A}</a:tableStyleId>
              </a:tblPr>
              <a:tblGrid>
                <a:gridCol w="4937760">
                  <a:extLst>
                    <a:ext uri="{9D8B030D-6E8A-4147-A177-3AD203B41FA5}">
                      <a16:colId xmlns:a16="http://schemas.microsoft.com/office/drawing/2014/main" val="2165505168"/>
                    </a:ext>
                  </a:extLst>
                </a:gridCol>
                <a:gridCol w="1097280">
                  <a:extLst>
                    <a:ext uri="{9D8B030D-6E8A-4147-A177-3AD203B41FA5}">
                      <a16:colId xmlns:a16="http://schemas.microsoft.com/office/drawing/2014/main" val="1689350879"/>
                    </a:ext>
                  </a:extLst>
                </a:gridCol>
                <a:gridCol w="1097280">
                  <a:extLst>
                    <a:ext uri="{9D8B030D-6E8A-4147-A177-3AD203B41FA5}">
                      <a16:colId xmlns:a16="http://schemas.microsoft.com/office/drawing/2014/main" val="1849900923"/>
                    </a:ext>
                  </a:extLst>
                </a:gridCol>
                <a:gridCol w="1097280">
                  <a:extLst>
                    <a:ext uri="{9D8B030D-6E8A-4147-A177-3AD203B41FA5}">
                      <a16:colId xmlns:a16="http://schemas.microsoft.com/office/drawing/2014/main" val="3251385045"/>
                    </a:ext>
                  </a:extLst>
                </a:gridCol>
                <a:gridCol w="1097280">
                  <a:extLst>
                    <a:ext uri="{9D8B030D-6E8A-4147-A177-3AD203B41FA5}">
                      <a16:colId xmlns:a16="http://schemas.microsoft.com/office/drawing/2014/main" val="1493168722"/>
                    </a:ext>
                  </a:extLst>
                </a:gridCol>
                <a:gridCol w="1097280">
                  <a:extLst>
                    <a:ext uri="{9D8B030D-6E8A-4147-A177-3AD203B41FA5}">
                      <a16:colId xmlns:a16="http://schemas.microsoft.com/office/drawing/2014/main" val="305979311"/>
                    </a:ext>
                  </a:extLst>
                </a:gridCol>
                <a:gridCol w="1097280">
                  <a:extLst>
                    <a:ext uri="{9D8B030D-6E8A-4147-A177-3AD203B41FA5}">
                      <a16:colId xmlns:a16="http://schemas.microsoft.com/office/drawing/2014/main" val="55344188"/>
                    </a:ext>
                  </a:extLst>
                </a:gridCol>
              </a:tblGrid>
              <a:tr h="373588">
                <a:tc>
                  <a:txBody>
                    <a:bodyPr/>
                    <a:lstStyle/>
                    <a:p>
                      <a:pPr algn="l" fontAlgn="b"/>
                      <a:endParaRPr lang="en-US" sz="1600" b="0" i="0" u="none" strike="noStrike" dirty="0">
                        <a:solidFill>
                          <a:srgbClr val="000000"/>
                        </a:solidFill>
                        <a:effectLst/>
                        <a:latin typeface="Garamond" panose="02020404030301010803" pitchFamily="18" charset="0"/>
                      </a:endParaRPr>
                    </a:p>
                  </a:txBody>
                  <a:tcPr anchor="ctr"/>
                </a:tc>
                <a:tc>
                  <a:txBody>
                    <a:bodyPr/>
                    <a:lstStyle/>
                    <a:p>
                      <a:pPr algn="ctr" fontAlgn="b"/>
                      <a:r>
                        <a:rPr lang="en-US" sz="1600" b="1" u="none" strike="noStrike" dirty="0">
                          <a:effectLst/>
                          <a:latin typeface="Garamond" panose="02020404030301010803" pitchFamily="18" charset="0"/>
                        </a:rPr>
                        <a:t>Year 0</a:t>
                      </a:r>
                      <a:endParaRPr lang="en-US" sz="1600" b="1" i="0" u="none" strike="noStrike" dirty="0">
                        <a:solidFill>
                          <a:srgbClr val="000000"/>
                        </a:solidFill>
                        <a:effectLst/>
                        <a:latin typeface="Garamond" panose="02020404030301010803" pitchFamily="18" charset="0"/>
                      </a:endParaRPr>
                    </a:p>
                  </a:txBody>
                  <a:tcPr anchor="ctr"/>
                </a:tc>
                <a:tc>
                  <a:txBody>
                    <a:bodyPr/>
                    <a:lstStyle/>
                    <a:p>
                      <a:pPr algn="ctr" fontAlgn="b"/>
                      <a:r>
                        <a:rPr lang="en-US" sz="1600" b="1" u="none" strike="noStrike">
                          <a:effectLst/>
                          <a:latin typeface="Garamond" panose="02020404030301010803" pitchFamily="18" charset="0"/>
                        </a:rPr>
                        <a:t>Year 1</a:t>
                      </a:r>
                      <a:endParaRPr lang="en-US" sz="1600" b="1" i="0" u="none" strike="noStrike">
                        <a:solidFill>
                          <a:srgbClr val="000000"/>
                        </a:solidFill>
                        <a:effectLst/>
                        <a:latin typeface="Garamond" panose="02020404030301010803" pitchFamily="18" charset="0"/>
                      </a:endParaRPr>
                    </a:p>
                  </a:txBody>
                  <a:tcPr anchor="ctr"/>
                </a:tc>
                <a:tc>
                  <a:txBody>
                    <a:bodyPr/>
                    <a:lstStyle/>
                    <a:p>
                      <a:pPr algn="ctr" fontAlgn="b"/>
                      <a:r>
                        <a:rPr lang="en-US" sz="1600" b="1" u="none" strike="noStrike">
                          <a:effectLst/>
                          <a:latin typeface="Garamond" panose="02020404030301010803" pitchFamily="18" charset="0"/>
                        </a:rPr>
                        <a:t>Year 2</a:t>
                      </a:r>
                      <a:endParaRPr lang="en-US" sz="1600" b="1" i="0" u="none" strike="noStrike">
                        <a:solidFill>
                          <a:srgbClr val="000000"/>
                        </a:solidFill>
                        <a:effectLst/>
                        <a:latin typeface="Garamond" panose="02020404030301010803" pitchFamily="18" charset="0"/>
                      </a:endParaRPr>
                    </a:p>
                  </a:txBody>
                  <a:tcPr anchor="ctr"/>
                </a:tc>
                <a:tc>
                  <a:txBody>
                    <a:bodyPr/>
                    <a:lstStyle/>
                    <a:p>
                      <a:pPr algn="ctr" fontAlgn="b"/>
                      <a:r>
                        <a:rPr lang="en-US" sz="1600" b="1" u="none" strike="noStrike">
                          <a:effectLst/>
                          <a:latin typeface="Garamond" panose="02020404030301010803" pitchFamily="18" charset="0"/>
                        </a:rPr>
                        <a:t>Year 3</a:t>
                      </a:r>
                      <a:endParaRPr lang="en-US" sz="1600" b="1" i="0" u="none" strike="noStrike">
                        <a:solidFill>
                          <a:srgbClr val="000000"/>
                        </a:solidFill>
                        <a:effectLst/>
                        <a:latin typeface="Garamond" panose="02020404030301010803" pitchFamily="18" charset="0"/>
                      </a:endParaRPr>
                    </a:p>
                  </a:txBody>
                  <a:tcPr anchor="ctr"/>
                </a:tc>
                <a:tc>
                  <a:txBody>
                    <a:bodyPr/>
                    <a:lstStyle/>
                    <a:p>
                      <a:pPr algn="ctr" fontAlgn="b"/>
                      <a:r>
                        <a:rPr lang="en-US" sz="1600" b="1" u="none" strike="noStrike" dirty="0">
                          <a:effectLst/>
                          <a:latin typeface="Garamond" panose="02020404030301010803" pitchFamily="18" charset="0"/>
                        </a:rPr>
                        <a:t>Year 4</a:t>
                      </a:r>
                      <a:endParaRPr lang="en-US" sz="1600" b="1" i="0" u="none" strike="noStrike" dirty="0">
                        <a:solidFill>
                          <a:srgbClr val="000000"/>
                        </a:solidFill>
                        <a:effectLst/>
                        <a:latin typeface="Garamond" panose="02020404030301010803" pitchFamily="18" charset="0"/>
                      </a:endParaRPr>
                    </a:p>
                  </a:txBody>
                  <a:tcPr anchor="ctr"/>
                </a:tc>
                <a:tc>
                  <a:txBody>
                    <a:bodyPr/>
                    <a:lstStyle/>
                    <a:p>
                      <a:pPr algn="ctr" fontAlgn="b"/>
                      <a:r>
                        <a:rPr lang="en-US" sz="1600" b="1" u="none" strike="noStrike" dirty="0">
                          <a:effectLst/>
                          <a:latin typeface="Garamond" panose="02020404030301010803" pitchFamily="18" charset="0"/>
                        </a:rPr>
                        <a:t>Year 5</a:t>
                      </a:r>
                      <a:endParaRPr lang="en-US" sz="1600" b="1" i="0" u="none" strike="noStrike" dirty="0">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218962514"/>
                  </a:ext>
                </a:extLst>
              </a:tr>
              <a:tr h="373588">
                <a:tc>
                  <a:txBody>
                    <a:bodyPr/>
                    <a:lstStyle/>
                    <a:p>
                      <a:pPr algn="l" fontAlgn="b"/>
                      <a:r>
                        <a:rPr lang="en-US" sz="1600" b="1" u="sng" strike="noStrike" dirty="0">
                          <a:effectLst/>
                          <a:latin typeface="Garamond" panose="02020404030301010803" pitchFamily="18" charset="0"/>
                        </a:rPr>
                        <a:t>Revenue:</a:t>
                      </a:r>
                      <a:endParaRPr lang="en-US" sz="1600" b="1" i="0" u="sng" strike="noStrike" dirty="0">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518894054"/>
                  </a:ext>
                </a:extLst>
              </a:tr>
              <a:tr h="373588">
                <a:tc>
                  <a:txBody>
                    <a:bodyPr/>
                    <a:lstStyle/>
                    <a:p>
                      <a:pPr algn="l" fontAlgn="b"/>
                      <a:r>
                        <a:rPr lang="en-US" sz="1600" b="0" u="none" strike="noStrike" dirty="0">
                          <a:effectLst/>
                          <a:latin typeface="Garamond" panose="02020404030301010803" pitchFamily="18" charset="0"/>
                        </a:rPr>
                        <a:t>Business Package</a:t>
                      </a:r>
                      <a:endParaRPr lang="en-US" sz="1600" b="0" i="0" u="none" strike="noStrike" dirty="0">
                        <a:solidFill>
                          <a:srgbClr val="000000"/>
                        </a:solidFill>
                        <a:effectLst/>
                        <a:latin typeface="Garamond" panose="02020404030301010803" pitchFamily="18" charset="0"/>
                      </a:endParaRPr>
                    </a:p>
                  </a:txBody>
                  <a:tcPr anchor="ctr"/>
                </a:tc>
                <a:tc>
                  <a:txBody>
                    <a:bodyPr/>
                    <a:lstStyle/>
                    <a:p>
                      <a:pPr algn="l" fontAlgn="b"/>
                      <a:r>
                        <a:rPr lang="en-US" sz="1600" b="0" u="none" strike="noStrike">
                          <a:effectLst/>
                          <a:latin typeface="Garamond" panose="02020404030301010803" pitchFamily="18" charset="0"/>
                        </a:rPr>
                        <a:t>—</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$30,000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$38,000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$48,500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$62,500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$80,000 </a:t>
                      </a:r>
                      <a:endParaRPr lang="en-US" sz="1600" b="0" i="0" u="none" strike="noStrike">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166975586"/>
                  </a:ext>
                </a:extLst>
              </a:tr>
              <a:tr h="373588">
                <a:tc>
                  <a:txBody>
                    <a:bodyPr/>
                    <a:lstStyle/>
                    <a:p>
                      <a:pPr algn="l" fontAlgn="b"/>
                      <a:r>
                        <a:rPr lang="en-US" sz="1600" b="0" u="none" strike="noStrike" dirty="0">
                          <a:effectLst/>
                          <a:latin typeface="Garamond" panose="02020404030301010803" pitchFamily="18" charset="0"/>
                        </a:rPr>
                        <a:t>Vacation Package</a:t>
                      </a:r>
                      <a:endParaRPr lang="en-US" sz="1600" b="0" i="0" u="none" strike="noStrike" dirty="0">
                        <a:solidFill>
                          <a:srgbClr val="000000"/>
                        </a:solidFill>
                        <a:effectLst/>
                        <a:latin typeface="Garamond" panose="02020404030301010803" pitchFamily="18" charset="0"/>
                      </a:endParaRPr>
                    </a:p>
                  </a:txBody>
                  <a:tcPr anchor="ctr"/>
                </a:tc>
                <a:tc>
                  <a:txBody>
                    <a:bodyPr/>
                    <a:lstStyle/>
                    <a:p>
                      <a:pPr algn="l" fontAlgn="b"/>
                      <a:r>
                        <a:rPr lang="en-US" sz="1600" b="0" u="none" strike="noStrike">
                          <a:effectLst/>
                          <a:latin typeface="Garamond" panose="02020404030301010803" pitchFamily="18" charset="0"/>
                        </a:rPr>
                        <a:t>—</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$5,500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$8,000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$11,500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$17,250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$25,000 </a:t>
                      </a:r>
                      <a:endParaRPr lang="en-US" sz="1600" b="0" i="0" u="none" strike="noStrike">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930892740"/>
                  </a:ext>
                </a:extLst>
              </a:tr>
              <a:tr h="373588">
                <a:tc>
                  <a:txBody>
                    <a:bodyPr/>
                    <a:lstStyle/>
                    <a:p>
                      <a:pPr algn="l" fontAlgn="b"/>
                      <a:r>
                        <a:rPr lang="en-US" sz="1600" b="1" u="sng" strike="noStrike" dirty="0">
                          <a:effectLst/>
                          <a:latin typeface="Garamond" panose="02020404030301010803" pitchFamily="18" charset="0"/>
                        </a:rPr>
                        <a:t>Costs:</a:t>
                      </a:r>
                      <a:endParaRPr lang="en-US" sz="1600" b="1" i="0" u="sng" strike="noStrike" dirty="0">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endParaRPr lang="en-US" sz="1600" b="0" i="0" u="none" strike="noStrike">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2354599412"/>
                  </a:ext>
                </a:extLst>
              </a:tr>
              <a:tr h="373588">
                <a:tc>
                  <a:txBody>
                    <a:bodyPr/>
                    <a:lstStyle/>
                    <a:p>
                      <a:pPr algn="l" fontAlgn="b"/>
                      <a:r>
                        <a:rPr lang="en-US" sz="1600" b="0" u="none" strike="noStrike" dirty="0">
                          <a:effectLst/>
                          <a:latin typeface="Garamond" panose="02020404030301010803" pitchFamily="18" charset="0"/>
                        </a:rPr>
                        <a:t>Business Package</a:t>
                      </a:r>
                      <a:endParaRPr lang="en-US" sz="1600" b="0" i="0" u="none" strike="noStrike" dirty="0">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$5,000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$23,000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$28,000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$35,000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$43,500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$53,500 </a:t>
                      </a:r>
                      <a:endParaRPr lang="en-US" sz="1600" b="0" i="0" u="none" strike="noStrike">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1599466188"/>
                  </a:ext>
                </a:extLst>
              </a:tr>
              <a:tr h="373588">
                <a:tc>
                  <a:txBody>
                    <a:bodyPr/>
                    <a:lstStyle/>
                    <a:p>
                      <a:pPr algn="l" fontAlgn="b"/>
                      <a:r>
                        <a:rPr lang="en-US" sz="1600" b="0" u="none" strike="noStrike" dirty="0">
                          <a:effectLst/>
                          <a:latin typeface="Garamond" panose="02020404030301010803" pitchFamily="18" charset="0"/>
                        </a:rPr>
                        <a:t>Vacation Package</a:t>
                      </a:r>
                      <a:endParaRPr lang="en-US" sz="1600" b="0" i="0" u="none" strike="noStrike" dirty="0">
                        <a:solidFill>
                          <a:srgbClr val="000000"/>
                        </a:solidFill>
                        <a:effectLst/>
                        <a:latin typeface="Garamond" panose="02020404030301010803" pitchFamily="18" charset="0"/>
                      </a:endParaRPr>
                    </a:p>
                  </a:txBody>
                  <a:tcPr anchor="ctr"/>
                </a:tc>
                <a:tc>
                  <a:txBody>
                    <a:bodyPr/>
                    <a:lstStyle/>
                    <a:p>
                      <a:pPr algn="l" fontAlgn="b"/>
                      <a:r>
                        <a:rPr lang="en-US" sz="1600" b="0" u="none" strike="noStrike">
                          <a:effectLst/>
                          <a:latin typeface="Garamond" panose="02020404030301010803" pitchFamily="18" charset="0"/>
                        </a:rPr>
                        <a:t>—</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dirty="0">
                          <a:effectLst/>
                          <a:latin typeface="Garamond" panose="02020404030301010803" pitchFamily="18" charset="0"/>
                        </a:rPr>
                        <a:t>$3,500 </a:t>
                      </a:r>
                      <a:endParaRPr lang="en-US" sz="1600" b="0" i="0" u="none" strike="noStrike" dirty="0">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$4,000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$5,000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$6,800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$9,000 </a:t>
                      </a:r>
                      <a:endParaRPr lang="en-US" sz="1600" b="0" i="0" u="none" strike="noStrike">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783654490"/>
                  </a:ext>
                </a:extLst>
              </a:tr>
              <a:tr h="37358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bg1"/>
                          </a:solidFill>
                          <a:effectLst/>
                          <a:uLnTx/>
                          <a:uFillTx/>
                          <a:latin typeface="Garamond" panose="02020404030301010803" pitchFamily="18" charset="0"/>
                          <a:ea typeface="+mn-ea"/>
                          <a:cs typeface="+mn-cs"/>
                        </a:rPr>
                        <a:t>Lifetime Customer Value Calculation</a:t>
                      </a:r>
                    </a:p>
                  </a:txBody>
                  <a:tcPr anchor="ctr">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aramond" panose="02020404030301010803" pitchFamily="18" charset="0"/>
                        <a:ea typeface="+mn-ea"/>
                        <a:cs typeface="+mn-cs"/>
                      </a:endParaRPr>
                    </a:p>
                  </a:txBody>
                  <a:tcPr anchor="ctr">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aramond" panose="02020404030301010803" pitchFamily="18" charset="0"/>
                        <a:ea typeface="+mn-ea"/>
                        <a:cs typeface="+mn-cs"/>
                      </a:endParaRPr>
                    </a:p>
                  </a:txBody>
                  <a:tcPr anchor="ctr">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aramond" panose="02020404030301010803" pitchFamily="18" charset="0"/>
                        <a:ea typeface="+mn-ea"/>
                        <a:cs typeface="+mn-cs"/>
                      </a:endParaRPr>
                    </a:p>
                  </a:txBody>
                  <a:tcPr anchor="ctr">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aramond" panose="02020404030301010803" pitchFamily="18" charset="0"/>
                        <a:ea typeface="+mn-ea"/>
                        <a:cs typeface="+mn-cs"/>
                      </a:endParaRPr>
                    </a:p>
                  </a:txBody>
                  <a:tcPr anchor="ctr">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aramond" panose="02020404030301010803" pitchFamily="18" charset="0"/>
                        <a:ea typeface="+mn-ea"/>
                        <a:cs typeface="+mn-cs"/>
                      </a:endParaRPr>
                    </a:p>
                  </a:txBody>
                  <a:tcPr anchor="ctr">
                    <a:solidFill>
                      <a:schemeClr val="accent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aramond" panose="02020404030301010803" pitchFamily="18" charset="0"/>
                        <a:ea typeface="+mn-ea"/>
                        <a:cs typeface="+mn-cs"/>
                      </a:endParaRPr>
                    </a:p>
                  </a:txBody>
                  <a:tcPr anchor="ctr">
                    <a:solidFill>
                      <a:schemeClr val="accent1"/>
                    </a:solidFill>
                  </a:tcPr>
                </a:tc>
                <a:extLst>
                  <a:ext uri="{0D108BD9-81ED-4DB2-BD59-A6C34878D82A}">
                    <a16:rowId xmlns:a16="http://schemas.microsoft.com/office/drawing/2014/main" val="3983296626"/>
                  </a:ext>
                </a:extLst>
              </a:tr>
              <a:tr h="373588">
                <a:tc>
                  <a:txBody>
                    <a:bodyPr/>
                    <a:lstStyle/>
                    <a:p>
                      <a:pPr algn="l" fontAlgn="b"/>
                      <a:r>
                        <a:rPr lang="en-US" sz="1600" b="0" u="none" strike="noStrike" dirty="0">
                          <a:effectLst/>
                          <a:latin typeface="Garamond" panose="02020404030301010803" pitchFamily="18" charset="0"/>
                        </a:rPr>
                        <a:t>Business Package Profit</a:t>
                      </a:r>
                      <a:endParaRPr lang="en-US" sz="1600" b="0" i="0" u="none" strike="noStrike" dirty="0">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($5,000)</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$7,000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$10,000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$13,500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$19,000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dirty="0">
                          <a:effectLst/>
                          <a:latin typeface="Garamond" panose="02020404030301010803" pitchFamily="18" charset="0"/>
                        </a:rPr>
                        <a:t>$26,500 </a:t>
                      </a:r>
                      <a:endParaRPr lang="en-US" sz="1600" b="0" i="0" u="none" strike="noStrike" dirty="0">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1808043076"/>
                  </a:ext>
                </a:extLst>
              </a:tr>
              <a:tr h="373588">
                <a:tc>
                  <a:txBody>
                    <a:bodyPr/>
                    <a:lstStyle/>
                    <a:p>
                      <a:pPr algn="l" fontAlgn="b"/>
                      <a:r>
                        <a:rPr lang="en-US" sz="1600" b="0" u="none" strike="noStrike" dirty="0">
                          <a:effectLst/>
                          <a:latin typeface="Garamond" panose="02020404030301010803" pitchFamily="18" charset="0"/>
                        </a:rPr>
                        <a:t>Vacation Package Profit</a:t>
                      </a:r>
                      <a:endParaRPr lang="en-US" sz="1600" b="0" i="0" u="none" strike="noStrike" dirty="0">
                        <a:solidFill>
                          <a:srgbClr val="000000"/>
                        </a:solidFill>
                        <a:effectLst/>
                        <a:latin typeface="Garamond" panose="02020404030301010803" pitchFamily="18" charset="0"/>
                      </a:endParaRPr>
                    </a:p>
                  </a:txBody>
                  <a:tcPr anchor="ctr"/>
                </a:tc>
                <a:tc>
                  <a:txBody>
                    <a:bodyPr/>
                    <a:lstStyle/>
                    <a:p>
                      <a:pPr algn="l" fontAlgn="b"/>
                      <a:r>
                        <a:rPr lang="en-US" sz="1600" b="0" u="none" strike="noStrike">
                          <a:effectLst/>
                          <a:latin typeface="Garamond" panose="02020404030301010803" pitchFamily="18" charset="0"/>
                        </a:rPr>
                        <a:t>—</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$2,000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$4,000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$6,500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$10,450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$16,000 </a:t>
                      </a:r>
                      <a:endParaRPr lang="en-US" sz="1600" b="0" i="0" u="none" strike="noStrike">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1877185807"/>
                  </a:ext>
                </a:extLst>
              </a:tr>
              <a:tr h="373588">
                <a:tc>
                  <a:txBody>
                    <a:bodyPr/>
                    <a:lstStyle/>
                    <a:p>
                      <a:pPr algn="l" fontAlgn="b"/>
                      <a:r>
                        <a:rPr lang="en-US" sz="1600" b="0" u="none" strike="noStrike">
                          <a:effectLst/>
                          <a:latin typeface="Garamond" panose="02020404030301010803" pitchFamily="18" charset="0"/>
                        </a:rPr>
                        <a:t>Reduced Overhead Allocation</a:t>
                      </a:r>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r>
                        <a:rPr lang="en-US" sz="1600" b="0" u="none" strike="noStrike">
                          <a:effectLst/>
                          <a:latin typeface="Garamond" panose="02020404030301010803" pitchFamily="18" charset="0"/>
                        </a:rPr>
                        <a:t>—</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$500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$800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$1,200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$1,800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$2,500 </a:t>
                      </a:r>
                      <a:endParaRPr lang="en-US" sz="1600" b="0" i="0" u="none" strike="noStrike">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4027137878"/>
                  </a:ext>
                </a:extLst>
              </a:tr>
              <a:tr h="373588">
                <a:tc>
                  <a:txBody>
                    <a:bodyPr/>
                    <a:lstStyle/>
                    <a:p>
                      <a:pPr algn="l" fontAlgn="b"/>
                      <a:r>
                        <a:rPr lang="en-US" sz="1600" b="0" u="none" strike="noStrike">
                          <a:effectLst/>
                          <a:latin typeface="Garamond" panose="02020404030301010803" pitchFamily="18" charset="0"/>
                        </a:rPr>
                        <a:t>Profit from Referrals</a:t>
                      </a:r>
                      <a:endParaRPr lang="en-US" sz="1600" b="0" i="0" u="none" strike="noStrike">
                        <a:solidFill>
                          <a:srgbClr val="000000"/>
                        </a:solidFill>
                        <a:effectLst/>
                        <a:latin typeface="Garamond" panose="02020404030301010803" pitchFamily="18" charset="0"/>
                      </a:endParaRPr>
                    </a:p>
                  </a:txBody>
                  <a:tcPr anchor="ctr"/>
                </a:tc>
                <a:tc>
                  <a:txBody>
                    <a:bodyPr/>
                    <a:lstStyle/>
                    <a:p>
                      <a:pPr algn="l" fontAlgn="b"/>
                      <a:r>
                        <a:rPr lang="en-US" sz="1600" b="0" u="none" strike="noStrike">
                          <a:effectLst/>
                          <a:latin typeface="Garamond" panose="02020404030301010803" pitchFamily="18" charset="0"/>
                        </a:rPr>
                        <a:t>—</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$2,000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$4,000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$6,000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$10,000 </a:t>
                      </a:r>
                      <a:endParaRPr lang="en-US" sz="1600" b="0" i="0" u="none" strike="noStrike">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4077177273"/>
                  </a:ext>
                </a:extLst>
              </a:tr>
              <a:tr h="373588">
                <a:tc>
                  <a:txBody>
                    <a:bodyPr/>
                    <a:lstStyle/>
                    <a:p>
                      <a:pPr algn="l" fontAlgn="b"/>
                      <a:r>
                        <a:rPr lang="en-US" sz="1600" b="1" i="0" u="none" strike="noStrike" dirty="0">
                          <a:solidFill>
                            <a:schemeClr val="bg1"/>
                          </a:solidFill>
                          <a:effectLst/>
                          <a:latin typeface="Garamond" panose="02020404030301010803" pitchFamily="18" charset="0"/>
                        </a:rPr>
                        <a:t>CLV</a:t>
                      </a:r>
                    </a:p>
                  </a:txBody>
                  <a:tcPr anchor="ctr"/>
                </a:tc>
                <a:tc>
                  <a:txBody>
                    <a:bodyPr/>
                    <a:lstStyle/>
                    <a:p>
                      <a:pPr algn="r" fontAlgn="b"/>
                      <a:r>
                        <a:rPr lang="en-US" sz="1600" b="0" u="none" strike="noStrike" dirty="0">
                          <a:effectLst/>
                          <a:latin typeface="Garamond" panose="02020404030301010803" pitchFamily="18" charset="0"/>
                        </a:rPr>
                        <a:t>($5,000)</a:t>
                      </a:r>
                      <a:endParaRPr lang="en-US" sz="1600" b="0" i="0" u="none" strike="noStrike" dirty="0">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$10,500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$16,800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a:effectLst/>
                          <a:latin typeface="Garamond" panose="02020404030301010803" pitchFamily="18" charset="0"/>
                        </a:rPr>
                        <a:t>$25,200 </a:t>
                      </a:r>
                      <a:endParaRPr lang="en-US" sz="1600" b="0" i="0" u="none" strike="noStrike">
                        <a:solidFill>
                          <a:srgbClr val="000000"/>
                        </a:solidFill>
                        <a:effectLst/>
                        <a:latin typeface="Garamond" panose="02020404030301010803" pitchFamily="18" charset="0"/>
                      </a:endParaRPr>
                    </a:p>
                  </a:txBody>
                  <a:tcPr anchor="ctr"/>
                </a:tc>
                <a:tc>
                  <a:txBody>
                    <a:bodyPr/>
                    <a:lstStyle/>
                    <a:p>
                      <a:pPr algn="r" fontAlgn="b"/>
                      <a:r>
                        <a:rPr lang="en-US" sz="1600" b="0" u="none" strike="noStrike" dirty="0">
                          <a:effectLst/>
                          <a:latin typeface="Garamond" panose="02020404030301010803" pitchFamily="18" charset="0"/>
                        </a:rPr>
                        <a:t>$37,250 </a:t>
                      </a:r>
                      <a:endParaRPr lang="en-US" sz="1600" b="0" i="0" u="none" strike="noStrike" dirty="0">
                        <a:solidFill>
                          <a:srgbClr val="000000"/>
                        </a:solidFill>
                        <a:effectLst/>
                        <a:latin typeface="Garamond" panose="02020404030301010803" pitchFamily="18" charset="0"/>
                      </a:endParaRPr>
                    </a:p>
                  </a:txBody>
                  <a:tcPr anchor="ctr"/>
                </a:tc>
                <a:tc>
                  <a:txBody>
                    <a:bodyPr/>
                    <a:lstStyle/>
                    <a:p>
                      <a:pPr algn="r" fontAlgn="b"/>
                      <a:r>
                        <a:rPr lang="en-US" sz="1600" b="0" u="none" strike="noStrike" dirty="0">
                          <a:effectLst/>
                          <a:latin typeface="Garamond" panose="02020404030301010803" pitchFamily="18" charset="0"/>
                        </a:rPr>
                        <a:t>$55,000 </a:t>
                      </a:r>
                      <a:endParaRPr lang="en-US" sz="1600" b="0" i="0" u="none" strike="noStrike" dirty="0">
                        <a:solidFill>
                          <a:srgbClr val="000000"/>
                        </a:solidFill>
                        <a:effectLst/>
                        <a:latin typeface="Garamond" panose="02020404030301010803" pitchFamily="18" charset="0"/>
                      </a:endParaRPr>
                    </a:p>
                  </a:txBody>
                  <a:tcPr anchor="ctr"/>
                </a:tc>
                <a:extLst>
                  <a:ext uri="{0D108BD9-81ED-4DB2-BD59-A6C34878D82A}">
                    <a16:rowId xmlns:a16="http://schemas.microsoft.com/office/drawing/2014/main" val="2278297780"/>
                  </a:ext>
                </a:extLst>
              </a:tr>
            </a:tbl>
          </a:graphicData>
        </a:graphic>
      </p:graphicFrame>
    </p:spTree>
    <p:extLst>
      <p:ext uri="{BB962C8B-B14F-4D97-AF65-F5344CB8AC3E}">
        <p14:creationId xmlns:p14="http://schemas.microsoft.com/office/powerpoint/2010/main" val="464369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B9B86-CD72-AECE-E999-445B9F9DDC0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E19B442-9718-531D-5726-AB52F5B18576}"/>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CLV Calculations</a:t>
            </a:r>
          </a:p>
        </p:txBody>
      </p:sp>
      <p:sp>
        <p:nvSpPr>
          <p:cNvPr id="2" name="Content Placeholder 2">
            <a:extLst>
              <a:ext uri="{FF2B5EF4-FFF2-40B4-BE49-F238E27FC236}">
                <a16:creationId xmlns:a16="http://schemas.microsoft.com/office/drawing/2014/main" id="{F1437C01-C99B-AB1F-ABFA-C5E398B3FB1C}"/>
              </a:ext>
            </a:extLst>
          </p:cNvPr>
          <p:cNvSpPr txBox="1">
            <a:spLocks/>
          </p:cNvSpPr>
          <p:nvPr/>
        </p:nvSpPr>
        <p:spPr>
          <a:xfrm>
            <a:off x="814137" y="1746458"/>
            <a:ext cx="1056372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2600" dirty="0">
                <a:latin typeface="Garamond" panose="02020404030301010803" pitchFamily="18" charset="0"/>
              </a:rPr>
              <a:t>A subscription service charges $20 per month per customer. The average customer stays subscribed for 10 months. What is the lifetime value (CLV) of a customer?</a:t>
            </a:r>
          </a:p>
          <a:p>
            <a:pPr marL="0" indent="0">
              <a:buNone/>
            </a:pPr>
            <a:endParaRPr lang="en-US" sz="2600" dirty="0">
              <a:latin typeface="Garamond" panose="02020404030301010803" pitchFamily="18" charset="0"/>
            </a:endParaRPr>
          </a:p>
        </p:txBody>
      </p:sp>
      <p:sp>
        <p:nvSpPr>
          <p:cNvPr id="3" name="TextBox 2">
            <a:extLst>
              <a:ext uri="{FF2B5EF4-FFF2-40B4-BE49-F238E27FC236}">
                <a16:creationId xmlns:a16="http://schemas.microsoft.com/office/drawing/2014/main" id="{F8EF461C-04C9-15A8-92A3-5D2939DDAD50}"/>
              </a:ext>
            </a:extLst>
          </p:cNvPr>
          <p:cNvSpPr txBox="1"/>
          <p:nvPr/>
        </p:nvSpPr>
        <p:spPr>
          <a:xfrm>
            <a:off x="814136" y="3871320"/>
            <a:ext cx="10563727" cy="1384995"/>
          </a:xfrm>
          <a:prstGeom prst="rect">
            <a:avLst/>
          </a:prstGeom>
          <a:solidFill>
            <a:srgbClr val="F2F2F2"/>
          </a:solidFill>
        </p:spPr>
        <p:txBody>
          <a:bodyPr wrap="square">
            <a:spAutoFit/>
          </a:bodyPr>
          <a:lstStyle/>
          <a:p>
            <a:pPr marL="0" indent="0" algn="ctr">
              <a:buNone/>
            </a:pPr>
            <a:endParaRPr lang="en-US" sz="2800" b="1" dirty="0">
              <a:latin typeface="Garamond" panose="02020404030301010803" pitchFamily="18" charset="0"/>
            </a:endParaRPr>
          </a:p>
          <a:p>
            <a:pPr marL="0" indent="0" algn="ctr">
              <a:buNone/>
            </a:pPr>
            <a:r>
              <a:rPr lang="en-US" sz="2800" b="1" dirty="0">
                <a:solidFill>
                  <a:schemeClr val="accent1"/>
                </a:solidFill>
                <a:latin typeface="Garamond" panose="02020404030301010803" pitchFamily="18" charset="0"/>
              </a:rPr>
              <a:t>Revenue</a:t>
            </a:r>
            <a:r>
              <a:rPr lang="en-US" sz="2800" b="1" dirty="0">
                <a:latin typeface="Garamond" panose="02020404030301010803" pitchFamily="18" charset="0"/>
              </a:rPr>
              <a:t> = $20 (average sale) X 10(months) </a:t>
            </a:r>
            <a:r>
              <a:rPr lang="en-US" sz="2800" b="1" dirty="0">
                <a:solidFill>
                  <a:schemeClr val="accent1"/>
                </a:solidFill>
                <a:latin typeface="Garamond" panose="02020404030301010803" pitchFamily="18" charset="0"/>
              </a:rPr>
              <a:t>= $200</a:t>
            </a:r>
          </a:p>
          <a:p>
            <a:pPr marL="0" indent="0" algn="ctr">
              <a:buNone/>
            </a:pPr>
            <a:endParaRPr lang="en-US" sz="2800" b="1" dirty="0">
              <a:latin typeface="Garamond" panose="02020404030301010803" pitchFamily="18" charset="0"/>
            </a:endParaRPr>
          </a:p>
        </p:txBody>
      </p:sp>
    </p:spTree>
    <p:extLst>
      <p:ext uri="{BB962C8B-B14F-4D97-AF65-F5344CB8AC3E}">
        <p14:creationId xmlns:p14="http://schemas.microsoft.com/office/powerpoint/2010/main" val="1512592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93ED6-C9F3-FBA1-A254-5581529319B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AB6F8E4-96C2-8D9A-3A1F-B932B31FBD3B}"/>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CLV Calculations</a:t>
            </a:r>
          </a:p>
        </p:txBody>
      </p:sp>
      <p:sp>
        <p:nvSpPr>
          <p:cNvPr id="2" name="Content Placeholder 2">
            <a:extLst>
              <a:ext uri="{FF2B5EF4-FFF2-40B4-BE49-F238E27FC236}">
                <a16:creationId xmlns:a16="http://schemas.microsoft.com/office/drawing/2014/main" id="{B59A5800-D16C-03A9-C522-0F8A7B1F2211}"/>
              </a:ext>
            </a:extLst>
          </p:cNvPr>
          <p:cNvSpPr txBox="1">
            <a:spLocks/>
          </p:cNvSpPr>
          <p:nvPr/>
        </p:nvSpPr>
        <p:spPr>
          <a:xfrm>
            <a:off x="814137" y="1746458"/>
            <a:ext cx="1056372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2600" dirty="0">
                <a:latin typeface="Garamond" panose="02020404030301010803" pitchFamily="18" charset="0"/>
              </a:rPr>
              <a:t>A retailer has an average order value (AOV) of $50, and customers make 4 purchases per year. The average customer lifespan is 3 years. The profit margin on each order is 30%. Calculate the CLV.</a:t>
            </a:r>
          </a:p>
        </p:txBody>
      </p:sp>
      <p:sp>
        <p:nvSpPr>
          <p:cNvPr id="3" name="TextBox 2">
            <a:extLst>
              <a:ext uri="{FF2B5EF4-FFF2-40B4-BE49-F238E27FC236}">
                <a16:creationId xmlns:a16="http://schemas.microsoft.com/office/drawing/2014/main" id="{796E5B7A-C7F0-AA80-B357-C84E1565D051}"/>
              </a:ext>
            </a:extLst>
          </p:cNvPr>
          <p:cNvSpPr txBox="1"/>
          <p:nvPr/>
        </p:nvSpPr>
        <p:spPr>
          <a:xfrm>
            <a:off x="814136" y="3871320"/>
            <a:ext cx="10563727" cy="1815882"/>
          </a:xfrm>
          <a:prstGeom prst="rect">
            <a:avLst/>
          </a:prstGeom>
          <a:solidFill>
            <a:srgbClr val="F2F2F2"/>
          </a:solidFill>
        </p:spPr>
        <p:txBody>
          <a:bodyPr wrap="square">
            <a:spAutoFit/>
          </a:bodyPr>
          <a:lstStyle/>
          <a:p>
            <a:pPr marL="0" indent="0" algn="ctr">
              <a:buNone/>
            </a:pPr>
            <a:endParaRPr lang="en-US" sz="2800" b="1" dirty="0">
              <a:latin typeface="Garamond" panose="02020404030301010803" pitchFamily="18" charset="0"/>
            </a:endParaRPr>
          </a:p>
          <a:p>
            <a:pPr marL="0" indent="0" algn="ctr">
              <a:buNone/>
            </a:pPr>
            <a:r>
              <a:rPr lang="en-US" sz="2800" b="1" dirty="0">
                <a:solidFill>
                  <a:schemeClr val="accent1"/>
                </a:solidFill>
                <a:latin typeface="Garamond" panose="02020404030301010803" pitchFamily="18" charset="0"/>
              </a:rPr>
              <a:t>Revenue</a:t>
            </a:r>
            <a:r>
              <a:rPr lang="en-US" sz="2800" b="1" dirty="0">
                <a:latin typeface="Garamond" panose="02020404030301010803" pitchFamily="18" charset="0"/>
              </a:rPr>
              <a:t> = $50 (average sale) X 4 (annual purchase) X 3 (years) X 0.3 (profit margin) </a:t>
            </a:r>
            <a:r>
              <a:rPr lang="en-US" sz="2800" b="1" dirty="0">
                <a:solidFill>
                  <a:schemeClr val="accent1"/>
                </a:solidFill>
                <a:latin typeface="Garamond" panose="02020404030301010803" pitchFamily="18" charset="0"/>
              </a:rPr>
              <a:t>= $180</a:t>
            </a:r>
          </a:p>
          <a:p>
            <a:pPr marL="0" indent="0" algn="ctr">
              <a:buNone/>
            </a:pPr>
            <a:endParaRPr lang="en-US" sz="2800" b="1" dirty="0">
              <a:latin typeface="Garamond" panose="02020404030301010803" pitchFamily="18" charset="0"/>
            </a:endParaRPr>
          </a:p>
        </p:txBody>
      </p:sp>
    </p:spTree>
    <p:extLst>
      <p:ext uri="{BB962C8B-B14F-4D97-AF65-F5344CB8AC3E}">
        <p14:creationId xmlns:p14="http://schemas.microsoft.com/office/powerpoint/2010/main" val="2288442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0E121-B2D4-6702-A033-436F3A1FA2D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1F29105-997B-9C96-ADB9-3D1A7AED4E4A}"/>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CLV Calculations</a:t>
            </a:r>
          </a:p>
        </p:txBody>
      </p:sp>
      <p:sp>
        <p:nvSpPr>
          <p:cNvPr id="2" name="Content Placeholder 2">
            <a:extLst>
              <a:ext uri="{FF2B5EF4-FFF2-40B4-BE49-F238E27FC236}">
                <a16:creationId xmlns:a16="http://schemas.microsoft.com/office/drawing/2014/main" id="{28E55826-FE07-8848-E525-34678EA4BBE5}"/>
              </a:ext>
            </a:extLst>
          </p:cNvPr>
          <p:cNvSpPr txBox="1">
            <a:spLocks/>
          </p:cNvSpPr>
          <p:nvPr/>
        </p:nvSpPr>
        <p:spPr>
          <a:xfrm>
            <a:off x="814137" y="1746458"/>
            <a:ext cx="1056372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2600" dirty="0">
                <a:latin typeface="Garamond" panose="02020404030301010803" pitchFamily="18" charset="0"/>
              </a:rPr>
              <a:t>Segment A customers have an AOV of $100, purchase 3 times per year, and stay for 2 years. Segment B customers have an AOV of $80, purchase 4 times per year, and stay for 3 years. Which segment has a higher CLV if the profit margin is 25%?</a:t>
            </a:r>
          </a:p>
        </p:txBody>
      </p:sp>
      <p:sp>
        <p:nvSpPr>
          <p:cNvPr id="3" name="TextBox 2">
            <a:extLst>
              <a:ext uri="{FF2B5EF4-FFF2-40B4-BE49-F238E27FC236}">
                <a16:creationId xmlns:a16="http://schemas.microsoft.com/office/drawing/2014/main" id="{48D7DBD3-1E1D-E6AC-9B7C-4389E80BA23F}"/>
              </a:ext>
            </a:extLst>
          </p:cNvPr>
          <p:cNvSpPr txBox="1"/>
          <p:nvPr/>
        </p:nvSpPr>
        <p:spPr>
          <a:xfrm>
            <a:off x="814137" y="3429000"/>
            <a:ext cx="10563727" cy="2468880"/>
          </a:xfrm>
          <a:prstGeom prst="rect">
            <a:avLst/>
          </a:prstGeom>
          <a:solidFill>
            <a:srgbClr val="F2F2F2"/>
          </a:solidFill>
        </p:spPr>
        <p:txBody>
          <a:bodyPr wrap="square">
            <a:spAutoFit/>
          </a:bodyPr>
          <a:lstStyle/>
          <a:p>
            <a:pPr marL="0" indent="0" algn="ctr">
              <a:buNone/>
            </a:pPr>
            <a:endParaRPr lang="en-US" sz="2800" b="1" dirty="0">
              <a:latin typeface="Garamond" panose="02020404030301010803" pitchFamily="18" charset="0"/>
            </a:endParaRPr>
          </a:p>
          <a:p>
            <a:pPr marL="0" indent="0" algn="ctr">
              <a:buNone/>
            </a:pPr>
            <a:r>
              <a:rPr lang="en-US" sz="2800" b="1" dirty="0">
                <a:solidFill>
                  <a:schemeClr val="accent1"/>
                </a:solidFill>
                <a:latin typeface="Garamond" panose="02020404030301010803" pitchFamily="18" charset="0"/>
              </a:rPr>
              <a:t>Segment A Revenue</a:t>
            </a:r>
            <a:r>
              <a:rPr lang="en-US" sz="2800" b="1" dirty="0">
                <a:latin typeface="Garamond" panose="02020404030301010803" pitchFamily="18" charset="0"/>
              </a:rPr>
              <a:t> = $100 (average sale) X 3 (annual purchase) X 2 (years) </a:t>
            </a:r>
            <a:r>
              <a:rPr lang="en-US" sz="2800" b="1" dirty="0">
                <a:solidFill>
                  <a:schemeClr val="accent1"/>
                </a:solidFill>
                <a:latin typeface="Garamond" panose="02020404030301010803" pitchFamily="18" charset="0"/>
              </a:rPr>
              <a:t>= $600</a:t>
            </a:r>
          </a:p>
          <a:p>
            <a:pPr marL="0" indent="0" algn="ctr">
              <a:buNone/>
            </a:pPr>
            <a:r>
              <a:rPr lang="en-US" sz="2800" b="1" dirty="0">
                <a:solidFill>
                  <a:schemeClr val="accent1"/>
                </a:solidFill>
                <a:latin typeface="Garamond" panose="02020404030301010803" pitchFamily="18" charset="0"/>
              </a:rPr>
              <a:t>Segment B Revenue</a:t>
            </a:r>
            <a:r>
              <a:rPr lang="en-US" sz="2800" b="1" dirty="0">
                <a:latin typeface="Garamond" panose="02020404030301010803" pitchFamily="18" charset="0"/>
              </a:rPr>
              <a:t> = $80 (average sale) X 4 (annual purchase) X 3 (years) </a:t>
            </a:r>
            <a:r>
              <a:rPr lang="en-US" sz="2800" b="1" dirty="0">
                <a:solidFill>
                  <a:schemeClr val="accent1"/>
                </a:solidFill>
                <a:latin typeface="Garamond" panose="02020404030301010803" pitchFamily="18" charset="0"/>
              </a:rPr>
              <a:t>= $960</a:t>
            </a:r>
          </a:p>
          <a:p>
            <a:pPr marL="0" indent="0" algn="ctr">
              <a:buNone/>
            </a:pPr>
            <a:endParaRPr lang="en-US" sz="2800" b="1" dirty="0">
              <a:solidFill>
                <a:schemeClr val="accent1"/>
              </a:solidFill>
              <a:latin typeface="Garamond" panose="02020404030301010803" pitchFamily="18" charset="0"/>
            </a:endParaRPr>
          </a:p>
        </p:txBody>
      </p:sp>
    </p:spTree>
    <p:extLst>
      <p:ext uri="{BB962C8B-B14F-4D97-AF65-F5344CB8AC3E}">
        <p14:creationId xmlns:p14="http://schemas.microsoft.com/office/powerpoint/2010/main" val="29949561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Profitability Tiers – The Customer Pyramid</a:t>
            </a:r>
          </a:p>
        </p:txBody>
      </p:sp>
      <p:pic>
        <p:nvPicPr>
          <p:cNvPr id="5" name="Picture 4">
            <a:extLst>
              <a:ext uri="{FF2B5EF4-FFF2-40B4-BE49-F238E27FC236}">
                <a16:creationId xmlns:a16="http://schemas.microsoft.com/office/drawing/2014/main" id="{7E18B6A4-32A1-C995-687A-32EC9D17E490}"/>
              </a:ext>
            </a:extLst>
          </p:cNvPr>
          <p:cNvPicPr>
            <a:picLocks noChangeAspect="1"/>
          </p:cNvPicPr>
          <p:nvPr/>
        </p:nvPicPr>
        <p:blipFill>
          <a:blip r:embed="rId3"/>
          <a:stretch>
            <a:fillRect/>
          </a:stretch>
        </p:blipFill>
        <p:spPr>
          <a:xfrm>
            <a:off x="1091523" y="1756608"/>
            <a:ext cx="10008954" cy="4123932"/>
          </a:xfrm>
          <a:prstGeom prst="rect">
            <a:avLst/>
          </a:prstGeom>
        </p:spPr>
      </p:pic>
    </p:spTree>
    <p:extLst>
      <p:ext uri="{BB962C8B-B14F-4D97-AF65-F5344CB8AC3E}">
        <p14:creationId xmlns:p14="http://schemas.microsoft.com/office/powerpoint/2010/main" val="3332397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Profitability Tiers – The Customer Pyramid</a:t>
            </a:r>
          </a:p>
        </p:txBody>
      </p:sp>
      <p:pic>
        <p:nvPicPr>
          <p:cNvPr id="13316" name="Picture 4" descr="Starbucks - Wikipedia">
            <a:extLst>
              <a:ext uri="{FF2B5EF4-FFF2-40B4-BE49-F238E27FC236}">
                <a16:creationId xmlns:a16="http://schemas.microsoft.com/office/drawing/2014/main" id="{2D67B4D2-78EC-2B40-4AAC-AF6686DD6D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42621" y="348286"/>
            <a:ext cx="1416469" cy="141646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1ED69E7-A3B2-7257-A5EB-CF8361DEFF6A}"/>
              </a:ext>
            </a:extLst>
          </p:cNvPr>
          <p:cNvPicPr>
            <a:picLocks noChangeAspect="1"/>
          </p:cNvPicPr>
          <p:nvPr/>
        </p:nvPicPr>
        <p:blipFill rotWithShape="1">
          <a:blip r:embed="rId4"/>
          <a:srcRect l="21875" r="23026"/>
          <a:stretch/>
        </p:blipFill>
        <p:spPr>
          <a:xfrm>
            <a:off x="9076625" y="3429000"/>
            <a:ext cx="2425564" cy="2476247"/>
          </a:xfrm>
          <a:prstGeom prst="rect">
            <a:avLst/>
          </a:prstGeom>
        </p:spPr>
      </p:pic>
      <p:pic>
        <p:nvPicPr>
          <p:cNvPr id="13322" name="Picture 10" descr="Starbucks Coffee Company">
            <a:extLst>
              <a:ext uri="{FF2B5EF4-FFF2-40B4-BE49-F238E27FC236}">
                <a16:creationId xmlns:a16="http://schemas.microsoft.com/office/drawing/2014/main" id="{CFF98ED5-64DC-C6B9-2D0A-021D3B66A5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1414" y="1911893"/>
            <a:ext cx="2852843" cy="2476248"/>
          </a:xfrm>
          <a:prstGeom prst="rect">
            <a:avLst/>
          </a:prstGeom>
          <a:noFill/>
          <a:extLst>
            <a:ext uri="{909E8E84-426E-40DD-AFC4-6F175D3DCCD1}">
              <a14:hiddenFill xmlns:a14="http://schemas.microsoft.com/office/drawing/2010/main">
                <a:solidFill>
                  <a:srgbClr val="FFFFFF"/>
                </a:solidFill>
              </a14:hiddenFill>
            </a:ext>
          </a:extLst>
        </p:spPr>
      </p:pic>
      <p:pic>
        <p:nvPicPr>
          <p:cNvPr id="13324" name="Picture 12">
            <a:extLst>
              <a:ext uri="{FF2B5EF4-FFF2-40B4-BE49-F238E27FC236}">
                <a16:creationId xmlns:a16="http://schemas.microsoft.com/office/drawing/2014/main" id="{A226922C-E2B5-8826-C5F3-6F32EBADAAA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3685" b="13893"/>
          <a:stretch/>
        </p:blipFill>
        <p:spPr bwMode="auto">
          <a:xfrm>
            <a:off x="2781309" y="2909384"/>
            <a:ext cx="2757737" cy="2995863"/>
          </a:xfrm>
          <a:prstGeom prst="rect">
            <a:avLst/>
          </a:prstGeom>
          <a:noFill/>
          <a:extLst>
            <a:ext uri="{909E8E84-426E-40DD-AFC4-6F175D3DCCD1}">
              <a14:hiddenFill xmlns:a14="http://schemas.microsoft.com/office/drawing/2010/main">
                <a:solidFill>
                  <a:srgbClr val="FFFFFF"/>
                </a:solidFill>
              </a14:hiddenFill>
            </a:ext>
          </a:extLst>
        </p:spPr>
      </p:pic>
      <p:pic>
        <p:nvPicPr>
          <p:cNvPr id="13326" name="Picture 14" descr="Should We Boycott Starbucks? | The Cripplegate">
            <a:extLst>
              <a:ext uri="{FF2B5EF4-FFF2-40B4-BE49-F238E27FC236}">
                <a16:creationId xmlns:a16="http://schemas.microsoft.com/office/drawing/2014/main" id="{D2D71E12-CB1D-489B-CB8A-F8E9C06358B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4341" r="13244"/>
          <a:stretch/>
        </p:blipFill>
        <p:spPr bwMode="auto">
          <a:xfrm>
            <a:off x="321383" y="1483140"/>
            <a:ext cx="2117558" cy="292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218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Relationship Development Model</a:t>
            </a:r>
          </a:p>
        </p:txBody>
      </p:sp>
      <p:pic>
        <p:nvPicPr>
          <p:cNvPr id="3" name="Picture 2">
            <a:extLst>
              <a:ext uri="{FF2B5EF4-FFF2-40B4-BE49-F238E27FC236}">
                <a16:creationId xmlns:a16="http://schemas.microsoft.com/office/drawing/2014/main" id="{10392ACD-26B2-C340-5062-9FEC5FC25040}"/>
              </a:ext>
            </a:extLst>
          </p:cNvPr>
          <p:cNvPicPr>
            <a:picLocks noChangeAspect="1"/>
          </p:cNvPicPr>
          <p:nvPr/>
        </p:nvPicPr>
        <p:blipFill>
          <a:blip r:embed="rId3"/>
          <a:stretch>
            <a:fillRect/>
          </a:stretch>
        </p:blipFill>
        <p:spPr>
          <a:xfrm>
            <a:off x="1471864" y="1500775"/>
            <a:ext cx="9248273" cy="5021731"/>
          </a:xfrm>
          <a:prstGeom prst="rect">
            <a:avLst/>
          </a:prstGeom>
        </p:spPr>
      </p:pic>
    </p:spTree>
    <p:extLst>
      <p:ext uri="{BB962C8B-B14F-4D97-AF65-F5344CB8AC3E}">
        <p14:creationId xmlns:p14="http://schemas.microsoft.com/office/powerpoint/2010/main" val="9389053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Relationship Drivers</a:t>
            </a:r>
          </a:p>
        </p:txBody>
      </p:sp>
      <p:sp>
        <p:nvSpPr>
          <p:cNvPr id="3" name="Content Placeholder 2">
            <a:extLst>
              <a:ext uri="{FF2B5EF4-FFF2-40B4-BE49-F238E27FC236}">
                <a16:creationId xmlns:a16="http://schemas.microsoft.com/office/drawing/2014/main" id="{1CC1E2FD-262D-B400-6D30-3F7D284EF247}"/>
              </a:ext>
            </a:extLst>
          </p:cNvPr>
          <p:cNvSpPr txBox="1">
            <a:spLocks/>
          </p:cNvSpPr>
          <p:nvPr/>
        </p:nvSpPr>
        <p:spPr>
          <a:xfrm>
            <a:off x="814137" y="1746458"/>
            <a:ext cx="1056372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2800" b="1" u="sng" dirty="0">
                <a:latin typeface="Garamond" panose="02020404030301010803" pitchFamily="18" charset="0"/>
              </a:rPr>
              <a:t>Overall Evaluation of the Core Service</a:t>
            </a:r>
            <a:r>
              <a:rPr lang="en-US" sz="2800" dirty="0">
                <a:latin typeface="Garamond" panose="02020404030301010803" pitchFamily="18" charset="0"/>
              </a:rPr>
              <a:t> – most important factor</a:t>
            </a:r>
          </a:p>
          <a:p>
            <a:pPr>
              <a:buFont typeface="Arial" panose="020B0604020202020204" pitchFamily="34" charset="0"/>
              <a:buChar char="•"/>
            </a:pPr>
            <a:r>
              <a:rPr lang="en-US" sz="2800" b="1" u="sng" dirty="0">
                <a:latin typeface="Garamond" panose="02020404030301010803" pitchFamily="18" charset="0"/>
              </a:rPr>
              <a:t>Switching Barriers</a:t>
            </a:r>
            <a:r>
              <a:rPr lang="en-US" sz="2800" dirty="0">
                <a:latin typeface="Garamond" panose="02020404030301010803" pitchFamily="18" charset="0"/>
              </a:rPr>
              <a:t> – factors making it difficult for customers to switch to new service providers</a:t>
            </a:r>
          </a:p>
          <a:p>
            <a:pPr>
              <a:buFont typeface="Arial" panose="020B0604020202020204" pitchFamily="34" charset="0"/>
              <a:buChar char="•"/>
            </a:pPr>
            <a:r>
              <a:rPr lang="en-US" sz="2800" b="1" u="sng" dirty="0">
                <a:latin typeface="Garamond" panose="02020404030301010803" pitchFamily="18" charset="0"/>
              </a:rPr>
              <a:t>Relationship Bonds</a:t>
            </a:r>
            <a:r>
              <a:rPr lang="en-US" sz="2800" dirty="0">
                <a:latin typeface="Garamond" panose="02020404030301010803" pitchFamily="18" charset="0"/>
              </a:rPr>
              <a:t> – activities so that customers want to be loyal to the firm</a:t>
            </a:r>
          </a:p>
          <a:p>
            <a:pPr lvl="1">
              <a:buFont typeface="Arial" panose="020B0604020202020204" pitchFamily="34" charset="0"/>
              <a:buChar char="•"/>
            </a:pPr>
            <a:r>
              <a:rPr lang="en-US" sz="2400" dirty="0">
                <a:latin typeface="Garamond" panose="02020404030301010803" pitchFamily="18" charset="0"/>
              </a:rPr>
              <a:t>Types of bonds: Financial, Social, Customization, Structural</a:t>
            </a:r>
          </a:p>
          <a:p>
            <a:pPr>
              <a:buFont typeface="Arial" panose="020B0604020202020204" pitchFamily="34" charset="0"/>
              <a:buChar char="•"/>
            </a:pPr>
            <a:endParaRPr lang="en-US" sz="2800" dirty="0">
              <a:latin typeface="Garamond" panose="02020404030301010803" pitchFamily="18" charset="0"/>
            </a:endParaRPr>
          </a:p>
        </p:txBody>
      </p:sp>
    </p:spTree>
    <p:extLst>
      <p:ext uri="{BB962C8B-B14F-4D97-AF65-F5344CB8AC3E}">
        <p14:creationId xmlns:p14="http://schemas.microsoft.com/office/powerpoint/2010/main" val="17998669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Benefits of Customer Retention</a:t>
            </a:r>
          </a:p>
        </p:txBody>
      </p:sp>
      <p:sp>
        <p:nvSpPr>
          <p:cNvPr id="3" name="Content Placeholder 2">
            <a:extLst>
              <a:ext uri="{FF2B5EF4-FFF2-40B4-BE49-F238E27FC236}">
                <a16:creationId xmlns:a16="http://schemas.microsoft.com/office/drawing/2014/main" id="{1CC1E2FD-262D-B400-6D30-3F7D284EF247}"/>
              </a:ext>
            </a:extLst>
          </p:cNvPr>
          <p:cNvSpPr txBox="1">
            <a:spLocks/>
          </p:cNvSpPr>
          <p:nvPr/>
        </p:nvSpPr>
        <p:spPr>
          <a:xfrm>
            <a:off x="814137" y="1746458"/>
            <a:ext cx="5189621"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None/>
            </a:pPr>
            <a:r>
              <a:rPr lang="en-US" sz="2800" b="1" u="sng" dirty="0">
                <a:latin typeface="Garamond" panose="02020404030301010803" pitchFamily="18" charset="0"/>
              </a:rPr>
              <a:t>Benefits for Customers</a:t>
            </a:r>
          </a:p>
          <a:p>
            <a:pPr marL="0" indent="0">
              <a:lnSpc>
                <a:spcPct val="100000"/>
              </a:lnSpc>
              <a:buNone/>
            </a:pPr>
            <a:endParaRPr lang="en-US" sz="1000" dirty="0">
              <a:latin typeface="Garamond" panose="02020404030301010803" pitchFamily="18" charset="0"/>
            </a:endParaRPr>
          </a:p>
          <a:p>
            <a:pPr>
              <a:buFont typeface="Arial" panose="020B0604020202020204" pitchFamily="34" charset="0"/>
              <a:buChar char="•"/>
            </a:pPr>
            <a:r>
              <a:rPr lang="en-US" sz="2800" dirty="0">
                <a:latin typeface="Garamond" panose="02020404030301010803" pitchFamily="18" charset="0"/>
              </a:rPr>
              <a:t>Confidence Benefits</a:t>
            </a:r>
          </a:p>
          <a:p>
            <a:pPr>
              <a:buFont typeface="Arial" panose="020B0604020202020204" pitchFamily="34" charset="0"/>
              <a:buChar char="•"/>
            </a:pPr>
            <a:r>
              <a:rPr lang="en-US" sz="2800" dirty="0">
                <a:latin typeface="Garamond" panose="02020404030301010803" pitchFamily="18" charset="0"/>
              </a:rPr>
              <a:t>Social Benefits</a:t>
            </a:r>
          </a:p>
          <a:p>
            <a:pPr>
              <a:buFont typeface="Arial" panose="020B0604020202020204" pitchFamily="34" charset="0"/>
              <a:buChar char="•"/>
            </a:pPr>
            <a:r>
              <a:rPr lang="en-US" sz="2800" dirty="0">
                <a:latin typeface="Garamond" panose="02020404030301010803" pitchFamily="18" charset="0"/>
              </a:rPr>
              <a:t>Special Treatment Benefits</a:t>
            </a:r>
          </a:p>
        </p:txBody>
      </p:sp>
      <p:sp>
        <p:nvSpPr>
          <p:cNvPr id="5" name="Content Placeholder 2">
            <a:extLst>
              <a:ext uri="{FF2B5EF4-FFF2-40B4-BE49-F238E27FC236}">
                <a16:creationId xmlns:a16="http://schemas.microsoft.com/office/drawing/2014/main" id="{28889635-ED19-ABA6-9EA7-D473BC11D4A7}"/>
              </a:ext>
            </a:extLst>
          </p:cNvPr>
          <p:cNvSpPr txBox="1">
            <a:spLocks/>
          </p:cNvSpPr>
          <p:nvPr/>
        </p:nvSpPr>
        <p:spPr>
          <a:xfrm>
            <a:off x="6188244" y="1746458"/>
            <a:ext cx="5189621"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None/>
            </a:pPr>
            <a:r>
              <a:rPr lang="en-US" sz="2800" b="1" u="sng" dirty="0">
                <a:latin typeface="Garamond" panose="02020404030301010803" pitchFamily="18" charset="0"/>
              </a:rPr>
              <a:t>Benefits for Firms</a:t>
            </a:r>
          </a:p>
          <a:p>
            <a:pPr marL="0" indent="0" algn="ctr">
              <a:buNone/>
            </a:pPr>
            <a:endParaRPr lang="en-US" sz="1000" b="1" u="sng" dirty="0">
              <a:latin typeface="Garamond" panose="02020404030301010803" pitchFamily="18" charset="0"/>
            </a:endParaRPr>
          </a:p>
          <a:p>
            <a:pPr>
              <a:buFont typeface="Arial" panose="020B0604020202020204" pitchFamily="34" charset="0"/>
              <a:buChar char="•"/>
            </a:pPr>
            <a:r>
              <a:rPr lang="en-US" sz="2800" dirty="0">
                <a:latin typeface="Garamond" panose="02020404030301010803" pitchFamily="18" charset="0"/>
              </a:rPr>
              <a:t>Economic Benefits</a:t>
            </a:r>
          </a:p>
          <a:p>
            <a:pPr>
              <a:buFont typeface="Arial" panose="020B0604020202020204" pitchFamily="34" charset="0"/>
              <a:buChar char="•"/>
            </a:pPr>
            <a:r>
              <a:rPr lang="en-US" sz="2800" dirty="0">
                <a:latin typeface="Garamond" panose="02020404030301010803" pitchFamily="18" charset="0"/>
              </a:rPr>
              <a:t>Customer Behavior Benefits</a:t>
            </a:r>
          </a:p>
          <a:p>
            <a:pPr>
              <a:buFont typeface="Arial" panose="020B0604020202020204" pitchFamily="34" charset="0"/>
              <a:buChar char="•"/>
            </a:pPr>
            <a:r>
              <a:rPr lang="en-US" sz="2800" dirty="0">
                <a:latin typeface="Garamond" panose="02020404030301010803" pitchFamily="18" charset="0"/>
              </a:rPr>
              <a:t>Human Resource Management Benefits</a:t>
            </a:r>
          </a:p>
        </p:txBody>
      </p:sp>
    </p:spTree>
    <p:extLst>
      <p:ext uri="{BB962C8B-B14F-4D97-AF65-F5344CB8AC3E}">
        <p14:creationId xmlns:p14="http://schemas.microsoft.com/office/powerpoint/2010/main" val="31329312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The Customer is NOT Always Right</a:t>
            </a:r>
          </a:p>
        </p:txBody>
      </p:sp>
      <p:sp>
        <p:nvSpPr>
          <p:cNvPr id="3" name="Content Placeholder 2">
            <a:extLst>
              <a:ext uri="{FF2B5EF4-FFF2-40B4-BE49-F238E27FC236}">
                <a16:creationId xmlns:a16="http://schemas.microsoft.com/office/drawing/2014/main" id="{1CC1E2FD-262D-B400-6D30-3F7D284EF247}"/>
              </a:ext>
            </a:extLst>
          </p:cNvPr>
          <p:cNvSpPr txBox="1">
            <a:spLocks/>
          </p:cNvSpPr>
          <p:nvPr/>
        </p:nvSpPr>
        <p:spPr>
          <a:xfrm>
            <a:off x="814137" y="1746458"/>
            <a:ext cx="1056372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3200" dirty="0">
                <a:latin typeface="Garamond" panose="02020404030301010803" pitchFamily="18" charset="0"/>
              </a:rPr>
              <a:t>The wrong segment (e.g., offering a daytime MBA program to people who work full-time).</a:t>
            </a:r>
          </a:p>
          <a:p>
            <a:pPr>
              <a:buFont typeface="Arial" panose="020B0604020202020204" pitchFamily="34" charset="0"/>
              <a:buChar char="•"/>
            </a:pPr>
            <a:r>
              <a:rPr lang="en-US" sz="3200" dirty="0">
                <a:latin typeface="Garamond" panose="02020404030301010803" pitchFamily="18" charset="0"/>
              </a:rPr>
              <a:t>Not profitable in the long term (e.g., a customer who has bad credit so is less likely to make payments on time even if they qualify for the service).</a:t>
            </a:r>
          </a:p>
          <a:p>
            <a:pPr>
              <a:buFont typeface="Arial" panose="020B0604020202020204" pitchFamily="34" charset="0"/>
              <a:buChar char="•"/>
            </a:pPr>
            <a:r>
              <a:rPr lang="en-US" sz="3200" dirty="0">
                <a:latin typeface="Garamond" panose="02020404030301010803" pitchFamily="18" charset="0"/>
              </a:rPr>
              <a:t>Difficult customers (e.g., dysfunctional customers who intentionally disrupts otherwise functional service encounters). </a:t>
            </a:r>
          </a:p>
          <a:p>
            <a:pPr>
              <a:buFont typeface="Arial" panose="020B0604020202020204" pitchFamily="34" charset="0"/>
              <a:buChar char="•"/>
            </a:pPr>
            <a:endParaRPr lang="en-US" sz="3200" dirty="0">
              <a:latin typeface="Garamond" panose="02020404030301010803" pitchFamily="18" charset="0"/>
            </a:endParaRPr>
          </a:p>
          <a:p>
            <a:pPr>
              <a:buFont typeface="Arial" panose="020B0604020202020204" pitchFamily="34" charset="0"/>
              <a:buChar char="•"/>
            </a:pPr>
            <a:endParaRPr lang="en-US" sz="3200" dirty="0">
              <a:latin typeface="Garamond" panose="02020404030301010803" pitchFamily="18" charset="0"/>
            </a:endParaRPr>
          </a:p>
        </p:txBody>
      </p:sp>
    </p:spTree>
    <p:extLst>
      <p:ext uri="{BB962C8B-B14F-4D97-AF65-F5344CB8AC3E}">
        <p14:creationId xmlns:p14="http://schemas.microsoft.com/office/powerpoint/2010/main" val="28484317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38F84E-77EA-3304-0041-7E5B6117DBF8}"/>
              </a:ext>
            </a:extLst>
          </p:cNvPr>
          <p:cNvSpPr>
            <a:spLocks noGrp="1"/>
          </p:cNvSpPr>
          <p:nvPr>
            <p:ph type="title"/>
          </p:nvPr>
        </p:nvSpPr>
        <p:spPr/>
        <p:txBody>
          <a:bodyPr/>
          <a:lstStyle/>
          <a:p>
            <a:r>
              <a:rPr lang="en-US" altLang="en-US" sz="6000" b="1" dirty="0">
                <a:latin typeface="Garamond" panose="02020404030301010803" pitchFamily="18" charset="0"/>
              </a:rPr>
              <a:t>Should Firms Fire Their Customers?</a:t>
            </a:r>
            <a:endParaRPr lang="en-US" dirty="0"/>
          </a:p>
        </p:txBody>
      </p:sp>
      <p:sp>
        <p:nvSpPr>
          <p:cNvPr id="5" name="Text Placeholder 4">
            <a:extLst>
              <a:ext uri="{FF2B5EF4-FFF2-40B4-BE49-F238E27FC236}">
                <a16:creationId xmlns:a16="http://schemas.microsoft.com/office/drawing/2014/main" id="{0EC14185-E6C9-1AB1-FF09-85FD1817863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44094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Discussion</a:t>
            </a:r>
          </a:p>
        </p:txBody>
      </p:sp>
      <p:pic>
        <p:nvPicPr>
          <p:cNvPr id="5" name="Picture 4">
            <a:extLst>
              <a:ext uri="{FF2B5EF4-FFF2-40B4-BE49-F238E27FC236}">
                <a16:creationId xmlns:a16="http://schemas.microsoft.com/office/drawing/2014/main" id="{F9B6405C-438F-2D3D-C825-874BA2DE29A9}"/>
              </a:ext>
            </a:extLst>
          </p:cNvPr>
          <p:cNvPicPr>
            <a:picLocks noChangeAspect="1"/>
          </p:cNvPicPr>
          <p:nvPr/>
        </p:nvPicPr>
        <p:blipFill>
          <a:blip r:embed="rId3"/>
          <a:stretch>
            <a:fillRect/>
          </a:stretch>
        </p:blipFill>
        <p:spPr>
          <a:xfrm>
            <a:off x="682128" y="3501099"/>
            <a:ext cx="5413872" cy="1930783"/>
          </a:xfrm>
          <a:prstGeom prst="rect">
            <a:avLst/>
          </a:prstGeom>
        </p:spPr>
      </p:pic>
      <p:pic>
        <p:nvPicPr>
          <p:cNvPr id="8" name="Picture 7">
            <a:extLst>
              <a:ext uri="{FF2B5EF4-FFF2-40B4-BE49-F238E27FC236}">
                <a16:creationId xmlns:a16="http://schemas.microsoft.com/office/drawing/2014/main" id="{98AFB460-636D-CC7A-D6D0-92D413F1217B}"/>
              </a:ext>
            </a:extLst>
          </p:cNvPr>
          <p:cNvPicPr>
            <a:picLocks noChangeAspect="1"/>
          </p:cNvPicPr>
          <p:nvPr/>
        </p:nvPicPr>
        <p:blipFill>
          <a:blip r:embed="rId4"/>
          <a:stretch>
            <a:fillRect/>
          </a:stretch>
        </p:blipFill>
        <p:spPr>
          <a:xfrm>
            <a:off x="6834000" y="2954215"/>
            <a:ext cx="4543863" cy="3024553"/>
          </a:xfrm>
          <a:prstGeom prst="rect">
            <a:avLst/>
          </a:prstGeom>
        </p:spPr>
      </p:pic>
      <p:pic>
        <p:nvPicPr>
          <p:cNvPr id="9" name="Picture 8">
            <a:extLst>
              <a:ext uri="{FF2B5EF4-FFF2-40B4-BE49-F238E27FC236}">
                <a16:creationId xmlns:a16="http://schemas.microsoft.com/office/drawing/2014/main" id="{256397C9-DF19-E71E-AC99-3B7EF8573D8B}"/>
              </a:ext>
            </a:extLst>
          </p:cNvPr>
          <p:cNvPicPr>
            <a:picLocks noChangeAspect="1"/>
          </p:cNvPicPr>
          <p:nvPr/>
        </p:nvPicPr>
        <p:blipFill>
          <a:blip r:embed="rId5"/>
          <a:stretch>
            <a:fillRect/>
          </a:stretch>
        </p:blipFill>
        <p:spPr>
          <a:xfrm>
            <a:off x="3737472" y="1741878"/>
            <a:ext cx="7772400" cy="1099965"/>
          </a:xfrm>
          <a:prstGeom prst="rect">
            <a:avLst/>
          </a:prstGeom>
        </p:spPr>
      </p:pic>
    </p:spTree>
    <p:extLst>
      <p:ext uri="{BB962C8B-B14F-4D97-AF65-F5344CB8AC3E}">
        <p14:creationId xmlns:p14="http://schemas.microsoft.com/office/powerpoint/2010/main" val="12467541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diamondgrid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amondgrid theme" id="{ED93937A-9EDD-431C-AF40-A6218FC4DE09}" vid="{8CDF1396-6A4F-4529-B9C5-69BA7F395D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diamondgrid theme</Template>
  <TotalTime>4477</TotalTime>
  <Words>1463</Words>
  <Application>Microsoft Macintosh PowerPoint</Application>
  <PresentationFormat>Widescreen</PresentationFormat>
  <Paragraphs>199</Paragraphs>
  <Slides>22</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Garamond</vt:lpstr>
      <vt:lpstr>Gill Sans MT</vt:lpstr>
      <vt:lpstr>diamondgrid theme</vt:lpstr>
      <vt:lpstr>PowerPoint Presentation</vt:lpstr>
      <vt:lpstr>Chapter Objectives</vt:lpstr>
      <vt:lpstr>Relationship Marketing</vt:lpstr>
      <vt:lpstr>Bucket Theory of Marketing</vt:lpstr>
      <vt:lpstr>The Evolution of Customer Relationships</vt:lpstr>
      <vt:lpstr>The Evolution of Customer Relationships</vt:lpstr>
      <vt:lpstr>The Evolution of Customer Relationships</vt:lpstr>
      <vt:lpstr>The Goal of Relationship Marketing</vt:lpstr>
      <vt:lpstr>Customer Lifetime Value/ Profitability</vt:lpstr>
      <vt:lpstr>Example: Travel Agency</vt:lpstr>
      <vt:lpstr>Example: Travel Agency</vt:lpstr>
      <vt:lpstr>CLV Calculations</vt:lpstr>
      <vt:lpstr>CLV Calculations</vt:lpstr>
      <vt:lpstr>CLV Calculations</vt:lpstr>
      <vt:lpstr>Profitability Tiers – The Customer Pyramid</vt:lpstr>
      <vt:lpstr>Profitability Tiers – The Customer Pyramid</vt:lpstr>
      <vt:lpstr>Relationship Development Model</vt:lpstr>
      <vt:lpstr>Relationship Drivers</vt:lpstr>
      <vt:lpstr>Benefits of Customer Retention</vt:lpstr>
      <vt:lpstr>The Customer is NOT Always Right</vt:lpstr>
      <vt:lpstr>Should Firms Fire Their Customers?</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Lan Anh Nu Ton</dc:creator>
  <cp:lastModifiedBy>Sakshi Sanjay Babar</cp:lastModifiedBy>
  <cp:revision>233</cp:revision>
  <dcterms:created xsi:type="dcterms:W3CDTF">2021-01-26T21:27:35Z</dcterms:created>
  <dcterms:modified xsi:type="dcterms:W3CDTF">2025-01-29T16:29:27Z</dcterms:modified>
</cp:coreProperties>
</file>