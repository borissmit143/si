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344" r:id="rId2"/>
    <p:sldId id="347" r:id="rId3"/>
    <p:sldId id="267" r:id="rId4"/>
    <p:sldId id="408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18" r:id="rId18"/>
    <p:sldId id="4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395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6"/>
    <p:restoredTop sz="78301" autoAdjust="0"/>
  </p:normalViewPr>
  <p:slideViewPr>
    <p:cSldViewPr snapToGrid="0" snapToObjects="1">
      <p:cViewPr varScale="1">
        <p:scale>
          <a:sx n="86" d="100"/>
          <a:sy n="86" d="100"/>
        </p:scale>
        <p:origin x="13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8478D-2017-6B42-82DF-31F349C5E37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6EEE4-7788-8D4C-B106-DDC1CC623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7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955AC-BBE9-A144-BEA0-0A44958C1A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5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stop</a:t>
            </a:r>
            <a:r>
              <a:rPr lang="en-US" baseline="0" dirty="0"/>
              <a:t> signs represent checkpoints that separate the critical stages of the development process. The checkpoints specify requirements that a new service must meet before it can proceed to the next stage of development.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Implementation is different for services.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New service or product development is not always a linear process.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45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63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24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46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25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70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96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85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713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38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97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52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65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2: Different blueprints need to be made for different customer segments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3: Chart the choice and actions that the customer performs or experiences in purchasing, consuming, evaluating the service.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4: Draw lines of interaction and visibility, map process from frontline employee point of view – visible and invisible 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5: Link internal processes – certain steps may turn out to be unnecessary and can be eliminated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6EEE4-7788-8D4C-B106-DDC1CC623CC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20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33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262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4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8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2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4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4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6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7AD40-AE84-3240-90CD-64AD6EF5A10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77404C2A-5491-9B47-9644-70165B624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0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4EE006-398F-E147-9CF2-66454FD34446}"/>
              </a:ext>
            </a:extLst>
          </p:cNvPr>
          <p:cNvSpPr txBox="1"/>
          <p:nvPr/>
        </p:nvSpPr>
        <p:spPr>
          <a:xfrm>
            <a:off x="0" y="2129587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B5395"/>
                </a:solidFill>
                <a:latin typeface="Garamond" panose="02020404030301010803" pitchFamily="18" charset="0"/>
              </a:rPr>
              <a:t>CHAPTER 8 | Part 2</a:t>
            </a:r>
            <a:endParaRPr lang="en-US" sz="4000" dirty="0">
              <a:solidFill>
                <a:srgbClr val="820002"/>
              </a:solidFill>
              <a:latin typeface="Garamond" panose="02020404030301010803" pitchFamily="18" charset="0"/>
            </a:endParaRPr>
          </a:p>
          <a:p>
            <a:pPr algn="ctr"/>
            <a:endParaRPr lang="en-US" sz="3800" dirty="0">
              <a:latin typeface="Garamond" panose="02020404030301010803" pitchFamily="18" charset="0"/>
            </a:endParaRPr>
          </a:p>
          <a:p>
            <a:pPr algn="ctr"/>
            <a:r>
              <a:rPr lang="en-US" sz="3800" dirty="0">
                <a:latin typeface="Garamond" panose="02020404030301010803" pitchFamily="18" charset="0"/>
              </a:rPr>
              <a:t>Service Innovation and Design</a:t>
            </a:r>
          </a:p>
        </p:txBody>
      </p:sp>
    </p:spTree>
    <p:extLst>
      <p:ext uri="{BB962C8B-B14F-4D97-AF65-F5344CB8AC3E}">
        <p14:creationId xmlns:p14="http://schemas.microsoft.com/office/powerpoint/2010/main" val="35884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7AFD51-5536-3A3D-2D5F-023BD46C6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37" y="1431756"/>
            <a:ext cx="10521517" cy="46689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Innovation and Development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A3B62-8267-82E0-3FC2-9B9895471C2F}"/>
              </a:ext>
            </a:extLst>
          </p:cNvPr>
          <p:cNvSpPr txBox="1"/>
          <p:nvPr/>
        </p:nvSpPr>
        <p:spPr>
          <a:xfrm>
            <a:off x="9397665" y="4889582"/>
            <a:ext cx="22007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B5395"/>
                </a:solidFill>
                <a:latin typeface="Gill Sans MT" panose="020B0502020104020203" pitchFamily="34" charset="0"/>
              </a:rPr>
              <a:t>Requirements that a new service must meet before moving to the next stage.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E039622-C8EA-E792-E974-BC94763071D3}"/>
              </a:ext>
            </a:extLst>
          </p:cNvPr>
          <p:cNvCxnSpPr>
            <a:cxnSpLocks/>
            <a:stCxn id="6" idx="3"/>
            <a:endCxn id="2" idx="3"/>
          </p:cNvCxnSpPr>
          <p:nvPr/>
        </p:nvCxnSpPr>
        <p:spPr>
          <a:xfrm flipH="1" flipV="1">
            <a:off x="11335654" y="3766218"/>
            <a:ext cx="262788" cy="1661973"/>
          </a:xfrm>
          <a:prstGeom prst="bentConnector3">
            <a:avLst>
              <a:gd name="adj1" fmla="val -8699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11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CAC4-154B-17C1-0B30-3AD92531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Phase 1: Front-End 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824AD-83DC-EE84-3CB5-BD2320B5F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Five-step process</a:t>
            </a:r>
          </a:p>
        </p:txBody>
      </p:sp>
    </p:spTree>
    <p:extLst>
      <p:ext uri="{BB962C8B-B14F-4D97-AF65-F5344CB8AC3E}">
        <p14:creationId xmlns:p14="http://schemas.microsoft.com/office/powerpoint/2010/main" val="404864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Business Strategy Development or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E24BE-9DBD-28AF-1693-6CAEABAFF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712" y="3848282"/>
            <a:ext cx="4655203" cy="1781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B26A56-9DD3-4C8D-1A22-E2FB1EA01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712" y="1862342"/>
            <a:ext cx="4655203" cy="173479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4" y="1764710"/>
            <a:ext cx="5763125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Garamond" panose="02020404030301010803" pitchFamily="18" charset="0"/>
              </a:rPr>
              <a:t>The new service strategy and specific new service ideas must fit within the larger strategic mission and vision of the organization. </a:t>
            </a:r>
          </a:p>
          <a:p>
            <a:pPr lvl="1"/>
            <a:r>
              <a:rPr lang="en-US" sz="3000" dirty="0">
                <a:latin typeface="Garamond" panose="02020404030301010803" pitchFamily="18" charset="0"/>
              </a:rPr>
              <a:t>What is the mission of the company? (You can usually find this in the tag-line).</a:t>
            </a:r>
          </a:p>
          <a:p>
            <a:pPr lvl="1"/>
            <a:r>
              <a:rPr lang="en-US" sz="3000" dirty="0">
                <a:latin typeface="Garamond" panose="02020404030301010803" pitchFamily="18" charset="0"/>
              </a:rPr>
              <a:t>How does this new service fit that mission?</a:t>
            </a:r>
          </a:p>
        </p:txBody>
      </p:sp>
    </p:spTree>
    <p:extLst>
      <p:ext uri="{BB962C8B-B14F-4D97-AF65-F5344CB8AC3E}">
        <p14:creationId xmlns:p14="http://schemas.microsoft.com/office/powerpoint/2010/main" val="20403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New Service Strategy Development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4" y="1764711"/>
            <a:ext cx="10672010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latin typeface="Garamond" panose="02020404030301010803" pitchFamily="18" charset="0"/>
              </a:rPr>
              <a:t>This framework allows and organization to identify growth opportunities and can be helpful as a catalyst for creative ideas.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3C07E-C958-2F06-2BDE-BF3BD336E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48" y="2767263"/>
            <a:ext cx="10701704" cy="32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33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Idea Generation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4" y="1740647"/>
            <a:ext cx="10599821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Generate new ideas that can be evaluated in light of the new service strategy screening criteria described in the preceding steps.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Can include collaboration with customers, vendors, even competition. 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Observing customers and how they use the firm’s services and products can also elicit creative ideas (empathic design). 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There must be some established mechanism for ensuring an ongoing stream of new service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91574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Service Concept Development and Evaluation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4" y="1668457"/>
            <a:ext cx="10443410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Drawing pictures and describing an intangible service in concrete terms are difficult, especially if it is co-created in real time with customers (ex. hairdresser).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The phase takes multiple versions until reaching a defined concept.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After clear definition of the concept, a description should be produced that represents its specific characteristics.</a:t>
            </a:r>
          </a:p>
          <a:p>
            <a:pPr lvl="1"/>
            <a:r>
              <a:rPr lang="en-US" sz="2800" dirty="0">
                <a:latin typeface="Garamond" panose="02020404030301010803" pitchFamily="18" charset="0"/>
              </a:rPr>
              <a:t>This is called a service design document. 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Then, you want to determine initial customer and employee responses to the concept.</a:t>
            </a:r>
          </a:p>
        </p:txBody>
      </p:sp>
    </p:spTree>
    <p:extLst>
      <p:ext uri="{BB962C8B-B14F-4D97-AF65-F5344CB8AC3E}">
        <p14:creationId xmlns:p14="http://schemas.microsoft.com/office/powerpoint/2010/main" val="37302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Business Analysis</a:t>
            </a:r>
            <a:endParaRPr lang="en-US" altLang="en-US" b="1" dirty="0">
              <a:solidFill>
                <a:srgbClr val="0B5395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4" y="1704552"/>
            <a:ext cx="10599821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Assuming the new service concept is favorably evaluated:</a:t>
            </a:r>
          </a:p>
          <a:p>
            <a:pPr lvl="1"/>
            <a:r>
              <a:rPr lang="en-US" sz="2600" dirty="0">
                <a:latin typeface="Garamond" panose="02020404030301010803" pitchFamily="18" charset="0"/>
              </a:rPr>
              <a:t>Estimate its economic feasibility </a:t>
            </a:r>
          </a:p>
          <a:p>
            <a:pPr lvl="1"/>
            <a:r>
              <a:rPr lang="en-US" sz="2600" dirty="0">
                <a:latin typeface="Garamond" panose="02020404030301010803" pitchFamily="18" charset="0"/>
              </a:rPr>
              <a:t>Estimate its potential profit implications</a:t>
            </a:r>
          </a:p>
          <a:p>
            <a:pPr lvl="1"/>
            <a:r>
              <a:rPr lang="en-US" sz="2600" dirty="0">
                <a:latin typeface="Garamond" panose="02020404030301010803" pitchFamily="18" charset="0"/>
              </a:rPr>
              <a:t>Develop a demand analysis (who will want the service?)</a:t>
            </a:r>
          </a:p>
          <a:p>
            <a:pPr lvl="1"/>
            <a:r>
              <a:rPr lang="en-US" sz="2600" dirty="0">
                <a:latin typeface="Garamond" panose="02020404030301010803" pitchFamily="18" charset="0"/>
              </a:rPr>
              <a:t>Predict revenue projections (how much money will you make?) and how much will it cost</a:t>
            </a:r>
          </a:p>
          <a:p>
            <a:pPr lvl="1"/>
            <a:r>
              <a:rPr lang="en-US" sz="2600" dirty="0">
                <a:latin typeface="Garamond" panose="02020404030301010803" pitchFamily="18" charset="0"/>
              </a:rPr>
              <a:t>Assess operational feasibility (what changes will be needed to make this happen? Can your current facility/employees accommodate this new service?)</a:t>
            </a:r>
          </a:p>
          <a:p>
            <a:pPr lvl="1"/>
            <a:endParaRPr lang="en-US" sz="2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452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CAC4-154B-17C1-0B30-3AD92531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Phase 1I: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824AD-83DC-EE84-3CB5-BD2320B5F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Four-step process</a:t>
            </a:r>
          </a:p>
        </p:txBody>
      </p:sp>
    </p:spTree>
    <p:extLst>
      <p:ext uri="{BB962C8B-B14F-4D97-AF65-F5344CB8AC3E}">
        <p14:creationId xmlns:p14="http://schemas.microsoft.com/office/powerpoint/2010/main" val="297220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Service Prototype Development and Testing</a:t>
            </a:r>
            <a:endParaRPr lang="en-US" altLang="en-US" b="1" dirty="0">
              <a:solidFill>
                <a:srgbClr val="0B5395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5" y="1704552"/>
            <a:ext cx="4993104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This step should involve all those who have a stake in the new service: customers, employees, representatives, operations, etc. 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This phase produces a detailed blueprint of the customer experience and the implementation plan for the service. </a:t>
            </a:r>
          </a:p>
        </p:txBody>
      </p:sp>
      <p:pic>
        <p:nvPicPr>
          <p:cNvPr id="1030" name="Picture 6" descr="3 Tips to Help You Prototype a Service | IDEO">
            <a:extLst>
              <a:ext uri="{FF2B5EF4-FFF2-40B4-BE49-F238E27FC236}">
                <a16:creationId xmlns:a16="http://schemas.microsoft.com/office/drawing/2014/main" id="{02336431-240D-105D-BFB7-5FEA3D2C5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527" y="1566586"/>
            <a:ext cx="6703930" cy="418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11FEB4-31DF-5949-28D9-77829B873F7D}"/>
              </a:ext>
            </a:extLst>
          </p:cNvPr>
          <p:cNvSpPr txBox="1"/>
          <p:nvPr/>
        </p:nvSpPr>
        <p:spPr>
          <a:xfrm>
            <a:off x="6063915" y="5690981"/>
            <a:ext cx="611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IDEO prototype for Crowne Plaza lobby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8505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Market Testing</a:t>
            </a:r>
            <a:endParaRPr lang="en-US" altLang="en-US" b="1" dirty="0">
              <a:solidFill>
                <a:srgbClr val="0B5395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5" y="1704552"/>
            <a:ext cx="4800599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Test the response against the marketing mix variables and distributing system. 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Trying to identify an isolated market to test can be challenging so sometimes companies use their employees.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Continual pilot testing is critical!</a:t>
            </a:r>
          </a:p>
        </p:txBody>
      </p:sp>
      <p:pic>
        <p:nvPicPr>
          <p:cNvPr id="2" name="Picture 4" descr="How to become a Beta tester for google play store applications in any  Android mobile|Tablet - YouTube">
            <a:extLst>
              <a:ext uri="{FF2B5EF4-FFF2-40B4-BE49-F238E27FC236}">
                <a16:creationId xmlns:a16="http://schemas.microsoft.com/office/drawing/2014/main" id="{AA18BFA6-2389-E2C3-A7AC-D563244F2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737" y="1704552"/>
            <a:ext cx="5396484" cy="404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54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Commercialization</a:t>
            </a:r>
            <a:endParaRPr lang="en-US" altLang="en-US" b="1" dirty="0">
              <a:solidFill>
                <a:srgbClr val="0B5395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5" y="1704552"/>
            <a:ext cx="5329988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The service is live! This stage has two primary objectives:</a:t>
            </a:r>
          </a:p>
          <a:p>
            <a:pPr lvl="1"/>
            <a:r>
              <a:rPr lang="en-US" sz="2600" dirty="0">
                <a:latin typeface="Garamond" panose="02020404030301010803" pitchFamily="18" charset="0"/>
              </a:rPr>
              <a:t>To build and maintain acceptance of the new service among large number of the service delivery personnel who are responsible day-to-day for service quality. </a:t>
            </a:r>
          </a:p>
          <a:p>
            <a:pPr lvl="1"/>
            <a:r>
              <a:rPr lang="en-US" sz="2600" dirty="0">
                <a:latin typeface="Garamond" panose="02020404030301010803" pitchFamily="18" charset="0"/>
              </a:rPr>
              <a:t>To monitor all aspects of the service during introduction and through the complete service cycle.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9475B6-D278-A24B-BA04-7499B18E9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173" y="2156222"/>
            <a:ext cx="5266693" cy="336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7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dirty="0" err="1">
                <a:solidFill>
                  <a:srgbClr val="0B5395"/>
                </a:solidFill>
                <a:latin typeface="Garamond" panose="02020404030301010803" pitchFamily="18" charset="0"/>
              </a:rPr>
              <a:t>Postintroduction</a:t>
            </a:r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 Evaluation</a:t>
            </a:r>
            <a:endParaRPr lang="en-US" altLang="en-US" b="1" dirty="0">
              <a:solidFill>
                <a:srgbClr val="0B5395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4" y="1704552"/>
            <a:ext cx="10323093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Information gathered during commercialization can be reviewed and refinements are made to the delivery process, staffing, or marketing mix variable.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Formalizing a review process is important for this stage to be effective. 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Utilizing the customer’s viewpoint is also critical for this stage to be effective. </a:t>
            </a:r>
          </a:p>
        </p:txBody>
      </p:sp>
    </p:spTree>
    <p:extLst>
      <p:ext uri="{BB962C8B-B14F-4D97-AF65-F5344CB8AC3E}">
        <p14:creationId xmlns:p14="http://schemas.microsoft.com/office/powerpoint/2010/main" val="329860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CAC4-154B-17C1-0B30-3AD92531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Service Blueprinting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824AD-83DC-EE84-3CB5-BD2320B5F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MT" panose="020B0502020104020203" pitchFamily="34" charset="0"/>
              </a:rPr>
              <a:t>A technique for service innovation and design. </a:t>
            </a:r>
          </a:p>
        </p:txBody>
      </p:sp>
    </p:spTree>
    <p:extLst>
      <p:ext uri="{BB962C8B-B14F-4D97-AF65-F5344CB8AC3E}">
        <p14:creationId xmlns:p14="http://schemas.microsoft.com/office/powerpoint/2010/main" val="184589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What </a:t>
            </a:r>
            <a:r>
              <a:rPr lang="en-US" altLang="en-US">
                <a:solidFill>
                  <a:srgbClr val="0B5395"/>
                </a:solidFill>
                <a:latin typeface="Garamond" panose="02020404030301010803" pitchFamily="18" charset="0"/>
              </a:rPr>
              <a:t>is a Service </a:t>
            </a:r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Blueprinting?</a:t>
            </a:r>
            <a:endParaRPr lang="en-US" altLang="en-US" b="1" dirty="0">
              <a:solidFill>
                <a:srgbClr val="0B5395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50F671-6821-6FBB-3198-1AAAAFE62816}"/>
              </a:ext>
            </a:extLst>
          </p:cNvPr>
          <p:cNvSpPr txBox="1">
            <a:spLocks/>
          </p:cNvSpPr>
          <p:nvPr/>
        </p:nvSpPr>
        <p:spPr>
          <a:xfrm>
            <a:off x="866275" y="1704552"/>
            <a:ext cx="5462336" cy="37986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aramond" panose="02020404030301010803" pitchFamily="18" charset="0"/>
              </a:rPr>
              <a:t>A service blueprint is a </a:t>
            </a:r>
            <a:r>
              <a:rPr lang="en-US" sz="2800" b="1" dirty="0">
                <a:latin typeface="Garamond" panose="02020404030301010803" pitchFamily="18" charset="0"/>
              </a:rPr>
              <a:t>picture or a map</a:t>
            </a:r>
            <a:r>
              <a:rPr lang="en-US" sz="2800" dirty="0">
                <a:latin typeface="Garamond" panose="02020404030301010803" pitchFamily="18" charset="0"/>
              </a:rPr>
              <a:t> that </a:t>
            </a:r>
            <a:r>
              <a:rPr lang="en-US" sz="2800" b="1" dirty="0">
                <a:latin typeface="Garamond" panose="02020404030301010803" pitchFamily="18" charset="0"/>
              </a:rPr>
              <a:t>portrays the customer experience and the service system</a:t>
            </a:r>
            <a:r>
              <a:rPr lang="en-US" sz="2800" dirty="0">
                <a:latin typeface="Garamond" panose="02020404030301010803" pitchFamily="18" charset="0"/>
              </a:rPr>
              <a:t>, so that the different people involved in providing the service can understand it objectively. </a:t>
            </a:r>
          </a:p>
          <a:p>
            <a:r>
              <a:rPr lang="en-US" sz="2800" dirty="0">
                <a:latin typeface="Garamond" panose="02020404030301010803" pitchFamily="18" charset="0"/>
              </a:rPr>
              <a:t>A service blueprint </a:t>
            </a:r>
            <a:r>
              <a:rPr lang="en-US" sz="2800" b="1" dirty="0">
                <a:latin typeface="Garamond" panose="02020404030301010803" pitchFamily="18" charset="0"/>
              </a:rPr>
              <a:t>visually</a:t>
            </a:r>
            <a:r>
              <a:rPr lang="en-US" sz="2800" dirty="0">
                <a:latin typeface="Garamond" panose="02020404030301010803" pitchFamily="18" charset="0"/>
              </a:rPr>
              <a:t> displays the service, </a:t>
            </a:r>
            <a:r>
              <a:rPr lang="en-US" sz="2800" b="1" dirty="0">
                <a:latin typeface="Garamond" panose="02020404030301010803" pitchFamily="18" charset="0"/>
              </a:rPr>
              <a:t>breaks it down</a:t>
            </a:r>
            <a:r>
              <a:rPr lang="en-US" sz="2800" dirty="0">
                <a:latin typeface="Garamond" panose="02020404030301010803" pitchFamily="18" charset="0"/>
              </a:rPr>
              <a:t> into its logical components, and </a:t>
            </a:r>
            <a:r>
              <a:rPr lang="en-US" sz="2800" b="1" dirty="0">
                <a:latin typeface="Garamond" panose="02020404030301010803" pitchFamily="18" charset="0"/>
              </a:rPr>
              <a:t>depicts the steps or tasks</a:t>
            </a:r>
            <a:r>
              <a:rPr lang="en-US" sz="2800" dirty="0">
                <a:latin typeface="Garamond" panose="02020404030301010803" pitchFamily="18" charset="0"/>
              </a:rPr>
              <a:t> in the process.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A18378-529C-9A2F-01E9-76001632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3" y="2131160"/>
            <a:ext cx="5450304" cy="337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4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8" y="227970"/>
            <a:ext cx="11405937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B5395"/>
                </a:solidFill>
                <a:latin typeface="Garamond" panose="02020404030301010803" pitchFamily="18" charset="0"/>
              </a:rPr>
              <a:t>Blueprinting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B0ADE-7A47-867B-B74D-257915063D2C}"/>
              </a:ext>
            </a:extLst>
          </p:cNvPr>
          <p:cNvSpPr txBox="1"/>
          <p:nvPr/>
        </p:nvSpPr>
        <p:spPr>
          <a:xfrm flipH="1">
            <a:off x="5546557" y="1564105"/>
            <a:ext cx="611204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Gill Sans MT" panose="020B0502020104020203" pitchFamily="34" charset="0"/>
              </a:rPr>
              <a:t>Action Areas: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Customer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Onstage/ visible contact employee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Backstage/ invisible contact employee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Support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Physical evidence</a:t>
            </a:r>
          </a:p>
          <a:p>
            <a:endParaRPr lang="en-US" sz="2400" dirty="0">
              <a:latin typeface="Gill Sans MT" panose="020B0502020104020203" pitchFamily="34" charset="0"/>
            </a:endParaRPr>
          </a:p>
          <a:p>
            <a:r>
              <a:rPr lang="en-US" sz="2400" b="1" u="sng" dirty="0">
                <a:latin typeface="Gill Sans MT" panose="020B0502020104020203" pitchFamily="34" charset="0"/>
              </a:rPr>
              <a:t>Points of Interactions: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Line of interaction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Line of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Line of internal interaction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141651-19FE-871F-FEDF-07557BD7E6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807"/>
          <a:stretch/>
        </p:blipFill>
        <p:spPr>
          <a:xfrm>
            <a:off x="800025" y="1564105"/>
            <a:ext cx="4283241" cy="480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1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144CB41-47A0-DC33-4F5B-230F6658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186" y="662699"/>
            <a:ext cx="9387628" cy="60872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91E257-6F51-4FC9-00CC-AE4B622BCC61}"/>
              </a:ext>
            </a:extLst>
          </p:cNvPr>
          <p:cNvSpPr txBox="1"/>
          <p:nvPr/>
        </p:nvSpPr>
        <p:spPr>
          <a:xfrm>
            <a:off x="944981" y="85873"/>
            <a:ext cx="10302039" cy="5232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en-US" sz="2800" b="1" dirty="0">
                <a:solidFill>
                  <a:srgbClr val="0B5395"/>
                </a:solidFill>
                <a:latin typeface="Garamond" panose="02020404030301010803" pitchFamily="18" charset="0"/>
              </a:rPr>
              <a:t>Blueprint for Overnight Hotel Stay Service</a:t>
            </a:r>
            <a:endParaRPr lang="en-US" sz="2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3B1F8-7296-6439-AB12-9EF56E93DF54}"/>
              </a:ext>
            </a:extLst>
          </p:cNvPr>
          <p:cNvSpPr/>
          <p:nvPr/>
        </p:nvSpPr>
        <p:spPr>
          <a:xfrm>
            <a:off x="1118939" y="1564105"/>
            <a:ext cx="9962147" cy="95049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3D5D8F-B111-48E4-881A-E4516B418B0F}"/>
              </a:ext>
            </a:extLst>
          </p:cNvPr>
          <p:cNvSpPr/>
          <p:nvPr/>
        </p:nvSpPr>
        <p:spPr>
          <a:xfrm>
            <a:off x="1118939" y="2731784"/>
            <a:ext cx="9962147" cy="95049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2050D3-FF3D-B5C4-963E-80D2280F2D61}"/>
              </a:ext>
            </a:extLst>
          </p:cNvPr>
          <p:cNvSpPr/>
          <p:nvPr/>
        </p:nvSpPr>
        <p:spPr>
          <a:xfrm>
            <a:off x="1118939" y="3920132"/>
            <a:ext cx="9962147" cy="95049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0FCF0B-062C-C153-3742-514930A4AE7C}"/>
              </a:ext>
            </a:extLst>
          </p:cNvPr>
          <p:cNvSpPr/>
          <p:nvPr/>
        </p:nvSpPr>
        <p:spPr>
          <a:xfrm>
            <a:off x="1114926" y="5108480"/>
            <a:ext cx="9962147" cy="95049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15E232-45C9-1142-B84F-FD0CE83D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37" y="227970"/>
            <a:ext cx="10563726" cy="11430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B5395"/>
                </a:solidFill>
                <a:latin typeface="Garamond" panose="02020404030301010803" pitchFamily="18" charset="0"/>
              </a:rPr>
              <a:t>Building a Blueprint</a:t>
            </a:r>
            <a:endParaRPr lang="en-US" altLang="en-US" b="1" dirty="0">
              <a:solidFill>
                <a:srgbClr val="0B5395"/>
              </a:solidFill>
              <a:latin typeface="Garamond" panose="020204040303010108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B20855-3CE5-4DC4-1A5F-357A54535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68" y="1998152"/>
            <a:ext cx="11377863" cy="343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0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grid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amondgrid theme" id="{ED93937A-9EDD-431C-AF40-A6218FC4DE09}" vid="{8CDF1396-6A4F-4529-B9C5-69BA7F395D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diamondgrid theme</Template>
  <TotalTime>3907</TotalTime>
  <Words>811</Words>
  <Application>Microsoft Office PowerPoint</Application>
  <PresentationFormat>Widescreen</PresentationFormat>
  <Paragraphs>90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Garamond</vt:lpstr>
      <vt:lpstr>Gill Sans MT</vt:lpstr>
      <vt:lpstr>diamondgrid theme</vt:lpstr>
      <vt:lpstr>PowerPoint Presentation</vt:lpstr>
      <vt:lpstr>Service Innovation and Development Process</vt:lpstr>
      <vt:lpstr>Phase 1: Front-End Planning</vt:lpstr>
      <vt:lpstr>Business Strategy Development or Review</vt:lpstr>
      <vt:lpstr>New Service Strategy Development</vt:lpstr>
      <vt:lpstr>Idea Generation</vt:lpstr>
      <vt:lpstr>Service Concept Development and Evaluation</vt:lpstr>
      <vt:lpstr>Business Analysis</vt:lpstr>
      <vt:lpstr>Phase 1I: Implementation</vt:lpstr>
      <vt:lpstr>Service Prototype Development and Testing</vt:lpstr>
      <vt:lpstr>Market Testing</vt:lpstr>
      <vt:lpstr>Commercialization</vt:lpstr>
      <vt:lpstr>Postintroduction Evaluation</vt:lpstr>
      <vt:lpstr>Service Blueprinting</vt:lpstr>
      <vt:lpstr>What is a Service Blueprinting?</vt:lpstr>
      <vt:lpstr>Blueprinting Components</vt:lpstr>
      <vt:lpstr>PowerPoint Presentation</vt:lpstr>
      <vt:lpstr>Building a Blueprint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 Anh Nu Ton</dc:creator>
  <cp:lastModifiedBy>Sakshi Sanjay Babar</cp:lastModifiedBy>
  <cp:revision>247</cp:revision>
  <dcterms:created xsi:type="dcterms:W3CDTF">2021-01-26T21:27:35Z</dcterms:created>
  <dcterms:modified xsi:type="dcterms:W3CDTF">2025-02-12T14:10:52Z</dcterms:modified>
</cp:coreProperties>
</file>