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361" r:id="rId5"/>
    <p:sldId id="344" r:id="rId6"/>
    <p:sldId id="345" r:id="rId7"/>
    <p:sldId id="359" r:id="rId8"/>
    <p:sldId id="330" r:id="rId9"/>
    <p:sldId id="360" r:id="rId10"/>
    <p:sldId id="346" r:id="rId11"/>
    <p:sldId id="332" r:id="rId12"/>
    <p:sldId id="347" r:id="rId13"/>
    <p:sldId id="350" r:id="rId14"/>
    <p:sldId id="352" r:id="rId15"/>
    <p:sldId id="267" r:id="rId16"/>
    <p:sldId id="354" r:id="rId17"/>
    <p:sldId id="269" r:id="rId18"/>
    <p:sldId id="363" r:id="rId19"/>
    <p:sldId id="35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B53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1248" autoAdjust="0"/>
  </p:normalViewPr>
  <p:slideViewPr>
    <p:cSldViewPr snapToGrid="0">
      <p:cViewPr varScale="1">
        <p:scale>
          <a:sx n="94" d="100"/>
          <a:sy n="94" d="100"/>
        </p:scale>
        <p:origin x="208" y="5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9F144-24BB-43B2-988D-B0D65E4BE020}"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2641F-7409-49E4-9792-4DED4E6DB800}" type="slidenum">
              <a:rPr lang="en-US" smtClean="0"/>
              <a:t>‹#›</a:t>
            </a:fld>
            <a:endParaRPr lang="en-US"/>
          </a:p>
        </p:txBody>
      </p:sp>
    </p:spTree>
    <p:extLst>
      <p:ext uri="{BB962C8B-B14F-4D97-AF65-F5344CB8AC3E}">
        <p14:creationId xmlns:p14="http://schemas.microsoft.com/office/powerpoint/2010/main" val="1786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expectations are standards or reference points that customers bring into service experience. Customer perceptions are subjective assessments of their actual service experiences. Customer expectations – what customer believes should or will happen. </a:t>
            </a:r>
          </a:p>
        </p:txBody>
      </p:sp>
      <p:sp>
        <p:nvSpPr>
          <p:cNvPr id="4" name="Slide Number Placeholder 3"/>
          <p:cNvSpPr>
            <a:spLocks noGrp="1"/>
          </p:cNvSpPr>
          <p:nvPr>
            <p:ph type="sldNum" sz="quarter" idx="5"/>
          </p:nvPr>
        </p:nvSpPr>
        <p:spPr/>
        <p:txBody>
          <a:bodyPr/>
          <a:lstStyle/>
          <a:p>
            <a:fld id="{1FA955AC-BBE9-A144-BEA0-0A44958C1A85}" type="slidenum">
              <a:rPr lang="en-US" smtClean="0"/>
              <a:t>5</a:t>
            </a:fld>
            <a:endParaRPr lang="en-US"/>
          </a:p>
        </p:txBody>
      </p:sp>
    </p:spTree>
    <p:extLst>
      <p:ext uri="{BB962C8B-B14F-4D97-AF65-F5344CB8AC3E}">
        <p14:creationId xmlns:p14="http://schemas.microsoft.com/office/powerpoint/2010/main" val="2545542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6</a:t>
            </a:fld>
            <a:endParaRPr lang="en-US"/>
          </a:p>
        </p:txBody>
      </p:sp>
    </p:spTree>
    <p:extLst>
      <p:ext uri="{BB962C8B-B14F-4D97-AF65-F5344CB8AC3E}">
        <p14:creationId xmlns:p14="http://schemas.microsoft.com/office/powerpoint/2010/main" val="924961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7</a:t>
            </a:fld>
            <a:endParaRPr lang="en-US"/>
          </a:p>
        </p:txBody>
      </p:sp>
    </p:spTree>
    <p:extLst>
      <p:ext uri="{BB962C8B-B14F-4D97-AF65-F5344CB8AC3E}">
        <p14:creationId xmlns:p14="http://schemas.microsoft.com/office/powerpoint/2010/main" val="2545542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8</a:t>
            </a:fld>
            <a:endParaRPr lang="en-US"/>
          </a:p>
        </p:txBody>
      </p:sp>
    </p:spTree>
    <p:extLst>
      <p:ext uri="{BB962C8B-B14F-4D97-AF65-F5344CB8AC3E}">
        <p14:creationId xmlns:p14="http://schemas.microsoft.com/office/powerpoint/2010/main" val="820089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of service delivered by frontline employees to customers is influenced by the standards against which they are evaluated and compensated. Thus, ensuring the customer expectations match the employee standards is necessary.</a:t>
            </a:r>
          </a:p>
        </p:txBody>
      </p:sp>
      <p:sp>
        <p:nvSpPr>
          <p:cNvPr id="4" name="Slide Number Placeholder 3"/>
          <p:cNvSpPr>
            <a:spLocks noGrp="1"/>
          </p:cNvSpPr>
          <p:nvPr>
            <p:ph type="sldNum" sz="quarter" idx="5"/>
          </p:nvPr>
        </p:nvSpPr>
        <p:spPr/>
        <p:txBody>
          <a:bodyPr/>
          <a:lstStyle/>
          <a:p>
            <a:fld id="{1FA955AC-BBE9-A144-BEA0-0A44958C1A85}" type="slidenum">
              <a:rPr lang="en-US" smtClean="0"/>
              <a:t>9</a:t>
            </a:fld>
            <a:endParaRPr lang="en-US"/>
          </a:p>
        </p:txBody>
      </p:sp>
    </p:spTree>
    <p:extLst>
      <p:ext uri="{BB962C8B-B14F-4D97-AF65-F5344CB8AC3E}">
        <p14:creationId xmlns:p14="http://schemas.microsoft.com/office/powerpoint/2010/main" val="244844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 should have systems, processes, and people in place to ensure that service delivery actually matches (or is even better than) the designs and standards in place.</a:t>
            </a:r>
          </a:p>
        </p:txBody>
      </p:sp>
      <p:sp>
        <p:nvSpPr>
          <p:cNvPr id="4" name="Slide Number Placeholder 3"/>
          <p:cNvSpPr>
            <a:spLocks noGrp="1"/>
          </p:cNvSpPr>
          <p:nvPr>
            <p:ph type="sldNum" sz="quarter" idx="5"/>
          </p:nvPr>
        </p:nvSpPr>
        <p:spPr/>
        <p:txBody>
          <a:bodyPr/>
          <a:lstStyle/>
          <a:p>
            <a:fld id="{1FA955AC-BBE9-A144-BEA0-0A44958C1A85}" type="slidenum">
              <a:rPr lang="en-US" smtClean="0"/>
              <a:t>10</a:t>
            </a:fld>
            <a:endParaRPr lang="en-US"/>
          </a:p>
        </p:txBody>
      </p:sp>
    </p:spTree>
    <p:extLst>
      <p:ext uri="{BB962C8B-B14F-4D97-AF65-F5344CB8AC3E}">
        <p14:creationId xmlns:p14="http://schemas.microsoft.com/office/powerpoint/2010/main" val="1081850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11</a:t>
            </a:fld>
            <a:endParaRPr lang="en-US"/>
          </a:p>
        </p:txBody>
      </p:sp>
    </p:spTree>
    <p:extLst>
      <p:ext uri="{BB962C8B-B14F-4D97-AF65-F5344CB8AC3E}">
        <p14:creationId xmlns:p14="http://schemas.microsoft.com/office/powerpoint/2010/main" val="799901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to closing customer gap is to close the four provider gaps</a:t>
            </a:r>
          </a:p>
        </p:txBody>
      </p:sp>
      <p:sp>
        <p:nvSpPr>
          <p:cNvPr id="4" name="Slide Number Placeholder 3"/>
          <p:cNvSpPr>
            <a:spLocks noGrp="1"/>
          </p:cNvSpPr>
          <p:nvPr>
            <p:ph type="sldNum" sz="quarter" idx="5"/>
          </p:nvPr>
        </p:nvSpPr>
        <p:spPr/>
        <p:txBody>
          <a:bodyPr/>
          <a:lstStyle/>
          <a:p>
            <a:fld id="{1FA955AC-BBE9-A144-BEA0-0A44958C1A85}" type="slidenum">
              <a:rPr lang="en-US" smtClean="0"/>
              <a:t>13</a:t>
            </a:fld>
            <a:endParaRPr lang="en-US"/>
          </a:p>
        </p:txBody>
      </p:sp>
    </p:spTree>
    <p:extLst>
      <p:ext uri="{BB962C8B-B14F-4D97-AF65-F5344CB8AC3E}">
        <p14:creationId xmlns:p14="http://schemas.microsoft.com/office/powerpoint/2010/main" val="734529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16</a:t>
            </a:fld>
            <a:endParaRPr lang="en-US"/>
          </a:p>
        </p:txBody>
      </p:sp>
    </p:spTree>
    <p:extLst>
      <p:ext uri="{BB962C8B-B14F-4D97-AF65-F5344CB8AC3E}">
        <p14:creationId xmlns:p14="http://schemas.microsoft.com/office/powerpoint/2010/main" val="3866372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2371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49F891D-1FA9-4727-9FEF-AFB1CA58961D}" type="datetimeFigureOut">
              <a:rPr lang="en-US" smtClean="0"/>
              <a:t>1/15/25</a:t>
            </a:fld>
            <a:endParaRPr lang="en-US"/>
          </a:p>
        </p:txBody>
      </p:sp>
      <p:sp>
        <p:nvSpPr>
          <p:cNvPr id="6" name="Slide Number Placeholder 5"/>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150919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4433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849F891D-1FA9-4727-9FEF-AFB1CA58961D}" type="datetimeFigureOut">
              <a:rPr lang="en-US" smtClean="0"/>
              <a:t>1/15/25</a:t>
            </a:fld>
            <a:endParaRPr lang="en-US"/>
          </a:p>
        </p:txBody>
      </p:sp>
      <p:sp>
        <p:nvSpPr>
          <p:cNvPr id="7" name="Slide Number Placeholder 6"/>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268810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849F891D-1FA9-4727-9FEF-AFB1CA58961D}" type="datetimeFigureOut">
              <a:rPr lang="en-US" smtClean="0"/>
              <a:t>1/15/25</a:t>
            </a:fld>
            <a:endParaRPr lang="en-US"/>
          </a:p>
        </p:txBody>
      </p:sp>
      <p:sp>
        <p:nvSpPr>
          <p:cNvPr id="9" name="Slide Number Placeholder 8"/>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2506398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849F891D-1FA9-4727-9FEF-AFB1CA58961D}" type="datetimeFigureOut">
              <a:rPr lang="en-US" smtClean="0"/>
              <a:t>1/15/25</a:t>
            </a:fld>
            <a:endParaRPr lang="en-US"/>
          </a:p>
        </p:txBody>
      </p:sp>
      <p:sp>
        <p:nvSpPr>
          <p:cNvPr id="5" name="Slide Number Placeholder 4"/>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19635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849F891D-1FA9-4727-9FEF-AFB1CA58961D}" type="datetimeFigureOut">
              <a:rPr lang="en-US" smtClean="0"/>
              <a:t>1/15/25</a:t>
            </a:fld>
            <a:endParaRPr lang="en-US"/>
          </a:p>
        </p:txBody>
      </p:sp>
      <p:sp>
        <p:nvSpPr>
          <p:cNvPr id="214" name="Slide Number Placeholder 213"/>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186631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849F891D-1FA9-4727-9FEF-AFB1CA58961D}" type="datetimeFigureOut">
              <a:rPr lang="en-US" smtClean="0"/>
              <a:t>1/15/25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F750A686-E32E-403E-B9D1-ED9CE503C7B8}" type="slidenum">
              <a:rPr lang="en-US" smtClean="0"/>
              <a:t>‹#›</a:t>
            </a:fld>
            <a:endParaRPr lang="en-US"/>
          </a:p>
        </p:txBody>
      </p:sp>
    </p:spTree>
    <p:extLst>
      <p:ext uri="{BB962C8B-B14F-4D97-AF65-F5344CB8AC3E}">
        <p14:creationId xmlns:p14="http://schemas.microsoft.com/office/powerpoint/2010/main" val="131154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9538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49F891D-1FA9-4727-9FEF-AFB1CA58961D}" type="datetimeFigureOut">
              <a:rPr lang="en-US" smtClean="0"/>
              <a:t>1/15/25</a:t>
            </a:fld>
            <a:endParaRPr lang="en-US"/>
          </a:p>
        </p:txBody>
      </p:sp>
      <p:sp>
        <p:nvSpPr>
          <p:cNvPr id="6" name="Slide Number Placeholder 5"/>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386926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49F891D-1FA9-4727-9FEF-AFB1CA58961D}" type="datetimeFigureOut">
              <a:rPr lang="en-US" smtClean="0"/>
              <a:t>1/15/25</a:t>
            </a:fld>
            <a:endParaRPr lang="en-US"/>
          </a:p>
        </p:txBody>
      </p:sp>
      <p:sp>
        <p:nvSpPr>
          <p:cNvPr id="6" name="Slide Number Placeholder 5"/>
          <p:cNvSpPr>
            <a:spLocks noGrp="1"/>
          </p:cNvSpPr>
          <p:nvPr>
            <p:ph type="sldNum" sz="quarter" idx="12"/>
          </p:nvPr>
        </p:nvSpPr>
        <p:spPr/>
        <p:txBody>
          <a:bodyPr/>
          <a:lstStyle/>
          <a:p>
            <a:fld id="{F750A686-E32E-403E-B9D1-ED9CE503C7B8}" type="slidenum">
              <a:rPr lang="en-US" smtClean="0"/>
              <a:t>‹#›</a:t>
            </a:fld>
            <a:endParaRPr lang="en-US"/>
          </a:p>
        </p:txBody>
      </p:sp>
    </p:spTree>
    <p:extLst>
      <p:ext uri="{BB962C8B-B14F-4D97-AF65-F5344CB8AC3E}">
        <p14:creationId xmlns:p14="http://schemas.microsoft.com/office/powerpoint/2010/main" val="37993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849F891D-1FA9-4727-9FEF-AFB1CA58961D}" type="datetimeFigureOut">
              <a:rPr lang="en-US" smtClean="0"/>
              <a:t>1/15/25</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F750A686-E32E-403E-B9D1-ED9CE503C7B8}" type="slidenum">
              <a:rPr lang="en-US" smtClean="0"/>
              <a:t>‹#›</a:t>
            </a:fld>
            <a:endParaRPr lang="en-US"/>
          </a:p>
        </p:txBody>
      </p:sp>
    </p:spTree>
    <p:extLst>
      <p:ext uri="{BB962C8B-B14F-4D97-AF65-F5344CB8AC3E}">
        <p14:creationId xmlns:p14="http://schemas.microsoft.com/office/powerpoint/2010/main" val="12801029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forbes.com/councils/forbestechcouncil/2023/03/15/how-companies-can-close-customer-service-gaps"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CF1977-D8D5-837B-E6FB-65AB46A9D247}"/>
              </a:ext>
            </a:extLst>
          </p:cNvPr>
          <p:cNvPicPr>
            <a:picLocks noChangeAspect="1"/>
          </p:cNvPicPr>
          <p:nvPr/>
        </p:nvPicPr>
        <p:blipFill rotWithShape="1">
          <a:blip r:embed="rId2"/>
          <a:srcRect r="10151"/>
          <a:stretch/>
        </p:blipFill>
        <p:spPr>
          <a:xfrm>
            <a:off x="5665893" y="1362074"/>
            <a:ext cx="6048268" cy="4988241"/>
          </a:xfrm>
          <a:prstGeom prst="rect">
            <a:avLst/>
          </a:prstGeom>
        </p:spPr>
      </p:pic>
      <p:pic>
        <p:nvPicPr>
          <p:cNvPr id="9" name="Picture 8">
            <a:extLst>
              <a:ext uri="{FF2B5EF4-FFF2-40B4-BE49-F238E27FC236}">
                <a16:creationId xmlns:a16="http://schemas.microsoft.com/office/drawing/2014/main" id="{38E9008A-EF22-524C-9E11-6DA30A047F8E}"/>
              </a:ext>
            </a:extLst>
          </p:cNvPr>
          <p:cNvPicPr>
            <a:picLocks noChangeAspect="1"/>
          </p:cNvPicPr>
          <p:nvPr/>
        </p:nvPicPr>
        <p:blipFill>
          <a:blip r:embed="rId3"/>
          <a:stretch>
            <a:fillRect/>
          </a:stretch>
        </p:blipFill>
        <p:spPr>
          <a:xfrm>
            <a:off x="591926" y="1362075"/>
            <a:ext cx="4988240" cy="4988240"/>
          </a:xfrm>
          <a:prstGeom prst="rect">
            <a:avLst/>
          </a:prstGeom>
        </p:spPr>
      </p:pic>
      <p:sp>
        <p:nvSpPr>
          <p:cNvPr id="11" name="TextBox 10">
            <a:extLst>
              <a:ext uri="{FF2B5EF4-FFF2-40B4-BE49-F238E27FC236}">
                <a16:creationId xmlns:a16="http://schemas.microsoft.com/office/drawing/2014/main" id="{49D7AF4B-576D-C77E-092E-8734D138D202}"/>
              </a:ext>
            </a:extLst>
          </p:cNvPr>
          <p:cNvSpPr txBox="1"/>
          <p:nvPr/>
        </p:nvSpPr>
        <p:spPr>
          <a:xfrm>
            <a:off x="591926" y="507685"/>
            <a:ext cx="8494924" cy="523220"/>
          </a:xfrm>
          <a:prstGeom prst="rect">
            <a:avLst/>
          </a:prstGeom>
          <a:noFill/>
        </p:spPr>
        <p:txBody>
          <a:bodyPr wrap="square">
            <a:spAutoFit/>
          </a:bodyPr>
          <a:lstStyle/>
          <a:p>
            <a:r>
              <a:rPr lang="en-US" sz="2800" b="1" dirty="0">
                <a:solidFill>
                  <a:schemeClr val="accent1"/>
                </a:solidFill>
                <a:latin typeface="Garamond" panose="02020404030301010803" pitchFamily="18" charset="0"/>
              </a:rPr>
              <a:t>Starbucks Policies</a:t>
            </a:r>
          </a:p>
        </p:txBody>
      </p:sp>
    </p:spTree>
    <p:extLst>
      <p:ext uri="{BB962C8B-B14F-4D97-AF65-F5344CB8AC3E}">
        <p14:creationId xmlns:p14="http://schemas.microsoft.com/office/powerpoint/2010/main" val="153001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969770"/>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2</a:t>
            </a:r>
          </a:p>
          <a:p>
            <a:pPr algn="ctr"/>
            <a:endParaRPr lang="en-US" sz="4000" dirty="0">
              <a:solidFill>
                <a:srgbClr val="820002"/>
              </a:solidFill>
              <a:latin typeface="Garamond" panose="02020404030301010803" pitchFamily="18" charset="0"/>
            </a:endParaRPr>
          </a:p>
          <a:p>
            <a:pPr algn="ctr"/>
            <a:r>
              <a:rPr lang="en-US" sz="3800" dirty="0">
                <a:latin typeface="Garamond" panose="02020404030301010803" pitchFamily="18" charset="0"/>
              </a:rPr>
              <a:t>The Gaps Model of Service Quality</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Chapter Overview</a:t>
            </a:r>
          </a:p>
        </p:txBody>
      </p:sp>
      <p:sp>
        <p:nvSpPr>
          <p:cNvPr id="5" name="Content Placeholder 2">
            <a:extLst>
              <a:ext uri="{FF2B5EF4-FFF2-40B4-BE49-F238E27FC236}">
                <a16:creationId xmlns:a16="http://schemas.microsoft.com/office/drawing/2014/main" id="{D1724647-207F-1346-BC45-932603259DBD}"/>
              </a:ext>
            </a:extLst>
          </p:cNvPr>
          <p:cNvSpPr>
            <a:spLocks noGrp="1"/>
          </p:cNvSpPr>
          <p:nvPr>
            <p:ph idx="1"/>
          </p:nvPr>
        </p:nvSpPr>
        <p:spPr>
          <a:xfrm>
            <a:off x="1023445" y="1744579"/>
            <a:ext cx="10145110" cy="4152354"/>
          </a:xfrm>
        </p:spPr>
        <p:txBody>
          <a:bodyPr>
            <a:noAutofit/>
          </a:bodyPr>
          <a:lstStyle/>
          <a:p>
            <a:pPr marL="457200" indent="-457200">
              <a:lnSpc>
                <a:spcPct val="100000"/>
              </a:lnSpc>
              <a:spcBef>
                <a:spcPts val="1800"/>
              </a:spcBef>
              <a:buFont typeface="+mj-lt"/>
              <a:buAutoNum type="arabicPeriod"/>
            </a:pPr>
            <a:r>
              <a:rPr lang="en-US" altLang="en-US" sz="2500" dirty="0">
                <a:latin typeface="Garamond" panose="02020404030301010803" pitchFamily="18" charset="0"/>
              </a:rPr>
              <a:t>Introduce the GAPS Model of Service Quality.</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Demonstrate that the gaps model is a useful framework for understanding service quality in an organization.</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Explain why the most critical service quality gap to close is the customer gap.</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Show that four gaps that occur in companies are collectively responsible for the customer gap.</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Identify the factors responsible for each of the four provider gaps. </a:t>
            </a:r>
          </a:p>
        </p:txBody>
      </p:sp>
    </p:spTree>
    <p:extLst>
      <p:ext uri="{BB962C8B-B14F-4D97-AF65-F5344CB8AC3E}">
        <p14:creationId xmlns:p14="http://schemas.microsoft.com/office/powerpoint/2010/main" val="72505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2D571B-D398-F111-7D57-0453A09720B5}"/>
              </a:ext>
            </a:extLst>
          </p:cNvPr>
          <p:cNvPicPr>
            <a:picLocks noChangeAspect="1"/>
          </p:cNvPicPr>
          <p:nvPr/>
        </p:nvPicPr>
        <p:blipFill>
          <a:blip r:embed="rId2"/>
          <a:stretch>
            <a:fillRect/>
          </a:stretch>
        </p:blipFill>
        <p:spPr>
          <a:xfrm>
            <a:off x="695960" y="183521"/>
            <a:ext cx="10800080" cy="6490957"/>
          </a:xfrm>
          <a:prstGeom prst="rect">
            <a:avLst/>
          </a:prstGeom>
        </p:spPr>
      </p:pic>
    </p:spTree>
    <p:extLst>
      <p:ext uri="{BB962C8B-B14F-4D97-AF65-F5344CB8AC3E}">
        <p14:creationId xmlns:p14="http://schemas.microsoft.com/office/powerpoint/2010/main" val="348687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The Gaps Model of Service Quality</a:t>
            </a:r>
            <a:endParaRPr lang="en-US" altLang="en-US" sz="3600" dirty="0">
              <a:latin typeface="Garamond" panose="02020404030301010803" pitchFamily="18" charset="0"/>
            </a:endParaRP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1" y="1812909"/>
            <a:ext cx="5193838" cy="4077252"/>
          </a:xfrm>
        </p:spPr>
        <p:txBody>
          <a:bodyPr>
            <a:normAutofit fontScale="85000" lnSpcReduction="20000"/>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This model systematically organizes the key concepts, strategies, and decisions in service marketing.</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The customer gap is the difference between customer expectations and perceptions.</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About 49% of customers say they left a brand due to poor customer service, and those businesses might not even suspect that's the reason </a:t>
            </a:r>
            <a:r>
              <a:rPr lang="en-US" sz="2800" dirty="0">
                <a:latin typeface="Garamond" panose="02020404030301010803" pitchFamily="18" charset="0"/>
                <a:hlinkClick r:id="rId3"/>
              </a:rPr>
              <a:t>(Forbes, 2023)</a:t>
            </a:r>
            <a:r>
              <a:rPr lang="en-US" sz="2800" dirty="0">
                <a:latin typeface="Garamond" panose="02020404030301010803" pitchFamily="18" charset="0"/>
              </a:rPr>
              <a:t>.</a:t>
            </a:r>
          </a:p>
          <a:p>
            <a:pPr marL="414338" lvl="2" indent="0">
              <a:lnSpc>
                <a:spcPct val="100000"/>
              </a:lnSpc>
              <a:buNone/>
            </a:pPr>
            <a:endParaRPr lang="en-US" sz="2800" dirty="0">
              <a:latin typeface="Garamond" panose="02020404030301010803" pitchFamily="18" charset="0"/>
            </a:endParaRPr>
          </a:p>
        </p:txBody>
      </p:sp>
      <p:pic>
        <p:nvPicPr>
          <p:cNvPr id="2" name="Picture 1">
            <a:extLst>
              <a:ext uri="{FF2B5EF4-FFF2-40B4-BE49-F238E27FC236}">
                <a16:creationId xmlns:a16="http://schemas.microsoft.com/office/drawing/2014/main" id="{5780B921-79AD-29D6-FC6C-0BB09162A6F2}"/>
              </a:ext>
            </a:extLst>
          </p:cNvPr>
          <p:cNvPicPr>
            <a:picLocks noChangeAspect="1"/>
          </p:cNvPicPr>
          <p:nvPr/>
        </p:nvPicPr>
        <p:blipFill>
          <a:blip r:embed="rId4"/>
          <a:stretch>
            <a:fillRect/>
          </a:stretch>
        </p:blipFill>
        <p:spPr>
          <a:xfrm>
            <a:off x="6498124" y="1757791"/>
            <a:ext cx="5108015" cy="3342418"/>
          </a:xfrm>
          <a:prstGeom prst="rect">
            <a:avLst/>
          </a:prstGeom>
        </p:spPr>
      </p:pic>
    </p:spTree>
    <p:extLst>
      <p:ext uri="{BB962C8B-B14F-4D97-AF65-F5344CB8AC3E}">
        <p14:creationId xmlns:p14="http://schemas.microsoft.com/office/powerpoint/2010/main" val="311286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The Customer Gap</a:t>
            </a:r>
            <a:endParaRPr lang="en-US" altLang="en-US" sz="3600" dirty="0">
              <a:latin typeface="Garamond" panose="02020404030301010803" pitchFamily="18" charset="0"/>
            </a:endParaRPr>
          </a:p>
        </p:txBody>
      </p:sp>
      <p:pic>
        <p:nvPicPr>
          <p:cNvPr id="8" name="Picture 7">
            <a:extLst>
              <a:ext uri="{FF2B5EF4-FFF2-40B4-BE49-F238E27FC236}">
                <a16:creationId xmlns:a16="http://schemas.microsoft.com/office/drawing/2014/main" id="{B2D96D0C-47BC-9435-7FEB-4E44F8C753AD}"/>
              </a:ext>
            </a:extLst>
          </p:cNvPr>
          <p:cNvPicPr>
            <a:picLocks noChangeAspect="1"/>
          </p:cNvPicPr>
          <p:nvPr/>
        </p:nvPicPr>
        <p:blipFill>
          <a:blip r:embed="rId3"/>
          <a:stretch>
            <a:fillRect/>
          </a:stretch>
        </p:blipFill>
        <p:spPr>
          <a:xfrm>
            <a:off x="665017" y="1632124"/>
            <a:ext cx="3908857" cy="3626551"/>
          </a:xfrm>
          <a:prstGeom prst="rect">
            <a:avLst/>
          </a:prstGeom>
        </p:spPr>
      </p:pic>
      <p:pic>
        <p:nvPicPr>
          <p:cNvPr id="13" name="Picture 12">
            <a:extLst>
              <a:ext uri="{FF2B5EF4-FFF2-40B4-BE49-F238E27FC236}">
                <a16:creationId xmlns:a16="http://schemas.microsoft.com/office/drawing/2014/main" id="{562006AD-6E5E-792D-CAC7-352D6EE69D22}"/>
              </a:ext>
            </a:extLst>
          </p:cNvPr>
          <p:cNvPicPr>
            <a:picLocks noChangeAspect="1"/>
          </p:cNvPicPr>
          <p:nvPr/>
        </p:nvPicPr>
        <p:blipFill>
          <a:blip r:embed="rId4"/>
          <a:stretch>
            <a:fillRect/>
          </a:stretch>
        </p:blipFill>
        <p:spPr>
          <a:xfrm>
            <a:off x="4772030" y="1632125"/>
            <a:ext cx="6260147" cy="3621620"/>
          </a:xfrm>
          <a:prstGeom prst="rect">
            <a:avLst/>
          </a:prstGeom>
        </p:spPr>
      </p:pic>
      <p:sp>
        <p:nvSpPr>
          <p:cNvPr id="15" name="TextBox 14">
            <a:extLst>
              <a:ext uri="{FF2B5EF4-FFF2-40B4-BE49-F238E27FC236}">
                <a16:creationId xmlns:a16="http://schemas.microsoft.com/office/drawing/2014/main" id="{B1300509-482E-F391-FC7C-52A4FDB974D4}"/>
              </a:ext>
            </a:extLst>
          </p:cNvPr>
          <p:cNvSpPr txBox="1"/>
          <p:nvPr/>
        </p:nvSpPr>
        <p:spPr>
          <a:xfrm>
            <a:off x="651290" y="5473982"/>
            <a:ext cx="10250257" cy="461665"/>
          </a:xfrm>
          <a:prstGeom prst="rect">
            <a:avLst/>
          </a:prstGeom>
          <a:noFill/>
        </p:spPr>
        <p:txBody>
          <a:bodyPr wrap="square">
            <a:spAutoFit/>
          </a:bodyPr>
          <a:lstStyle/>
          <a:p>
            <a:r>
              <a:rPr lang="en-US" altLang="en-US" sz="2400" b="1" dirty="0">
                <a:latin typeface="Garamond" panose="02020404030301010803" pitchFamily="18" charset="0"/>
              </a:rPr>
              <a:t>Can you think of other examples of the customer gap?</a:t>
            </a:r>
            <a:endParaRPr lang="en-US" sz="2400" b="1" dirty="0"/>
          </a:p>
        </p:txBody>
      </p:sp>
    </p:spTree>
    <p:extLst>
      <p:ext uri="{BB962C8B-B14F-4D97-AF65-F5344CB8AC3E}">
        <p14:creationId xmlns:p14="http://schemas.microsoft.com/office/powerpoint/2010/main" val="325956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1257935" cy="723368"/>
          </a:xfrm>
        </p:spPr>
        <p:txBody>
          <a:bodyPr anchor="b">
            <a:normAutofit fontScale="90000"/>
          </a:bodyPr>
          <a:lstStyle/>
          <a:p>
            <a:r>
              <a:rPr lang="en-US" altLang="en-US" sz="3600" dirty="0">
                <a:solidFill>
                  <a:srgbClr val="0B5395"/>
                </a:solidFill>
                <a:latin typeface="Garamond" panose="02020404030301010803" pitchFamily="18" charset="0"/>
              </a:rPr>
              <a:t>To close the customer gap, 4 provider gaps need to be closed</a:t>
            </a:r>
            <a:endParaRPr lang="en-US" altLang="en-US" sz="3600" dirty="0">
              <a:latin typeface="Garamond" panose="02020404030301010803" pitchFamily="18" charset="0"/>
            </a:endParaRP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0" y="1564105"/>
            <a:ext cx="10404987" cy="3465095"/>
          </a:xfrm>
        </p:spPr>
        <p:txBody>
          <a:bodyPr>
            <a:normAutofit/>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The listening gap</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The service design and standards gap</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The service performance gap</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The communication gap</a:t>
            </a:r>
          </a:p>
        </p:txBody>
      </p:sp>
    </p:spTree>
    <p:extLst>
      <p:ext uri="{BB962C8B-B14F-4D97-AF65-F5344CB8AC3E}">
        <p14:creationId xmlns:p14="http://schemas.microsoft.com/office/powerpoint/2010/main" val="182758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The Listening Gap</a:t>
            </a:r>
          </a:p>
        </p:txBody>
      </p:sp>
      <p:sp>
        <p:nvSpPr>
          <p:cNvPr id="3" name="Content Placeholder 2">
            <a:extLst>
              <a:ext uri="{FF2B5EF4-FFF2-40B4-BE49-F238E27FC236}">
                <a16:creationId xmlns:a16="http://schemas.microsoft.com/office/drawing/2014/main" id="{7CD8FF81-9EE9-B264-5E85-3EBF9B5BEC26}"/>
              </a:ext>
            </a:extLst>
          </p:cNvPr>
          <p:cNvSpPr>
            <a:spLocks noGrp="1"/>
          </p:cNvSpPr>
          <p:nvPr>
            <p:ph idx="1"/>
          </p:nvPr>
        </p:nvSpPr>
        <p:spPr>
          <a:xfrm>
            <a:off x="1048215" y="1717288"/>
            <a:ext cx="6967629" cy="4259765"/>
          </a:xfrm>
        </p:spPr>
        <p:txBody>
          <a:bodyPr>
            <a:normAutofit/>
          </a:bodyPr>
          <a:lstStyle/>
          <a:p>
            <a:r>
              <a:rPr lang="en-US" sz="2800" dirty="0">
                <a:latin typeface="Garamond" panose="02020404030301010803" pitchFamily="18" charset="0"/>
              </a:rPr>
              <a:t>The difference between customer expectations of service and a company’s understanding of those expectations. </a:t>
            </a:r>
          </a:p>
          <a:p>
            <a:r>
              <a:rPr lang="en-US" sz="2800" dirty="0">
                <a:latin typeface="Garamond" panose="02020404030301010803" pitchFamily="18" charset="0"/>
              </a:rPr>
              <a:t>Reasons this occurs:</a:t>
            </a:r>
          </a:p>
          <a:p>
            <a:pPr lvl="1"/>
            <a:r>
              <a:rPr lang="en-US" sz="2400" dirty="0">
                <a:latin typeface="Garamond" panose="02020404030301010803" pitchFamily="18" charset="0"/>
              </a:rPr>
              <a:t>Inadequate understanding of customers</a:t>
            </a:r>
          </a:p>
          <a:p>
            <a:pPr lvl="1"/>
            <a:r>
              <a:rPr lang="en-US" sz="2400" dirty="0">
                <a:latin typeface="Garamond" panose="02020404030301010803" pitchFamily="18" charset="0"/>
              </a:rPr>
              <a:t>Managers / firms do not interact directly with customers</a:t>
            </a:r>
          </a:p>
          <a:p>
            <a:pPr lvl="1"/>
            <a:r>
              <a:rPr lang="en-US" sz="2400" dirty="0">
                <a:latin typeface="Garamond" panose="02020404030301010803" pitchFamily="18" charset="0"/>
              </a:rPr>
              <a:t>Unwilling to ask about expectations</a:t>
            </a:r>
          </a:p>
          <a:p>
            <a:pPr lvl="1"/>
            <a:r>
              <a:rPr lang="en-US" sz="2400" dirty="0">
                <a:latin typeface="Garamond" panose="02020404030301010803" pitchFamily="18" charset="0"/>
              </a:rPr>
              <a:t>Unprepared to address expectations</a:t>
            </a:r>
          </a:p>
          <a:p>
            <a:pPr lvl="1"/>
            <a:endParaRPr lang="en-US" sz="2400" dirty="0">
              <a:latin typeface="Garamond" panose="02020404030301010803" pitchFamily="18" charset="0"/>
            </a:endParaRPr>
          </a:p>
        </p:txBody>
      </p:sp>
      <p:pic>
        <p:nvPicPr>
          <p:cNvPr id="2" name="Picture 1">
            <a:extLst>
              <a:ext uri="{FF2B5EF4-FFF2-40B4-BE49-F238E27FC236}">
                <a16:creationId xmlns:a16="http://schemas.microsoft.com/office/drawing/2014/main" id="{432D571B-D398-F111-7D57-0453A09720B5}"/>
              </a:ext>
            </a:extLst>
          </p:cNvPr>
          <p:cNvPicPr>
            <a:picLocks noChangeAspect="1"/>
          </p:cNvPicPr>
          <p:nvPr/>
        </p:nvPicPr>
        <p:blipFill rotWithShape="1">
          <a:blip r:embed="rId3"/>
          <a:srcRect l="2462" t="6137" r="40251" b="13913"/>
          <a:stretch/>
        </p:blipFill>
        <p:spPr>
          <a:xfrm>
            <a:off x="8117503" y="2182091"/>
            <a:ext cx="3567815" cy="2992582"/>
          </a:xfrm>
          <a:prstGeom prst="rect">
            <a:avLst/>
          </a:prstGeom>
        </p:spPr>
      </p:pic>
    </p:spTree>
    <p:extLst>
      <p:ext uri="{BB962C8B-B14F-4D97-AF65-F5344CB8AC3E}">
        <p14:creationId xmlns:p14="http://schemas.microsoft.com/office/powerpoint/2010/main" val="98684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The </a:t>
            </a:r>
            <a:r>
              <a:rPr lang="en-US" altLang="en-US" sz="3600" dirty="0">
                <a:solidFill>
                  <a:srgbClr val="0B5395"/>
                </a:solidFill>
                <a:latin typeface="Garamond" panose="02020404030301010803" pitchFamily="18" charset="0"/>
              </a:rPr>
              <a:t>S</a:t>
            </a:r>
            <a:r>
              <a:rPr lang="en-US" altLang="en-US" sz="3600" b="1" dirty="0">
                <a:solidFill>
                  <a:srgbClr val="0B5395"/>
                </a:solidFill>
                <a:latin typeface="Garamond" panose="02020404030301010803" pitchFamily="18" charset="0"/>
              </a:rPr>
              <a:t>ervice </a:t>
            </a:r>
            <a:r>
              <a:rPr lang="en-US" altLang="en-US" sz="3600" dirty="0">
                <a:solidFill>
                  <a:srgbClr val="0B5395"/>
                </a:solidFill>
                <a:latin typeface="Garamond" panose="02020404030301010803" pitchFamily="18" charset="0"/>
              </a:rPr>
              <a:t>D</a:t>
            </a:r>
            <a:r>
              <a:rPr lang="en-US" altLang="en-US" sz="3600" b="1" dirty="0">
                <a:solidFill>
                  <a:srgbClr val="0B5395"/>
                </a:solidFill>
                <a:latin typeface="Garamond" panose="02020404030301010803" pitchFamily="18" charset="0"/>
              </a:rPr>
              <a:t>esign and Standards </a:t>
            </a:r>
            <a:r>
              <a:rPr lang="en-US" altLang="en-US" sz="3600" dirty="0">
                <a:solidFill>
                  <a:srgbClr val="0B5395"/>
                </a:solidFill>
                <a:latin typeface="Garamond" panose="02020404030301010803" pitchFamily="18" charset="0"/>
              </a:rPr>
              <a:t>G</a:t>
            </a:r>
            <a:r>
              <a:rPr lang="en-US" altLang="en-US" sz="3600" b="1" dirty="0">
                <a:solidFill>
                  <a:srgbClr val="0B5395"/>
                </a:solidFill>
                <a:latin typeface="Garamond" panose="02020404030301010803" pitchFamily="18" charset="0"/>
              </a:rPr>
              <a:t>ap</a:t>
            </a:r>
          </a:p>
        </p:txBody>
      </p:sp>
      <p:sp>
        <p:nvSpPr>
          <p:cNvPr id="3" name="Content Placeholder 2">
            <a:extLst>
              <a:ext uri="{FF2B5EF4-FFF2-40B4-BE49-F238E27FC236}">
                <a16:creationId xmlns:a16="http://schemas.microsoft.com/office/drawing/2014/main" id="{7CD8FF81-9EE9-B264-5E85-3EBF9B5BEC26}"/>
              </a:ext>
            </a:extLst>
          </p:cNvPr>
          <p:cNvSpPr>
            <a:spLocks noGrp="1"/>
          </p:cNvSpPr>
          <p:nvPr>
            <p:ph idx="1"/>
          </p:nvPr>
        </p:nvSpPr>
        <p:spPr>
          <a:xfrm>
            <a:off x="1048215" y="1717288"/>
            <a:ext cx="6837001" cy="4259765"/>
          </a:xfrm>
        </p:spPr>
        <p:txBody>
          <a:bodyPr>
            <a:normAutofit fontScale="92500" lnSpcReduction="10000"/>
          </a:bodyPr>
          <a:lstStyle/>
          <a:p>
            <a:r>
              <a:rPr lang="en-US" sz="2800" dirty="0">
                <a:latin typeface="Garamond" panose="02020404030301010803" pitchFamily="18" charset="0"/>
              </a:rPr>
              <a:t>The difference between company understanding of customer expectations and development of design and standards to match these expectations.</a:t>
            </a:r>
          </a:p>
          <a:p>
            <a:r>
              <a:rPr lang="en-US" sz="2800" dirty="0">
                <a:latin typeface="Garamond" panose="02020404030301010803" pitchFamily="18" charset="0"/>
              </a:rPr>
              <a:t>Reasons this occurs:</a:t>
            </a:r>
          </a:p>
          <a:p>
            <a:pPr lvl="1"/>
            <a:r>
              <a:rPr lang="en-US" sz="2400" dirty="0">
                <a:latin typeface="Garamond" panose="02020404030301010803" pitchFamily="18" charset="0"/>
              </a:rPr>
              <a:t>Belief that customer expectations are unreasonable or unrealistic</a:t>
            </a:r>
          </a:p>
          <a:p>
            <a:pPr lvl="1"/>
            <a:r>
              <a:rPr lang="en-US" sz="2400" dirty="0">
                <a:latin typeface="Garamond" panose="02020404030301010803" pitchFamily="18" charset="0"/>
              </a:rPr>
              <a:t>Belief that the degree of variability inherent in service defies standardization and thus setting standards will not achieve the goals</a:t>
            </a:r>
          </a:p>
          <a:p>
            <a:pPr lvl="1"/>
            <a:r>
              <a:rPr lang="en-US" sz="2400" dirty="0">
                <a:latin typeface="Garamond" panose="02020404030301010803" pitchFamily="18" charset="0"/>
              </a:rPr>
              <a:t>An unwillingness to tackle the challenges associated with creating service standards to deliver excellent service. </a:t>
            </a:r>
          </a:p>
        </p:txBody>
      </p:sp>
      <p:pic>
        <p:nvPicPr>
          <p:cNvPr id="2" name="Picture 1">
            <a:extLst>
              <a:ext uri="{FF2B5EF4-FFF2-40B4-BE49-F238E27FC236}">
                <a16:creationId xmlns:a16="http://schemas.microsoft.com/office/drawing/2014/main" id="{5B4E6119-792E-9D6F-9A6E-38AD0B20AB7E}"/>
              </a:ext>
            </a:extLst>
          </p:cNvPr>
          <p:cNvPicPr>
            <a:picLocks noChangeAspect="1"/>
          </p:cNvPicPr>
          <p:nvPr/>
        </p:nvPicPr>
        <p:blipFill rotWithShape="1">
          <a:blip r:embed="rId3"/>
          <a:srcRect l="34244" t="53886" r="38824" b="14837"/>
          <a:stretch/>
        </p:blipFill>
        <p:spPr>
          <a:xfrm>
            <a:off x="8003970" y="2401143"/>
            <a:ext cx="3467594" cy="2420238"/>
          </a:xfrm>
          <a:prstGeom prst="rect">
            <a:avLst/>
          </a:prstGeom>
        </p:spPr>
      </p:pic>
    </p:spTree>
    <p:extLst>
      <p:ext uri="{BB962C8B-B14F-4D97-AF65-F5344CB8AC3E}">
        <p14:creationId xmlns:p14="http://schemas.microsoft.com/office/powerpoint/2010/main" val="2826024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The </a:t>
            </a:r>
            <a:r>
              <a:rPr lang="en-US" altLang="en-US" sz="3600" dirty="0">
                <a:solidFill>
                  <a:srgbClr val="0B5395"/>
                </a:solidFill>
                <a:latin typeface="Garamond" panose="02020404030301010803" pitchFamily="18" charset="0"/>
              </a:rPr>
              <a:t>S</a:t>
            </a:r>
            <a:r>
              <a:rPr lang="en-US" altLang="en-US" sz="3600" b="1" dirty="0">
                <a:solidFill>
                  <a:srgbClr val="0B5395"/>
                </a:solidFill>
                <a:latin typeface="Garamond" panose="02020404030301010803" pitchFamily="18" charset="0"/>
              </a:rPr>
              <a:t>ervice Performance </a:t>
            </a:r>
            <a:r>
              <a:rPr lang="en-US" altLang="en-US" sz="3600" dirty="0">
                <a:solidFill>
                  <a:srgbClr val="0B5395"/>
                </a:solidFill>
                <a:latin typeface="Garamond" panose="02020404030301010803" pitchFamily="18" charset="0"/>
              </a:rPr>
              <a:t>G</a:t>
            </a:r>
            <a:r>
              <a:rPr lang="en-US" altLang="en-US" sz="3600" b="1" dirty="0">
                <a:solidFill>
                  <a:srgbClr val="0B5395"/>
                </a:solidFill>
                <a:latin typeface="Garamond" panose="02020404030301010803" pitchFamily="18" charset="0"/>
              </a:rPr>
              <a:t>ap</a:t>
            </a:r>
          </a:p>
        </p:txBody>
      </p:sp>
      <p:sp>
        <p:nvSpPr>
          <p:cNvPr id="3" name="Content Placeholder 2">
            <a:extLst>
              <a:ext uri="{FF2B5EF4-FFF2-40B4-BE49-F238E27FC236}">
                <a16:creationId xmlns:a16="http://schemas.microsoft.com/office/drawing/2014/main" id="{7CD8FF81-9EE9-B264-5E85-3EBF9B5BEC26}"/>
              </a:ext>
            </a:extLst>
          </p:cNvPr>
          <p:cNvSpPr>
            <a:spLocks noGrp="1"/>
          </p:cNvSpPr>
          <p:nvPr>
            <p:ph idx="1"/>
          </p:nvPr>
        </p:nvSpPr>
        <p:spPr>
          <a:xfrm>
            <a:off x="1048216" y="1717288"/>
            <a:ext cx="6991380" cy="4259765"/>
          </a:xfrm>
        </p:spPr>
        <p:txBody>
          <a:bodyPr>
            <a:normAutofit fontScale="92500" lnSpcReduction="10000"/>
          </a:bodyPr>
          <a:lstStyle/>
          <a:p>
            <a:r>
              <a:rPr lang="en-US" sz="2800" b="0" i="0" dirty="0">
                <a:solidFill>
                  <a:srgbClr val="374151"/>
                </a:solidFill>
                <a:effectLst/>
                <a:latin typeface="Garamond" panose="02020404030301010803" pitchFamily="18" charset="0"/>
              </a:rPr>
              <a:t>This gap is the disparity between customer-driven standards and </a:t>
            </a:r>
            <a:r>
              <a:rPr lang="en-US" sz="2800" b="0" i="1" dirty="0">
                <a:solidFill>
                  <a:srgbClr val="374151"/>
                </a:solidFill>
                <a:effectLst/>
                <a:latin typeface="Garamond" panose="02020404030301010803" pitchFamily="18" charset="0"/>
              </a:rPr>
              <a:t>real</a:t>
            </a:r>
            <a:r>
              <a:rPr lang="en-US" sz="2800" b="0" i="0" dirty="0">
                <a:solidFill>
                  <a:srgbClr val="374151"/>
                </a:solidFill>
                <a:effectLst/>
                <a:latin typeface="Garamond" panose="02020404030301010803" pitchFamily="18" charset="0"/>
              </a:rPr>
              <a:t> service performance. </a:t>
            </a:r>
          </a:p>
          <a:p>
            <a:r>
              <a:rPr lang="en-US" sz="2800" b="0" i="0" dirty="0">
                <a:solidFill>
                  <a:srgbClr val="374151"/>
                </a:solidFill>
                <a:effectLst/>
                <a:latin typeface="Garamond" panose="02020404030301010803" pitchFamily="18" charset="0"/>
              </a:rPr>
              <a:t>Service excellence requires more than design and standards; actual service performance is essential.</a:t>
            </a:r>
          </a:p>
          <a:p>
            <a:r>
              <a:rPr lang="en-US" sz="2800" b="0" i="0" dirty="0">
                <a:solidFill>
                  <a:srgbClr val="374151"/>
                </a:solidFill>
                <a:effectLst/>
                <a:latin typeface="Garamond" panose="02020404030301010803" pitchFamily="18" charset="0"/>
              </a:rPr>
              <a:t>Critical inhibitors include:</a:t>
            </a:r>
          </a:p>
          <a:p>
            <a:pPr lvl="1"/>
            <a:r>
              <a:rPr lang="en-US" sz="2600" dirty="0">
                <a:solidFill>
                  <a:srgbClr val="374151"/>
                </a:solidFill>
                <a:latin typeface="Garamond" panose="02020404030301010803" pitchFamily="18" charset="0"/>
              </a:rPr>
              <a:t>Employees &amp; customers do not understand their roles</a:t>
            </a:r>
          </a:p>
          <a:p>
            <a:pPr lvl="1"/>
            <a:r>
              <a:rPr lang="en-US" sz="2600" b="0" i="0" dirty="0">
                <a:solidFill>
                  <a:srgbClr val="374151"/>
                </a:solidFill>
                <a:effectLst/>
                <a:latin typeface="Garamond" panose="02020404030301010803" pitchFamily="18" charset="0"/>
              </a:rPr>
              <a:t>Inadequate technology</a:t>
            </a:r>
            <a:r>
              <a:rPr lang="en-US" sz="2600" dirty="0">
                <a:solidFill>
                  <a:srgbClr val="374151"/>
                </a:solidFill>
                <a:latin typeface="Garamond" panose="02020404030301010803" pitchFamily="18" charset="0"/>
              </a:rPr>
              <a:t>, support</a:t>
            </a:r>
          </a:p>
          <a:p>
            <a:pPr lvl="1"/>
            <a:r>
              <a:rPr lang="en-US" sz="2600" b="0" i="0" dirty="0">
                <a:solidFill>
                  <a:srgbClr val="374151"/>
                </a:solidFill>
                <a:effectLst/>
                <a:latin typeface="Garamond" panose="02020404030301010803" pitchFamily="18" charset="0"/>
              </a:rPr>
              <a:t>Internal practices requiring cross-functional attention</a:t>
            </a:r>
          </a:p>
        </p:txBody>
      </p:sp>
      <p:pic>
        <p:nvPicPr>
          <p:cNvPr id="2" name="Picture 1">
            <a:extLst>
              <a:ext uri="{FF2B5EF4-FFF2-40B4-BE49-F238E27FC236}">
                <a16:creationId xmlns:a16="http://schemas.microsoft.com/office/drawing/2014/main" id="{32C1A296-BDA5-FB6F-50A8-CEB736ADE887}"/>
              </a:ext>
            </a:extLst>
          </p:cNvPr>
          <p:cNvPicPr>
            <a:picLocks noChangeAspect="1"/>
          </p:cNvPicPr>
          <p:nvPr/>
        </p:nvPicPr>
        <p:blipFill rotWithShape="1">
          <a:blip r:embed="rId3"/>
          <a:srcRect l="34244" t="31450" r="38824" b="35095"/>
          <a:stretch/>
        </p:blipFill>
        <p:spPr>
          <a:xfrm>
            <a:off x="8312728" y="2434442"/>
            <a:ext cx="3467594" cy="2588821"/>
          </a:xfrm>
          <a:prstGeom prst="rect">
            <a:avLst/>
          </a:prstGeom>
        </p:spPr>
      </p:pic>
    </p:spTree>
    <p:extLst>
      <p:ext uri="{BB962C8B-B14F-4D97-AF65-F5344CB8AC3E}">
        <p14:creationId xmlns:p14="http://schemas.microsoft.com/office/powerpoint/2010/main" val="305215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The </a:t>
            </a:r>
            <a:r>
              <a:rPr lang="en-US" altLang="en-US" sz="3600" dirty="0">
                <a:solidFill>
                  <a:srgbClr val="0B5395"/>
                </a:solidFill>
                <a:latin typeface="Garamond" panose="02020404030301010803" pitchFamily="18" charset="0"/>
              </a:rPr>
              <a:t>Communication</a:t>
            </a:r>
            <a:r>
              <a:rPr lang="en-US" altLang="en-US" sz="3600" b="1" dirty="0">
                <a:solidFill>
                  <a:srgbClr val="0B5395"/>
                </a:solidFill>
                <a:latin typeface="Garamond" panose="02020404030301010803" pitchFamily="18" charset="0"/>
              </a:rPr>
              <a:t> </a:t>
            </a:r>
            <a:r>
              <a:rPr lang="en-US" altLang="en-US" sz="3600" dirty="0">
                <a:solidFill>
                  <a:srgbClr val="0B5395"/>
                </a:solidFill>
                <a:latin typeface="Garamond" panose="02020404030301010803" pitchFamily="18" charset="0"/>
              </a:rPr>
              <a:t>G</a:t>
            </a:r>
            <a:r>
              <a:rPr lang="en-US" altLang="en-US" sz="3600" b="1" dirty="0">
                <a:solidFill>
                  <a:srgbClr val="0B5395"/>
                </a:solidFill>
                <a:latin typeface="Garamond" panose="02020404030301010803" pitchFamily="18" charset="0"/>
              </a:rPr>
              <a:t>ap</a:t>
            </a:r>
          </a:p>
        </p:txBody>
      </p:sp>
      <p:sp>
        <p:nvSpPr>
          <p:cNvPr id="3" name="Content Placeholder 2">
            <a:extLst>
              <a:ext uri="{FF2B5EF4-FFF2-40B4-BE49-F238E27FC236}">
                <a16:creationId xmlns:a16="http://schemas.microsoft.com/office/drawing/2014/main" id="{7CD8FF81-9EE9-B264-5E85-3EBF9B5BEC26}"/>
              </a:ext>
            </a:extLst>
          </p:cNvPr>
          <p:cNvSpPr>
            <a:spLocks noGrp="1"/>
          </p:cNvSpPr>
          <p:nvPr>
            <p:ph idx="1"/>
          </p:nvPr>
        </p:nvSpPr>
        <p:spPr>
          <a:xfrm>
            <a:off x="1048216" y="1717289"/>
            <a:ext cx="10771690" cy="2024114"/>
          </a:xfrm>
        </p:spPr>
        <p:txBody>
          <a:bodyPr vert="horz" lIns="91440" tIns="45720" rIns="91440" bIns="45720" rtlCol="0">
            <a:normAutofit/>
          </a:bodyPr>
          <a:lstStyle/>
          <a:p>
            <a:r>
              <a:rPr lang="en-US" sz="2400" dirty="0">
                <a:solidFill>
                  <a:srgbClr val="374151"/>
                </a:solidFill>
                <a:latin typeface="Garamond" panose="02020404030301010803" pitchFamily="18" charset="0"/>
              </a:rPr>
              <a:t>This gap illustrates the difference between the actual service delivery and the service provider’s external communications. </a:t>
            </a:r>
          </a:p>
          <a:p>
            <a:r>
              <a:rPr lang="en-US" sz="2400" dirty="0">
                <a:solidFill>
                  <a:srgbClr val="374151"/>
                </a:solidFill>
                <a:latin typeface="Garamond" panose="02020404030301010803" pitchFamily="18" charset="0"/>
              </a:rPr>
              <a:t>External communications impact customer perceptions by giving cues that allow customers to assess quality or educate customers on the product.</a:t>
            </a:r>
          </a:p>
        </p:txBody>
      </p:sp>
      <p:pic>
        <p:nvPicPr>
          <p:cNvPr id="2" name="Picture 1">
            <a:extLst>
              <a:ext uri="{FF2B5EF4-FFF2-40B4-BE49-F238E27FC236}">
                <a16:creationId xmlns:a16="http://schemas.microsoft.com/office/drawing/2014/main" id="{FE5A508E-23B1-6405-9CF4-7FE7B50CE1CE}"/>
              </a:ext>
            </a:extLst>
          </p:cNvPr>
          <p:cNvPicPr>
            <a:picLocks noChangeAspect="1"/>
          </p:cNvPicPr>
          <p:nvPr/>
        </p:nvPicPr>
        <p:blipFill rotWithShape="1">
          <a:blip r:embed="rId3"/>
          <a:srcRect l="34244" t="6128" r="6080" b="55698"/>
          <a:stretch/>
        </p:blipFill>
        <p:spPr>
          <a:xfrm>
            <a:off x="6555179" y="3847170"/>
            <a:ext cx="5264727" cy="2024113"/>
          </a:xfrm>
          <a:prstGeom prst="rect">
            <a:avLst/>
          </a:prstGeom>
        </p:spPr>
      </p:pic>
      <p:sp>
        <p:nvSpPr>
          <p:cNvPr id="6" name="TextBox 5">
            <a:extLst>
              <a:ext uri="{FF2B5EF4-FFF2-40B4-BE49-F238E27FC236}">
                <a16:creationId xmlns:a16="http://schemas.microsoft.com/office/drawing/2014/main" id="{2538FC5C-6535-2930-0B8D-D1435927277E}"/>
              </a:ext>
            </a:extLst>
          </p:cNvPr>
          <p:cNvSpPr txBox="1"/>
          <p:nvPr/>
        </p:nvSpPr>
        <p:spPr>
          <a:xfrm>
            <a:off x="1048216" y="3429000"/>
            <a:ext cx="5264727" cy="2330532"/>
          </a:xfrm>
          <a:prstGeom prst="rect">
            <a:avLst/>
          </a:prstGeom>
        </p:spPr>
        <p:txBody>
          <a:bodyPr vert="horz" lIns="91440" tIns="45720" rIns="91440" bIns="45720" rtlCol="0">
            <a:normAutofit fontScale="92500" lnSpcReduction="10000"/>
          </a:bodyPr>
          <a:lstStyle>
            <a:lvl1pPr marL="228600" indent="-228600">
              <a:lnSpc>
                <a:spcPct val="90000"/>
              </a:lnSpc>
              <a:spcBef>
                <a:spcPts val="1800"/>
              </a:spcBef>
              <a:buClr>
                <a:schemeClr val="accent1">
                  <a:lumMod val="75000"/>
                </a:schemeClr>
              </a:buClr>
              <a:buSzPct val="100000"/>
              <a:buFont typeface="Arial" pitchFamily="34" charset="0"/>
              <a:buChar char="▪"/>
              <a:defRPr sz="2400">
                <a:solidFill>
                  <a:srgbClr val="374151"/>
                </a:solidFill>
                <a:latin typeface="Garamond" panose="02020404030301010803" pitchFamily="18" charset="0"/>
              </a:defRPr>
            </a:lvl1pPr>
            <a:lvl2pPr indent="-182880">
              <a:lnSpc>
                <a:spcPct val="90000"/>
              </a:lnSpc>
              <a:spcBef>
                <a:spcPts val="1200"/>
              </a:spcBef>
              <a:buClr>
                <a:schemeClr val="accent1">
                  <a:lumMod val="75000"/>
                </a:schemeClr>
              </a:buClr>
              <a:buSzPct val="100000"/>
              <a:buFont typeface="Arial" pitchFamily="34" charset="0"/>
              <a:buChar char="▪"/>
            </a:lvl2pPr>
            <a:lvl3pPr marL="685800" indent="-179388">
              <a:lnSpc>
                <a:spcPct val="90000"/>
              </a:lnSpc>
              <a:spcBef>
                <a:spcPts val="800"/>
              </a:spcBef>
              <a:buClr>
                <a:schemeClr val="accent1">
                  <a:lumMod val="75000"/>
                </a:schemeClr>
              </a:buClr>
              <a:buSzPct val="100000"/>
              <a:buFont typeface="Arial" pitchFamily="34" charset="0"/>
              <a:buChar char="▪"/>
              <a:defRPr sz="1600"/>
            </a:lvl3pPr>
            <a:lvl4pPr marL="914400" indent="-182880">
              <a:lnSpc>
                <a:spcPct val="90000"/>
              </a:lnSpc>
              <a:spcBef>
                <a:spcPts val="800"/>
              </a:spcBef>
              <a:buClr>
                <a:schemeClr val="accent1">
                  <a:lumMod val="75000"/>
                </a:schemeClr>
              </a:buClr>
              <a:buSzPct val="100000"/>
              <a:buFont typeface="Arial" pitchFamily="34" charset="0"/>
              <a:buChar char="▪"/>
              <a:defRPr sz="1400"/>
            </a:lvl4pPr>
            <a:lvl5pPr marL="1143000" indent="-179388">
              <a:lnSpc>
                <a:spcPct val="90000"/>
              </a:lnSpc>
              <a:spcBef>
                <a:spcPts val="600"/>
              </a:spcBef>
              <a:buClr>
                <a:schemeClr val="accent1">
                  <a:lumMod val="75000"/>
                </a:schemeClr>
              </a:buClr>
              <a:buSzPct val="100000"/>
              <a:buFont typeface="Arial" pitchFamily="34" charset="0"/>
              <a:buChar char="▪"/>
              <a:defRPr sz="1400"/>
            </a:lvl5pPr>
            <a:lvl6pPr marL="1371600" indent="-182880">
              <a:lnSpc>
                <a:spcPct val="90000"/>
              </a:lnSpc>
              <a:spcBef>
                <a:spcPts val="600"/>
              </a:spcBef>
              <a:buClr>
                <a:schemeClr val="accent1">
                  <a:lumMod val="75000"/>
                </a:schemeClr>
              </a:buClr>
              <a:buSzPct val="100000"/>
              <a:buFont typeface="Arial" pitchFamily="34" charset="0"/>
              <a:buChar char="▪"/>
              <a:defRPr sz="1400"/>
            </a:lvl6pPr>
            <a:lvl7pPr marL="1600200" indent="-179388">
              <a:lnSpc>
                <a:spcPct val="90000"/>
              </a:lnSpc>
              <a:spcBef>
                <a:spcPts val="600"/>
              </a:spcBef>
              <a:buClr>
                <a:schemeClr val="accent1">
                  <a:lumMod val="75000"/>
                </a:schemeClr>
              </a:buClr>
              <a:buSzPct val="100000"/>
              <a:buFont typeface="Arial" pitchFamily="34" charset="0"/>
              <a:buChar char="▪"/>
              <a:defRPr sz="1400"/>
            </a:lvl7pPr>
            <a:lvl8pPr marL="1828800" indent="-182880">
              <a:lnSpc>
                <a:spcPct val="90000"/>
              </a:lnSpc>
              <a:spcBef>
                <a:spcPts val="600"/>
              </a:spcBef>
              <a:buClr>
                <a:schemeClr val="accent1">
                  <a:lumMod val="75000"/>
                </a:schemeClr>
              </a:buClr>
              <a:buSzPct val="100000"/>
              <a:buFont typeface="Arial" pitchFamily="34" charset="0"/>
              <a:buChar char="▪"/>
              <a:defRPr sz="1400"/>
            </a:lvl8pPr>
            <a:lvl9pPr marL="1878012" indent="0">
              <a:lnSpc>
                <a:spcPct val="90000"/>
              </a:lnSpc>
              <a:spcBef>
                <a:spcPts val="600"/>
              </a:spcBef>
              <a:buClr>
                <a:schemeClr val="accent1">
                  <a:lumMod val="75000"/>
                </a:schemeClr>
              </a:buClr>
              <a:buSzPct val="100000"/>
              <a:buFont typeface="Arial" pitchFamily="34" charset="0"/>
              <a:buNone/>
              <a:defRPr sz="1400"/>
            </a:lvl9pPr>
          </a:lstStyle>
          <a:p>
            <a:r>
              <a:rPr lang="en-US" dirty="0"/>
              <a:t>Reasons for this gap:</a:t>
            </a:r>
          </a:p>
          <a:p>
            <a:pPr marL="457200" lvl="2" indent="-228600">
              <a:spcBef>
                <a:spcPts val="1800"/>
              </a:spcBef>
            </a:pPr>
            <a:r>
              <a:rPr lang="en-US" sz="2200" dirty="0">
                <a:solidFill>
                  <a:srgbClr val="374151"/>
                </a:solidFill>
                <a:latin typeface="Garamond" panose="02020404030301010803" pitchFamily="18" charset="0"/>
              </a:rPr>
              <a:t>Overpromising</a:t>
            </a:r>
          </a:p>
          <a:p>
            <a:pPr marL="457200" lvl="2" indent="-228600">
              <a:spcBef>
                <a:spcPts val="1800"/>
              </a:spcBef>
            </a:pPr>
            <a:r>
              <a:rPr lang="en-US" sz="2200" dirty="0">
                <a:solidFill>
                  <a:srgbClr val="374151"/>
                </a:solidFill>
                <a:latin typeface="Garamond" panose="02020404030301010803" pitchFamily="18" charset="0"/>
              </a:rPr>
              <a:t>Lack of integrated marketing communications</a:t>
            </a:r>
          </a:p>
          <a:p>
            <a:pPr marL="457200" lvl="2" indent="-228600">
              <a:spcBef>
                <a:spcPts val="1800"/>
              </a:spcBef>
            </a:pPr>
            <a:r>
              <a:rPr lang="en-US" sz="2200" dirty="0">
                <a:solidFill>
                  <a:srgbClr val="374151"/>
                </a:solidFill>
                <a:latin typeface="Garamond" panose="02020404030301010803" pitchFamily="18" charset="0"/>
              </a:rPr>
              <a:t>Inappropriate pricing</a:t>
            </a:r>
          </a:p>
          <a:p>
            <a:pPr marL="457200" lvl="2" indent="-228600">
              <a:spcBef>
                <a:spcPts val="1800"/>
              </a:spcBef>
            </a:pPr>
            <a:r>
              <a:rPr lang="en-US" sz="2200" dirty="0">
                <a:solidFill>
                  <a:srgbClr val="374151"/>
                </a:solidFill>
                <a:latin typeface="Garamond" panose="02020404030301010803" pitchFamily="18" charset="0"/>
              </a:rPr>
              <a:t>Insufficient internal communication</a:t>
            </a:r>
          </a:p>
        </p:txBody>
      </p:sp>
    </p:spTree>
    <p:extLst>
      <p:ext uri="{BB962C8B-B14F-4D97-AF65-F5344CB8AC3E}">
        <p14:creationId xmlns:p14="http://schemas.microsoft.com/office/powerpoint/2010/main" val="3675840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5F747-1CB0-DEDB-A57C-FBD1463664A8}"/>
              </a:ext>
            </a:extLst>
          </p:cNvPr>
          <p:cNvSpPr>
            <a:spLocks noGrp="1"/>
          </p:cNvSpPr>
          <p:nvPr>
            <p:ph type="title"/>
          </p:nvPr>
        </p:nvSpPr>
        <p:spPr/>
        <p:txBody>
          <a:bodyPr/>
          <a:lstStyle/>
          <a:p>
            <a:r>
              <a:rPr lang="en-US" dirty="0">
                <a:latin typeface="Garamond" panose="02020404030301010803" pitchFamily="18" charset="0"/>
              </a:rPr>
              <a:t>So how do we close these gaps?</a:t>
            </a:r>
          </a:p>
        </p:txBody>
      </p:sp>
      <p:sp>
        <p:nvSpPr>
          <p:cNvPr id="3" name="Text Placeholder 2">
            <a:extLst>
              <a:ext uri="{FF2B5EF4-FFF2-40B4-BE49-F238E27FC236}">
                <a16:creationId xmlns:a16="http://schemas.microsoft.com/office/drawing/2014/main" id="{E0AD1CFF-39C6-7189-5768-67D6751613BB}"/>
              </a:ext>
            </a:extLst>
          </p:cNvPr>
          <p:cNvSpPr>
            <a:spLocks noGrp="1"/>
          </p:cNvSpPr>
          <p:nvPr>
            <p:ph type="body" idx="1"/>
          </p:nvPr>
        </p:nvSpPr>
        <p:spPr/>
        <p:txBody>
          <a:bodyPr/>
          <a:lstStyle/>
          <a:p>
            <a:r>
              <a:rPr lang="en-US" dirty="0">
                <a:latin typeface="Garamond" panose="02020404030301010803" pitchFamily="18" charset="0"/>
              </a:rPr>
              <a:t>Putting it all together…</a:t>
            </a:r>
          </a:p>
        </p:txBody>
      </p:sp>
    </p:spTree>
    <p:extLst>
      <p:ext uri="{BB962C8B-B14F-4D97-AF65-F5344CB8AC3E}">
        <p14:creationId xmlns:p14="http://schemas.microsoft.com/office/powerpoint/2010/main" val="37167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Closing the Gaps</a:t>
            </a:r>
          </a:p>
        </p:txBody>
      </p:sp>
      <p:sp>
        <p:nvSpPr>
          <p:cNvPr id="3" name="Content Placeholder 2">
            <a:extLst>
              <a:ext uri="{FF2B5EF4-FFF2-40B4-BE49-F238E27FC236}">
                <a16:creationId xmlns:a16="http://schemas.microsoft.com/office/drawing/2014/main" id="{7CD8FF81-9EE9-B264-5E85-3EBF9B5BEC26}"/>
              </a:ext>
            </a:extLst>
          </p:cNvPr>
          <p:cNvSpPr>
            <a:spLocks noGrp="1"/>
          </p:cNvSpPr>
          <p:nvPr>
            <p:ph idx="1"/>
          </p:nvPr>
        </p:nvSpPr>
        <p:spPr>
          <a:xfrm>
            <a:off x="1048216" y="1717288"/>
            <a:ext cx="4904910" cy="4259765"/>
          </a:xfrm>
        </p:spPr>
        <p:txBody>
          <a:bodyPr>
            <a:normAutofit/>
          </a:bodyPr>
          <a:lstStyle/>
          <a:p>
            <a:r>
              <a:rPr lang="en-US" sz="2800" b="0" i="0" dirty="0">
                <a:solidFill>
                  <a:srgbClr val="374151"/>
                </a:solidFill>
                <a:effectLst/>
                <a:latin typeface="Garamond" panose="02020404030301010803" pitchFamily="18" charset="0"/>
              </a:rPr>
              <a:t>All following chapters in this course are aimed at developing strategies to close these gaps.</a:t>
            </a:r>
          </a:p>
          <a:p>
            <a:r>
              <a:rPr lang="en-US" sz="2800" b="0" i="0" dirty="0">
                <a:solidFill>
                  <a:srgbClr val="374151"/>
                </a:solidFill>
                <a:effectLst/>
                <a:latin typeface="Garamond" panose="02020404030301010803" pitchFamily="18" charset="0"/>
              </a:rPr>
              <a:t>Remember we started with this….</a:t>
            </a:r>
          </a:p>
        </p:txBody>
      </p:sp>
      <p:pic>
        <p:nvPicPr>
          <p:cNvPr id="2" name="Picture 1">
            <a:extLst>
              <a:ext uri="{FF2B5EF4-FFF2-40B4-BE49-F238E27FC236}">
                <a16:creationId xmlns:a16="http://schemas.microsoft.com/office/drawing/2014/main" id="{2F279026-4A8E-3253-2F92-415064354800}"/>
              </a:ext>
            </a:extLst>
          </p:cNvPr>
          <p:cNvPicPr>
            <a:picLocks noChangeAspect="1"/>
          </p:cNvPicPr>
          <p:nvPr/>
        </p:nvPicPr>
        <p:blipFill>
          <a:blip r:embed="rId3"/>
          <a:stretch>
            <a:fillRect/>
          </a:stretch>
        </p:blipFill>
        <p:spPr>
          <a:xfrm>
            <a:off x="6238876" y="2634635"/>
            <a:ext cx="5108015" cy="3342418"/>
          </a:xfrm>
          <a:prstGeom prst="rect">
            <a:avLst/>
          </a:prstGeom>
        </p:spPr>
      </p:pic>
    </p:spTree>
    <p:extLst>
      <p:ext uri="{BB962C8B-B14F-4D97-AF65-F5344CB8AC3E}">
        <p14:creationId xmlns:p14="http://schemas.microsoft.com/office/powerpoint/2010/main" val="78631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2D571B-D398-F111-7D57-0453A09720B5}"/>
              </a:ext>
            </a:extLst>
          </p:cNvPr>
          <p:cNvPicPr>
            <a:picLocks noChangeAspect="1"/>
          </p:cNvPicPr>
          <p:nvPr/>
        </p:nvPicPr>
        <p:blipFill>
          <a:blip r:embed="rId2"/>
          <a:stretch>
            <a:fillRect/>
          </a:stretch>
        </p:blipFill>
        <p:spPr>
          <a:xfrm>
            <a:off x="695960" y="183521"/>
            <a:ext cx="10800080" cy="6490957"/>
          </a:xfrm>
          <a:prstGeom prst="rect">
            <a:avLst/>
          </a:prstGeom>
        </p:spPr>
      </p:pic>
    </p:spTree>
    <p:extLst>
      <p:ext uri="{BB962C8B-B14F-4D97-AF65-F5344CB8AC3E}">
        <p14:creationId xmlns:p14="http://schemas.microsoft.com/office/powerpoint/2010/main" val="82201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7858-EB54-B582-C6B1-C016140D0B3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247E98-3A93-79C7-34CD-502A4FC475EC}"/>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In-Class Assignment</a:t>
            </a:r>
          </a:p>
        </p:txBody>
      </p:sp>
      <p:sp>
        <p:nvSpPr>
          <p:cNvPr id="5" name="Content Placeholder 2">
            <a:extLst>
              <a:ext uri="{FF2B5EF4-FFF2-40B4-BE49-F238E27FC236}">
                <a16:creationId xmlns:a16="http://schemas.microsoft.com/office/drawing/2014/main" id="{A102FBCB-8CAE-FD22-ACF4-BC3538156903}"/>
              </a:ext>
            </a:extLst>
          </p:cNvPr>
          <p:cNvSpPr>
            <a:spLocks noGrp="1"/>
          </p:cNvSpPr>
          <p:nvPr>
            <p:ph idx="1"/>
          </p:nvPr>
        </p:nvSpPr>
        <p:spPr>
          <a:xfrm>
            <a:off x="1023445" y="1744579"/>
            <a:ext cx="10145110" cy="4152354"/>
          </a:xfrm>
        </p:spPr>
        <p:txBody>
          <a:bodyPr>
            <a:noAutofit/>
          </a:bodyPr>
          <a:lstStyle/>
          <a:p>
            <a:pPr>
              <a:lnSpc>
                <a:spcPct val="100000"/>
              </a:lnSpc>
              <a:buFont typeface="Arial" panose="020B0604020202020204" pitchFamily="34" charset="0"/>
              <a:buChar char="•"/>
            </a:pPr>
            <a:r>
              <a:rPr lang="en-US" altLang="en-US" sz="2500" dirty="0">
                <a:latin typeface="Garamond" panose="02020404030301010803" pitchFamily="18" charset="0"/>
              </a:rPr>
              <a:t>Read the WSJ article on Starbucks’ policy reversal and discuss the following questions:</a:t>
            </a:r>
          </a:p>
          <a:p>
            <a:pPr lvl="1">
              <a:lnSpc>
                <a:spcPct val="100000"/>
              </a:lnSpc>
              <a:buFont typeface="Arial" panose="020B0604020202020204" pitchFamily="34" charset="0"/>
              <a:buChar char="•"/>
            </a:pPr>
            <a:r>
              <a:rPr lang="en-US" altLang="en-US" sz="2300" dirty="0">
                <a:latin typeface="Garamond" panose="02020404030301010803" pitchFamily="18" charset="0"/>
              </a:rPr>
              <a:t>Which gap do you think they are most attempting to close through this action?</a:t>
            </a:r>
          </a:p>
          <a:p>
            <a:pPr lvl="1">
              <a:lnSpc>
                <a:spcPct val="100000"/>
              </a:lnSpc>
              <a:buFont typeface="Arial" panose="020B0604020202020204" pitchFamily="34" charset="0"/>
              <a:buChar char="•"/>
            </a:pPr>
            <a:r>
              <a:rPr lang="en-US" altLang="en-US" sz="2300" dirty="0">
                <a:latin typeface="Garamond" panose="02020404030301010803" pitchFamily="18" charset="0"/>
              </a:rPr>
              <a:t>How does it impact employee?</a:t>
            </a:r>
          </a:p>
          <a:p>
            <a:pPr lvl="1">
              <a:lnSpc>
                <a:spcPct val="100000"/>
              </a:lnSpc>
              <a:buFont typeface="Arial" panose="020B0604020202020204" pitchFamily="34" charset="0"/>
              <a:buChar char="•"/>
            </a:pPr>
            <a:r>
              <a:rPr lang="en-US" altLang="en-US" sz="2300" dirty="0">
                <a:latin typeface="Garamond" panose="02020404030301010803" pitchFamily="18" charset="0"/>
              </a:rPr>
              <a:t>How does it impact customers’ behavior?</a:t>
            </a:r>
          </a:p>
          <a:p>
            <a:pPr lvl="1">
              <a:lnSpc>
                <a:spcPct val="100000"/>
              </a:lnSpc>
              <a:buFont typeface="Arial" panose="020B0604020202020204" pitchFamily="34" charset="0"/>
              <a:buChar char="•"/>
            </a:pPr>
            <a:r>
              <a:rPr lang="en-US" altLang="en-US" sz="2300" dirty="0">
                <a:latin typeface="Garamond" panose="02020404030301010803" pitchFamily="18" charset="0"/>
              </a:rPr>
              <a:t>Which segment of customers do you think is most going to be impacted by this policy?</a:t>
            </a:r>
          </a:p>
          <a:p>
            <a:pPr lvl="1">
              <a:lnSpc>
                <a:spcPct val="100000"/>
              </a:lnSpc>
              <a:buFont typeface="Arial" panose="020B0604020202020204" pitchFamily="34" charset="0"/>
              <a:buChar char="•"/>
            </a:pPr>
            <a:r>
              <a:rPr lang="en-US" altLang="en-US" sz="2300" dirty="0">
                <a:latin typeface="Garamond" panose="02020404030301010803" pitchFamily="18" charset="0"/>
              </a:rPr>
              <a:t>What (if anything) can do they better?</a:t>
            </a:r>
          </a:p>
        </p:txBody>
      </p:sp>
    </p:spTree>
    <p:extLst>
      <p:ext uri="{BB962C8B-B14F-4D97-AF65-F5344CB8AC3E}">
        <p14:creationId xmlns:p14="http://schemas.microsoft.com/office/powerpoint/2010/main" val="2071426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normAutofit/>
          </a:bodyPr>
          <a:lstStyle/>
          <a:p>
            <a:pPr algn="ctr"/>
            <a:r>
              <a:rPr lang="en-US" sz="3600" dirty="0">
                <a:latin typeface="Garamond" panose="02020404030301010803" pitchFamily="18" charset="0"/>
              </a:rPr>
              <a:t>Summary</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We discussed the customer gap.</a:t>
            </a:r>
          </a:p>
          <a:p>
            <a:r>
              <a:rPr lang="en-US" sz="2400" dirty="0">
                <a:latin typeface="Garamond" panose="02020404030301010803" pitchFamily="18" charset="0"/>
              </a:rPr>
              <a:t>We discussed the gaps model with the four provider gaps that can lead to customer gap.</a:t>
            </a:r>
          </a:p>
          <a:p>
            <a:pPr lvl="2"/>
            <a:r>
              <a:rPr lang="en-US" sz="2400" dirty="0">
                <a:latin typeface="Garamond" panose="02020404030301010803" pitchFamily="18" charset="0"/>
              </a:rPr>
              <a:t>The listening gap</a:t>
            </a:r>
          </a:p>
          <a:p>
            <a:pPr lvl="2"/>
            <a:r>
              <a:rPr lang="en-US" sz="2400" dirty="0">
                <a:latin typeface="Garamond" panose="02020404030301010803" pitchFamily="18" charset="0"/>
              </a:rPr>
              <a:t>The service design and standards gap</a:t>
            </a:r>
          </a:p>
          <a:p>
            <a:pPr lvl="2"/>
            <a:r>
              <a:rPr lang="en-US" sz="2400" dirty="0">
                <a:latin typeface="Garamond" panose="02020404030301010803" pitchFamily="18" charset="0"/>
              </a:rPr>
              <a:t>The service performance gap</a:t>
            </a:r>
          </a:p>
          <a:p>
            <a:pPr lvl="2"/>
            <a:r>
              <a:rPr lang="en-US" sz="2400" dirty="0">
                <a:latin typeface="Garamond" panose="02020404030301010803" pitchFamily="18" charset="0"/>
              </a:rPr>
              <a:t>The communication gap</a:t>
            </a:r>
          </a:p>
        </p:txBody>
      </p:sp>
    </p:spTree>
    <p:extLst>
      <p:ext uri="{BB962C8B-B14F-4D97-AF65-F5344CB8AC3E}">
        <p14:creationId xmlns:p14="http://schemas.microsoft.com/office/powerpoint/2010/main" val="285357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CCB160ADB67643A302CC79D03C0E62" ma:contentTypeVersion="2" ma:contentTypeDescription="Create a new document." ma:contentTypeScope="" ma:versionID="450150ec4a29aa7119cedf8de2eba219">
  <xsd:schema xmlns:xsd="http://www.w3.org/2001/XMLSchema" xmlns:xs="http://www.w3.org/2001/XMLSchema" xmlns:p="http://schemas.microsoft.com/office/2006/metadata/properties" xmlns:ns3="7fa95980-b90a-4a2a-98f8-58ccce631943" targetNamespace="http://schemas.microsoft.com/office/2006/metadata/properties" ma:root="true" ma:fieldsID="75f868761dcd66cf6f4ef908183c1b8d" ns3:_="">
    <xsd:import namespace="7fa95980-b90a-4a2a-98f8-58ccce631943"/>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a95980-b90a-4a2a-98f8-58ccce631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7FA833-E887-4931-B142-A771B7B649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a95980-b90a-4a2a-98f8-58ccce6319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6D7A4D8-97C0-4892-8196-48E3816E101A}">
  <ds:schemaRefs>
    <ds:schemaRef ds:uri="http://www.w3.org/XML/1998/namespace"/>
    <ds:schemaRef ds:uri="http://purl.org/dc/elements/1.1/"/>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7fa95980-b90a-4a2a-98f8-58ccce631943"/>
    <ds:schemaRef ds:uri="http://schemas.microsoft.com/office/2006/metadata/properties"/>
  </ds:schemaRefs>
</ds:datastoreItem>
</file>

<file path=customXml/itemProps3.xml><?xml version="1.0" encoding="utf-8"?>
<ds:datastoreItem xmlns:ds="http://schemas.openxmlformats.org/officeDocument/2006/customXml" ds:itemID="{AB35F025-3B58-4B28-A386-AD76C24E6A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diamondgrid theme</Template>
  <TotalTime>718</TotalTime>
  <Words>692</Words>
  <Application>Microsoft Macintosh PowerPoint</Application>
  <PresentationFormat>Widescreen</PresentationFormat>
  <Paragraphs>82</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Garamond</vt:lpstr>
      <vt:lpstr>Wingdings</vt:lpstr>
      <vt:lpstr>diamondgrid theme</vt:lpstr>
      <vt:lpstr>PowerPoint Presentation</vt:lpstr>
      <vt:lpstr>PowerPoint Presentation</vt:lpstr>
      <vt:lpstr>Chapter Overview</vt:lpstr>
      <vt:lpstr>PowerPoint Presentation</vt:lpstr>
      <vt:lpstr>The Gaps Model of Service Quality</vt:lpstr>
      <vt:lpstr>The Customer Gap</vt:lpstr>
      <vt:lpstr>To close the customer gap, 4 provider gaps need to be closed</vt:lpstr>
      <vt:lpstr>The Listening Gap</vt:lpstr>
      <vt:lpstr>The Service Design and Standards Gap</vt:lpstr>
      <vt:lpstr>The Service Performance Gap</vt:lpstr>
      <vt:lpstr>The Communication Gap</vt:lpstr>
      <vt:lpstr>So how do we close these gaps?</vt:lpstr>
      <vt:lpstr>Closing the Gaps</vt:lpstr>
      <vt:lpstr>PowerPoint Presentation</vt:lpstr>
      <vt:lpstr>In-Class Assignment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Nicole Davis</dc:creator>
  <cp:lastModifiedBy>Sakshi Sanjay Babar</cp:lastModifiedBy>
  <cp:revision>41</cp:revision>
  <dcterms:created xsi:type="dcterms:W3CDTF">2023-08-07T22:30:12Z</dcterms:created>
  <dcterms:modified xsi:type="dcterms:W3CDTF">2025-01-15T14:51:10Z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0x01010026CCB160ADB67643A302CC79D03C0E62</vt:lpwstr>
  </property>
</Properties>
</file>